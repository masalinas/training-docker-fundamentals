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Dar la bienvenida a los alumnos, presentar los objetivos del curso (20 horas lectivas en 4 días) y contextualizar el papel de Docker como estándar de facto en desarrollo y operaciones.</a:t>
            </a:r>
          </a:p>
          <a:p/>
          <a:p>
            <a:r>
              <a:t>[BAJO EL CAPÓ - EXPLICACIÓN TÉCNICA]</a:t>
            </a:r>
          </a:p>
          <a:p>
            <a:r>
              <a:t>Docker nació en 2013 como un proyecto open source de dotCloud basado en LXC (LinuX Containers). Más tarde evolucionó creando libcontainer y donando las especificaciones OCI (Open Container Initiative).</a:t>
            </a:r>
          </a:p>
          <a:p/>
          <a:p>
            <a:r>
              <a:t>[DINÁMICA DE AULA / PREGUNTA DISPARADORA]</a:t>
            </a:r>
          </a:p>
          <a:p>
            <a:r>
              <a:t>¿Cuántos de vosotros habéis sufrido el famoso problema de 'en mi máquina sí funciona'? ¿Qué causaba esa discrepancia?</a:t>
            </a:r>
          </a:p>
          <a:p/>
          <a:p>
            <a:r>
              <a:t>[DEMO EN VIVO / COMANDOS]</a:t>
            </a:r>
          </a:p>
          <a:p>
            <a:r>
              <a:t>docker version &amp;&amp; docker info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Hacer entender al alumno por qué la industria migró masivamente de máquinas virtuales a contenedores.</a:t>
            </a:r>
          </a:p>
          <a:p/>
          <a:p>
            <a:r>
              <a:t>[BAJO EL CAPÓ - EXPLICACIÓN TÉCNICA]</a:t>
            </a:r>
          </a:p>
          <a:p>
            <a:r>
              <a:t>La metáfora del contenedor marítimo estándar (ISO 668) inventado por Malcolm McLean en 1956: no importa lo que haya dentro (coches, comida) ni cómo se transporte (barco, tren, camión); las grúas operan con la misma interfaz.</a:t>
            </a:r>
          </a:p>
          <a:p/>
          <a:p>
            <a:r>
              <a:t>[DINÁMICA DE AULA / PREGUNTA DISPARADORA]</a:t>
            </a:r>
          </a:p>
          <a:p>
            <a:r>
              <a:t>¿Cuánto tarda en arrancar una VM de vSphere o AWS comparado con un proceso en Linux?</a:t>
            </a:r>
          </a:p>
          <a:p/>
          <a:p>
            <a:r>
              <a:t>[DEMO EN VIVO / COMANDOS]</a:t>
            </a:r>
          </a:p>
          <a:p>
            <a:r>
              <a:t>time docker run --rm alpine echo 'Arranque en milisegundos'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Desmitificar el mito de que 'un contenedor es una máquina virtual ligera'. Explicar la diferencia entre emular hardware y compartir el kernel.</a:t>
            </a:r>
          </a:p>
          <a:p/>
          <a:p>
            <a:r>
              <a:t>[BAJO EL CAPÓ - EXPLICACIÓN TÉCNICA]</a:t>
            </a:r>
          </a:p>
          <a:p>
            <a:r>
              <a:t>Un hipervisor tipo 1 (bare-metal) o tipo 2 virtualiza instrucciones de CPU, tablas de páginas de memoria (SLAT/EPT) y dispositivos de E/S. Un contenedor solo utiliza syscalls directamente sobre el kernel del sistema operativo anfitrión.</a:t>
            </a:r>
          </a:p>
          <a:p/>
          <a:p>
            <a:r>
              <a:t>[DINÁMICA DE AULA / PREGUNTA DISPARADORA]</a:t>
            </a:r>
          </a:p>
          <a:p>
            <a:r>
              <a:t>Si ejecutas 'uname -r' dentro de un contenedor Debian y luego en el host Ubuntu, ¿qué versión de kernel ves y por qué?</a:t>
            </a:r>
          </a:p>
          <a:p/>
          <a:p>
            <a:r>
              <a:t>[DEMO EN VIVO / COMANDOS]</a:t>
            </a:r>
          </a:p>
          <a:p>
            <a:r>
              <a:t>uname -r &amp;&amp; docker run --rm debian uname -r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Demostrar con el comando ps en el host que el contenedor es solo un proceso regular de Linux protegido por el kernel.</a:t>
            </a:r>
          </a:p>
          <a:p/>
          <a:p>
            <a:r>
              <a:t>[BAJO EL CAPÓ - EXPLICACIÓN TÉCNICA]</a:t>
            </a:r>
          </a:p>
          <a:p>
            <a:r>
              <a:t>Cada proceso en Linux tiene un directorio en /proc/&lt;PID&gt;/ns/ donde residen enlaces simbólicos a sus namespaces activos (pid, net, ipc, mnt, uts, user). Al comparar los enlaces del host con los del proceso del contenedor, vemos que apuntan a IDs de inodo distintos.</a:t>
            </a:r>
          </a:p>
          <a:p/>
          <a:p>
            <a:r>
              <a:t>[DINÁMICA DE AULA / PREGUNTA DISPARADORA]</a:t>
            </a:r>
          </a:p>
          <a:p>
            <a:r>
              <a:t>Si mato con 'kill -9 42150' el proceso en el host, ¿qué le ocurrirá al contenedor web-demo?</a:t>
            </a:r>
          </a:p>
          <a:p/>
          <a:p>
            <a:r>
              <a:t>[DEMO EN VIVO / COMANDOS]</a:t>
            </a:r>
          </a:p>
          <a:p>
            <a:r>
              <a:t>docker run -d --name web-test nginx &amp;&amp; docker inspect -f '{{.State.Pid}}' web-test &amp;&amp; ps -fp $(docker inspect -f '{{.State.Pid}}' web-test)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Explicar las capas internas de Docker y la transición histórica de un daemon monolítico a una arquitectura modular estandarizada (OCI).</a:t>
            </a:r>
          </a:p>
          <a:p/>
          <a:p>
            <a:r>
              <a:t>[BAJO EL CAPÓ - EXPLICACIÓN TÉCNICA]</a:t>
            </a:r>
          </a:p>
          <a:p>
            <a:r>
              <a:t>En las versiones tempranas de Docker, si el daemon dockerd se caía, todos los contenedores morían. Gracias a containerd y containerd-shim, hoy los contenedores sobreviven si el daemon se reinicia (Live Restore).</a:t>
            </a:r>
          </a:p>
          <a:p/>
          <a:p>
            <a:r>
              <a:t>[DINÁMICA DE AULA / PREGUNTA DISPARADORA]</a:t>
            </a:r>
          </a:p>
          <a:p>
            <a:r>
              <a:t>¿Qué componente es el que realmente ejecuta la llamada clone() del kernel para arrancar el proceso? (runc)</a:t>
            </a:r>
          </a:p>
          <a:p/>
          <a:p>
            <a:r>
              <a:t>[DEMO EN VIVO / COMANDOS]</a:t>
            </a:r>
          </a:p>
          <a:p>
            <a:r>
              <a:t>ps -ef | grep -E 'dockerd|containerd|containerd-shim'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Aclarar una de las confusiones más comunes de los alumnos al instalar Docker en Linux mediante 'apt install docker.io'.</a:t>
            </a:r>
          </a:p>
          <a:p/>
          <a:p>
            <a:r>
              <a:t>[BAJO EL CAPÓ - EXPLICACIÓN TÉCNICA]</a:t>
            </a:r>
          </a:p>
          <a:p>
            <a:r>
              <a:t>Ubuntu y Debian usan nombres de paquete separados para evitar conflictos de marcas y licencias. Siempre se debe configurar el repositorio oficial upstream con su clave GPG para tener versiones auditadas.</a:t>
            </a:r>
          </a:p>
          <a:p/>
          <a:p>
            <a:r>
              <a:t>[DINÁMICA DE AULA / PREGUNTA DISPARADORA]</a:t>
            </a:r>
          </a:p>
          <a:p>
            <a:r>
              <a:t>¿Qué comando usáis habitualmente para instalar Docker en vuestras máquinas Linux?</a:t>
            </a:r>
          </a:p>
          <a:p/>
          <a:p>
            <a:r>
              <a:t>[DEMO EN VIVO / COMANDOS]</a:t>
            </a:r>
          </a:p>
          <a:p>
            <a:r>
              <a:t>apt-cache policy docker-ce docker.io 2&gt;/dev/null || which docker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Presentar el modelo de seguridad en capas: aislamiento de visibilidad (namespaces), contención de recursos (cgroups) y minimización de privilegios.</a:t>
            </a:r>
          </a:p>
          <a:p/>
          <a:p>
            <a:r>
              <a:t>[BAJO EL CAPÓ - EXPLICACIÓN TÉCNICA]</a:t>
            </a:r>
          </a:p>
          <a:p>
            <a:r>
              <a:t>La directiva de seguridad por defecto de Docker aplica un perfil Seccomp con más de 300 syscalls bloqueadas (como reboot, mount, swapon, ioperm) para evitar que un proceso comprometido ataque el kernel.</a:t>
            </a:r>
          </a:p>
          <a:p/>
          <a:p>
            <a:r>
              <a:t>[DINÁMICA DE AULA / PREGUNTA DISPARADORA]</a:t>
            </a:r>
          </a:p>
          <a:p>
            <a:r>
              <a:t>Si un atacante consigue root dentro de un contenedor por defecto, ¿es root automáticamente del servidor físico? ¿Por qué sí o por qué no?</a:t>
            </a:r>
          </a:p>
          <a:p/>
          <a:p>
            <a:r>
              <a:t>[DEMO EN VIVO / COMANDOS]</a:t>
            </a:r>
          </a:p>
          <a:p>
            <a:r>
              <a:t>docker run --rm alpine id &amp;&amp; docker run --rm alpine sh -c 'reboot || true'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Detallar los 6 namespaces de Linux y explicar cómo cada uno se encarga de un aspecto diferente del aislamiento.</a:t>
            </a:r>
          </a:p>
          <a:p/>
          <a:p>
            <a:r>
              <a:t>[BAJO EL CAPÓ - EXPLICACIÓN TÉCNICA]</a:t>
            </a:r>
          </a:p>
          <a:p>
            <a:r>
              <a:t>La syscall clone(CLONE_NEWPID | CLONE_NEWNET | CLONE_NEWNS | CLONE_NEWIPC | CLONE_NEWUTS) es la invocada por runc al crear el proceso.</a:t>
            </a:r>
          </a:p>
          <a:p/>
          <a:p>
            <a:r>
              <a:t>[DINÁMICA DE AULA / PREGUNTA DISPARADORA]</a:t>
            </a:r>
          </a:p>
          <a:p>
            <a:r>
              <a:t>¿Por qué es crucial que el contenedor tenga su propio PID 1? ¿Qué responsabilidad tiene el PID 1 con los procesos huérfanos (zombies)?</a:t>
            </a:r>
          </a:p>
          <a:p/>
          <a:p>
            <a:r>
              <a:t>[DEMO EN VIVO / COMANDOS]</a:t>
            </a:r>
          </a:p>
          <a:p>
            <a:r>
              <a:t>docker run --rm alpine hostname &amp;&amp; hostname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Instruir a los alumnos en el uso de límites de CPU, memoria y PIDs como buena práctica innegociable en producción.</a:t>
            </a:r>
          </a:p>
          <a:p/>
          <a:p>
            <a:r>
              <a:t>[BAJO EL CAPÓ - EXPLICACIÓN TÉCNICA]</a:t>
            </a:r>
          </a:p>
          <a:p>
            <a:r>
              <a:t>Explicar el OOM Killer (Out Of Memory Killer): el kernel asigna una puntuación oom_score a cada proceso. Al configurar límites de cgroup, el kernel calcula la puntuación dentro del cgroup del contenedor.</a:t>
            </a:r>
          </a:p>
          <a:p/>
          <a:p>
            <a:r>
              <a:t>[DINÁMICA DE AULA / PREGUNTA DISPARADORA]</a:t>
            </a:r>
          </a:p>
          <a:p>
            <a:r>
              <a:t>¿Qué ocurre si un contenedor no tiene configurado ningún límite de memoria y sufre una fuga masiva de memoria?</a:t>
            </a:r>
          </a:p>
          <a:p/>
          <a:p>
            <a:r>
              <a:t>[DEMO EN VIVO / COMANDOS]</a:t>
            </a:r>
          </a:p>
          <a:p>
            <a:r>
              <a:t>docker run -d --name mem-test --memory=128m nginx &amp;&amp; docker stats --no-stream mem-test &amp;&amp; docker rm -f mem-test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Enseñar a blindar la ejecución de contenedores eliminando permisos innecesarios y desaconsejando el uso de --privileged.</a:t>
            </a:r>
          </a:p>
          <a:p/>
          <a:p>
            <a:r>
              <a:t>[BAJO EL CAPÓ - EXPLICACIÓN TÉCNICA]</a:t>
            </a:r>
          </a:p>
          <a:p>
            <a:r>
              <a:t>--privileged no solo otorga todas las capabilities, sino que desactiva los filtros Seccomp, levanta las restricciones de AppArmor/SELinux y expone todos los nodos de /dev del host.</a:t>
            </a:r>
          </a:p>
          <a:p/>
          <a:p>
            <a:r>
              <a:t>[DINÁMICA DE AULA / PREGUNTA DISPARADORA]</a:t>
            </a:r>
          </a:p>
          <a:p>
            <a:r>
              <a:t>¿Por qué un servidor web como Nginx en puerto 80 necesita CAP_NET_BIND_SERVICE si se ejecuta como usuario no-root?</a:t>
            </a:r>
          </a:p>
          <a:p/>
          <a:p>
            <a:r>
              <a:t>[DEMO EN VIVO / COMANDOS]</a:t>
            </a:r>
          </a:p>
          <a:p>
            <a:r>
              <a:t>docker run --rm --cap-drop=ALL alpine ping -c 1 8.8.8.8 || true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Fijar el concepto fundamental de imagen como plantilla estática de solo lectura y el peligro del tag :latest.</a:t>
            </a:r>
          </a:p>
          <a:p/>
          <a:p>
            <a:r>
              <a:t>[BAJO EL CAPÓ - EXPLICACIÓN TÉCNICA]</a:t>
            </a:r>
          </a:p>
          <a:p>
            <a:r>
              <a:t>Una imagen OCI se compone de un Image Manifest (JSON con referencias a los blobs de capas y configuración) y una serie de tarballs comprimidos con gzip o zstd que contienen el diff de cada capa.</a:t>
            </a:r>
          </a:p>
          <a:p/>
          <a:p>
            <a:r>
              <a:t>[DINÁMICA DE AULA / PREGUNTA DISPARADORA]</a:t>
            </a:r>
          </a:p>
          <a:p>
            <a:r>
              <a:t>Si descargo 'python:3.11' hoy y vuelvo a descargarlo dentro de 6 meses, ¿tendré exactamente los mismos bytes si la imagen fue actualizada?</a:t>
            </a:r>
          </a:p>
          <a:p/>
          <a:p>
            <a:r>
              <a:t>[DEMO EN VIVO / COMANDOS]</a:t>
            </a:r>
          </a:p>
          <a:p>
            <a:r>
              <a:t>docker inspect --format='{{.RepoDigests}}' nginx:alpine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Explicar cómo se apilan las capas de solo lectura y por qué múltiples contenedores comparten las mismas capas sin duplicar espacio en disco.</a:t>
            </a:r>
          </a:p>
          <a:p/>
          <a:p>
            <a:r>
              <a:t>[BAJO EL CAPÓ - EXPLICACIÓN TÉCNICA]</a:t>
            </a:r>
          </a:p>
          <a:p>
            <a:r>
              <a:t>Cada capa es un diff del sistema de archivos. El driver Overlay2 combina los directorios lowerdir (capas de imagen) con el upperdir (capa del contenedor) presentándolo como un único árbol de directorios merged.</a:t>
            </a:r>
          </a:p>
          <a:p/>
          <a:p>
            <a:r>
              <a:t>[DINÁMICA DE AULA / PREGUNTA DISPARADORA]</a:t>
            </a:r>
          </a:p>
          <a:p>
            <a:r>
              <a:t>Si 10 contenedores arrancan desde la misma imagen de 500MB, ¿cuánto espacio real en disco ocupan las imágenes base?</a:t>
            </a:r>
          </a:p>
          <a:p/>
          <a:p>
            <a:r>
              <a:t>[DEMO EN VIVO / COMANDOS]</a:t>
            </a:r>
          </a:p>
          <a:p>
            <a:r>
              <a:t>docker image history nginx:alpine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Hacer entender la diferencia entre estado persistente y capa efímera Copy-on-Write usando docker diff.</a:t>
            </a:r>
          </a:p>
          <a:p/>
          <a:p>
            <a:r>
              <a:t>[BAJO EL CAPÓ - EXPLICACIÓN TÉCNICA]</a:t>
            </a:r>
          </a:p>
          <a:p>
            <a:r>
              <a:t>Overlay2 utiliza la operación de kernel copy_up cuando un proceso abre en modo escritura (O_WRONLY o O_RDWR) un archivo existente en lowerdir.</a:t>
            </a:r>
          </a:p>
          <a:p/>
          <a:p>
            <a:r>
              <a:t>[DINÁMICA DE AULA / PREGUNTA DISPARADORA]</a:t>
            </a:r>
          </a:p>
          <a:p>
            <a:r>
              <a:t>¿Qué penalización de rendimiento tiene modificar por primera vez un archivo de 10GB que reside en una capa de la imagen?</a:t>
            </a:r>
          </a:p>
          <a:p/>
          <a:p>
            <a:r>
              <a:t>[DEMO EN VIVO / COMANDOS]</a:t>
            </a:r>
          </a:p>
          <a:p>
            <a:r>
              <a:t>docker run -d --name c1 nginx &amp;&amp; docker diff c1 &amp;&amp; docker rm -f c1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Enseñar los estados del contenedor y la importancia crítica de cómo el proceso PID 1 gestiona las señales de apagado limpio.</a:t>
            </a:r>
          </a:p>
          <a:p/>
          <a:p>
            <a:r>
              <a:t>[BAJO EL CAPÓ - EXPLICACIÓN TÉCNICA]</a:t>
            </a:r>
          </a:p>
          <a:p>
            <a:r>
              <a:t>Al ejecutar docker stop, dockerd invoca a containerd para enviar SIGTERM. Tras el timeout (--time), envía SIGKILL. Si la app está empaquetada como script de bash sin 'exec', bash absorbe la señal y la app no se apaga limpiamente.</a:t>
            </a:r>
          </a:p>
          <a:p/>
          <a:p>
            <a:r>
              <a:t>[DINÁMICA DE AULA / PREGUNTA DISPARADORA]</a:t>
            </a:r>
          </a:p>
          <a:p>
            <a:r>
              <a:t>¿Por qué a veces 'docker stop' tarda exactamente 10 segundos en parar un contenedor?</a:t>
            </a:r>
          </a:p>
          <a:p/>
          <a:p>
            <a:r>
              <a:t>[DEMO EN VIVO / COMANDOS]</a:t>
            </a:r>
          </a:p>
          <a:p>
            <a:r>
              <a:t>docker create --name c_state alpine &amp;&amp; docker ps -a | grep c_state &amp;&amp; docker rm c_state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Familiarizar a los alumnos con los comandos que utilizarán el 90% del tiempo en la terminal.</a:t>
            </a:r>
          </a:p>
          <a:p/>
          <a:p>
            <a:r>
              <a:t>[BAJO EL CAPÓ - EXPLICACIÓN TÉCNICA]</a:t>
            </a:r>
          </a:p>
          <a:p>
            <a:r>
              <a:t>Docker 1.13 introdujo la sintaxis estructurada por objetos: docker container run, docker image ls, docker volume ls, docker network ls. Ambos formatos siguen vigentes.</a:t>
            </a:r>
          </a:p>
          <a:p/>
          <a:p>
            <a:r>
              <a:t>[DINÁMICA DE AULA / PREGUNTA DISPARADORA]</a:t>
            </a:r>
          </a:p>
          <a:p>
            <a:r>
              <a:t>¿Cuál es la diferencia entre 'docker run' y 'docker start'?</a:t>
            </a:r>
          </a:p>
          <a:p/>
          <a:p>
            <a:r>
              <a:t>[DEMO EN VIVO / COMANDOS]</a:t>
            </a:r>
          </a:p>
          <a:p>
            <a:r>
              <a:t>docker run -d --name demo-cli -p 8080:80 nginx:alpine &amp;&amp; curl -I http://localhost:8080 &amp;&amp; docker rm -f demo-cli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Introducir la sintaxis y filosofía del Dockerfile como receta auditable y reproducible.</a:t>
            </a:r>
          </a:p>
          <a:p/>
          <a:p>
            <a:r>
              <a:t>[BAJO EL CAPÓ - EXPLICACIÓN TÉCNICA]</a:t>
            </a:r>
          </a:p>
          <a:p>
            <a:r>
              <a:t>BuildKit utiliza un formato intermedio llamado LLB (Low-Level Builder), similar a LLVM en compiladores, permitiendo cachear operaciones y resolver grafos acíclicos dirigidos (DAGs) de construcción.</a:t>
            </a:r>
          </a:p>
          <a:p/>
          <a:p>
            <a:r>
              <a:t>[DINÁMICA DE AULA / PREGUNTA DISPARADORA]</a:t>
            </a:r>
          </a:p>
          <a:p>
            <a:r>
              <a:t>¿Por qué copiamos package.json antes que el resto de archivos de la aplicación?</a:t>
            </a:r>
          </a:p>
          <a:p/>
          <a:p>
            <a:r>
              <a:t>[DEMO EN VIVO / COMANDOS]</a:t>
            </a:r>
          </a:p>
          <a:p>
            <a:r>
              <a:t>DOCKER_BUILDKIT=1 docker build --help | head -n 10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Clarificar la diferencia vital entre RUN (momento build) y CMD/ENTRYPOINT (momento ejecución), y la diferencia entre la forma exec y shell.</a:t>
            </a:r>
          </a:p>
          <a:p/>
          <a:p>
            <a:r>
              <a:t>[BAJO EL CAPÓ - EXPLICACIÓN TÉCNICA]</a:t>
            </a:r>
          </a:p>
          <a:p>
            <a:r>
              <a:t>La forma shell 'CMD node app.js' arranca '/bin/sh -c node app.js'. En este caso el PID 1 es sh, lo que impide que las señales SIGTERM lleguen a node.</a:t>
            </a:r>
          </a:p>
          <a:p/>
          <a:p>
            <a:r>
              <a:t>[DINÁMICA DE AULA / PREGUNTA DISPARADORA]</a:t>
            </a:r>
          </a:p>
          <a:p>
            <a:r>
              <a:t>¿Cuál es la diferencia entre EXPOSE 80 en el Dockerfile y -p 8080:80 en docker run?</a:t>
            </a:r>
          </a:p>
          <a:p/>
          <a:p>
            <a:r>
              <a:t>[DEMO EN VIVO / COMANDOS]</a:t>
            </a:r>
          </a:p>
          <a:p>
            <a:r>
              <a:t>docker run --rm alpine sh -c 'echo Formato shell vs exec'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Hacer entender que el orden de las instrucciones en el Dockerfile determina directamente la velocidad del pipeline de CI/CD.</a:t>
            </a:r>
          </a:p>
          <a:p/>
          <a:p>
            <a:r>
              <a:t>[BAJO EL CAPÓ - EXPLICACIÓN TÉCNICA]</a:t>
            </a:r>
          </a:p>
          <a:p>
            <a:r>
              <a:t>Docker calcula un checksum SHA de los archivos copiados en cada instrucción COPY. Si el hash coincide con la caché local, omite la ejecución del paso.</a:t>
            </a:r>
          </a:p>
          <a:p/>
          <a:p>
            <a:r>
              <a:t>[DINÁMICA DE AULA / PREGUNTA DISPARADORA]</a:t>
            </a:r>
          </a:p>
          <a:p>
            <a:r>
              <a:t>Si en un RUN haces 'apt-get update' y en otro RUN separado haces 'apt-get install', ¿qué problema de caché puede ocurrir con el tiempo?</a:t>
            </a:r>
          </a:p>
          <a:p/>
          <a:p>
            <a:r>
              <a:t>[DEMO EN VIVO / COMANDOS]</a:t>
            </a:r>
          </a:p>
          <a:p>
            <a:r>
              <a:t>docker build --help | grep cache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Presentar los Multi-Stage Builds como el estándar profesional obligatorio para construir imágenes listas para producción.</a:t>
            </a:r>
          </a:p>
          <a:p/>
          <a:p>
            <a:r>
              <a:t>[BAJO EL CAPÓ - EXPLICACIÓN TÉCNICA]</a:t>
            </a:r>
          </a:p>
          <a:p>
            <a:r>
              <a:t>Antes de Multi-stage (introducido en Docker 17.05), los ingenieros tenían que usar scripts complejos de shell que montaban volúmenes de build y luego copiaban los artefactos a otro Dockerfile (Builder Pattern).</a:t>
            </a:r>
          </a:p>
          <a:p/>
          <a:p>
            <a:r>
              <a:t>[DINÁMICA DE AULA / PREGUNTA DISPARADORA]</a:t>
            </a:r>
          </a:p>
          <a:p>
            <a:r>
              <a:t>¿Por qué dejar herramientas como gcc, git o curl en una imagen de producción facilita el trabajo a un atacante que consiga inyección remota de comandos?</a:t>
            </a:r>
          </a:p>
          <a:p/>
          <a:p>
            <a:r>
              <a:t>[DEMO EN VIVO / COMANDOS]</a:t>
            </a:r>
          </a:p>
          <a:p>
            <a:r>
              <a:t>docker build -t test-multistage - &lt;&lt;EOF</a:t>
            </a:r>
          </a:p>
          <a:p>
            <a:r>
              <a:t>FROM alpine AS b</a:t>
            </a:r>
          </a:p>
          <a:p>
            <a:r>
              <a:t>RUN echo hi &gt; /hi</a:t>
            </a:r>
          </a:p>
          <a:p>
            <a:r>
              <a:t>FROM scratch</a:t>
            </a:r>
          </a:p>
          <a:p>
            <a:r>
              <a:t>COPY --from=b /hi /hi</a:t>
            </a:r>
          </a:p>
          <a:p>
            <a:r>
              <a:t>EOF</a:t>
            </a:r>
          </a:p>
          <a:p>
            <a:r>
              <a:t>docker image ls test-multistage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Establecer las bases arquitectónicas de microservicios y anticipar los problemas que resolveremos en los Módulos 2 (Redes) y 3 (Volúmenes).</a:t>
            </a:r>
          </a:p>
          <a:p/>
          <a:p>
            <a:r>
              <a:t>[BAJO EL CAPÓ - EXPLICACIÓN TÉCNICA]</a:t>
            </a:r>
          </a:p>
          <a:p>
            <a:r>
              <a:t>El antipatrón de usar systemd dentro de un contenedor: intentar arrancar un init completo obliga a conceder capabilities elevadas y rompe la monitorización de salud de procesos de Docker.</a:t>
            </a:r>
          </a:p>
          <a:p/>
          <a:p>
            <a:r>
              <a:t>[DINÁMICA DE AULA / PREGUNTA DISPARADORA]</a:t>
            </a:r>
          </a:p>
          <a:p>
            <a:r>
              <a:t>¿Qué ventajas e inconvenientes tiene separar una tienda online en 4 contenedores (frontend, backend, redis, postgres) vs un solo monolito?</a:t>
            </a:r>
          </a:p>
          <a:p/>
          <a:p>
            <a:r>
              <a:t>[DEMO EN VIVO / COMANDOS]</a:t>
            </a:r>
          </a:p>
          <a:p>
            <a:r>
              <a:t>docker ps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Guiar a los alumnos en su primer laboratorio práctico guiado de 60-75 minutos para afianzar todos los comandos vistos en la jornada 1.</a:t>
            </a:r>
          </a:p>
          <a:p/>
          <a:p>
            <a:r>
              <a:t>[BAJO EL CAPÓ - EXPLICACIÓN TÉCNICA]</a:t>
            </a:r>
          </a:p>
          <a:p>
            <a:r>
              <a:t>Estar atento a los errores comunes de los alumnos: olvidar el punto final en 'docker build -t app .', puertos ya ocupados en el host (ej. 80 o 8080 ocupado por otro servicio), y permisos en Docker socket si no añadieron su usuario al grupo docker.</a:t>
            </a:r>
          </a:p>
          <a:p/>
          <a:p>
            <a:r>
              <a:t>[DINÁMICA DE AULA / PREGUNTA DISPARADORA]</a:t>
            </a:r>
          </a:p>
          <a:p>
            <a:r>
              <a:t>¿Quién ha tenido un fallo al compilar por olvidar el punto final del build context?</a:t>
            </a:r>
          </a:p>
          <a:p/>
          <a:p>
            <a:r>
              <a:t>[DEMO EN VIVO / COMANDOS]</a:t>
            </a:r>
          </a:p>
          <a:p>
            <a:r>
              <a:t>mkdir -p /tmp/lab1 &amp;&amp; echo 'FROM nginx:alpine</a:t>
            </a:r>
          </a:p>
          <a:p>
            <a:r>
              <a:t>RUN echo "&lt;h1&gt;Lab 1 Exitoso&lt;/h1&gt;" &gt; /usr/share/nginx/html/index.html' &gt; /tmp/lab1/Dockerfile &amp;&amp; docker build -t lab1:1.0 /tmp/lab1 &amp;&amp; docker run -d --name lab1-demo -p 8888:80 lab1:1.0 &amp;&amp; curl http://localhost:8888 &amp;&amp; docker rm -f lab1-demo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Recapitular los aprendizajes de las 5 horas del Día 1, resolver dudas abiertas y hacer el puente pedagógico hacia el Día 2.</a:t>
            </a:r>
          </a:p>
          <a:p/>
          <a:p>
            <a:r>
              <a:t>[BAJO EL CAPÓ - EXPLICACIÓN TÉCNICA]</a:t>
            </a:r>
          </a:p>
          <a:p>
            <a:r>
              <a:t>Recordar a los alumnos que mañana veremos cómo se comunican estos contenedores entre sí mediante redes bridge y cómo resolvemos el reto de la persistencia de datos.</a:t>
            </a:r>
          </a:p>
          <a:p/>
          <a:p>
            <a:r>
              <a:t>[DINÁMICA DE AULA / PREGUNTA DISPARADORA]</a:t>
            </a:r>
          </a:p>
          <a:p>
            <a:r>
              <a:t>¿Cuál ha sido el concepto técnico que más os ha sorprendido hoy sobre cómo funcionan realmente los contenedores?</a:t>
            </a:r>
          </a:p>
          <a:p/>
          <a:p>
            <a:r>
              <a:t>[DEMO EN VIVO / COMANDOS]</a:t>
            </a:r>
          </a:p>
          <a:p>
            <a:r>
              <a:t>docker ps -a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Presentar los dos pilares de la jornada: cómo se comunican los contenedores (redes) y cómo persisten sus datos (volúmenes).</a:t>
            </a:r>
          </a:p>
          <a:p/>
          <a:p>
            <a:r>
              <a:t>[BAJO EL CAPÓ - EXPLICACIÓN TÉCNICA]</a:t>
            </a:r>
          </a:p>
          <a:p>
            <a:r>
              <a:t>Ambos subsistemas se apoyan directamente en capacidades del kernel de Linux: NET namespaces e iptables para redes; OverlayFS/VFS y puntos de montaje para almacenamiento.</a:t>
            </a:r>
          </a:p>
          <a:p/>
          <a:p>
            <a:r>
              <a:t>[DINÁMICA DE AULA / PREGUNTA DISPARADORA]</a:t>
            </a:r>
          </a:p>
          <a:p>
            <a:r>
              <a:t>Si los contenedores son efímeros por naturaleza, ¿cómo resolvemos el despliegue de una base de datos PostgreSQL o Redis sin perder información?</a:t>
            </a:r>
          </a:p>
          <a:p/>
          <a:p>
            <a:r>
              <a:t>[DEMO EN VIVO / COMANDOS]</a:t>
            </a:r>
          </a:p>
          <a:p>
            <a:r>
              <a:t>docker network ls &amp;&amp; docker volume 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Hacer entender visualmente cómo se conectan los contenedores al host usando pares veth como cables virtuales.</a:t>
            </a:r>
          </a:p>
          <a:p/>
          <a:p>
            <a:r>
              <a:t>[BAJO EL CAPÓ - EXPLICACIÓN TÉCNICA]</a:t>
            </a:r>
          </a:p>
          <a:p>
            <a:r>
              <a:t>La llamada ip link add veth0 type veth peer name veth1 crea dos interfaces unidas. Luego ip link set veth1 netns &lt;PID&gt; mueve una de ellas al namespace del contenedor.</a:t>
            </a:r>
          </a:p>
          <a:p/>
          <a:p>
            <a:r>
              <a:t>[DINÁMICA DE AULA / PREGUNTA DISPARADORA]</a:t>
            </a:r>
          </a:p>
          <a:p>
            <a:r>
              <a:t>¿Puede un contenedor ver el tráfico de red de otro contenedor en el mismo host si no están en la misma subred?</a:t>
            </a:r>
          </a:p>
          <a:p/>
          <a:p>
            <a:r>
              <a:t>[DEMO EN VIVO / COMANDOS]</a:t>
            </a:r>
          </a:p>
          <a:p>
            <a:r>
              <a:t>docker network inspect bridge | grep -A 5 Subnet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Advertir sobre la trampa común de usar la red bridge por defecto y no poder comunicar contenedores por nombre.</a:t>
            </a:r>
          </a:p>
          <a:p/>
          <a:p>
            <a:r>
              <a:t>[BAJO EL CAPÓ - EXPLICACIÓN TÉCNICA]</a:t>
            </a:r>
          </a:p>
          <a:p>
            <a:r>
              <a:t>En la red bridge por defecto, Docker inyecta los servidores DNS del host en /etc/resolv.conf. En cambio, en redes personalizadas inyecta la IP 127.0.0.11, que es el servidor DNS embedded de Docker.</a:t>
            </a:r>
          </a:p>
          <a:p/>
          <a:p>
            <a:r>
              <a:t>[DINÁMICA DE AULA / PREGUNTA DISPARADORA]</a:t>
            </a:r>
          </a:p>
          <a:p>
            <a:r>
              <a:t>¿Por qué es una pésima práctica en producción conectar una base de datos y una API en la red bridge por defecto usando IPs fijas?</a:t>
            </a:r>
          </a:p>
          <a:p/>
          <a:p>
            <a:r>
              <a:t>[DEMO EN VIVO / COMANDOS]</a:t>
            </a:r>
          </a:p>
          <a:p>
            <a:r>
              <a:t>docker run -d --name c1 alpine sleep 3600 &amp;&amp; docker run --rm alpine ping -c 1 c1 || echo 'FALLO DNS ESPERADO'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Demostrar la resolución de nombres DNS automática en redes personalizadas como la forma estándar de interconectar microservicios.</a:t>
            </a:r>
          </a:p>
          <a:p/>
          <a:p>
            <a:r>
              <a:t>[BAJO EL CAPÓ - EXPLICACIÓN TÉCNICA]</a:t>
            </a:r>
          </a:p>
          <a:p>
            <a:r>
              <a:t>Docker intercepta las consultas DNS al socket 127.0.0.11 en el puerto 53 UDP. Si la consulta es por un nombre de contenedor de la red, responde inmediatamente. Si es externa (ej. google.com), la reenvía al upstream DNS del host.</a:t>
            </a:r>
          </a:p>
          <a:p/>
          <a:p>
            <a:r>
              <a:t>[DINÁMICA DE AULA / PREGUNTA DISPARADORA]</a:t>
            </a:r>
          </a:p>
          <a:p>
            <a:r>
              <a:t>¿Qué sucede si conectamos un contenedor simultáneamente a dos redes personalizadas distintas?</a:t>
            </a:r>
          </a:p>
          <a:p/>
          <a:p>
            <a:r>
              <a:t>[DEMO EN VIVO / COMANDOS]</a:t>
            </a:r>
          </a:p>
          <a:p>
            <a:r>
              <a:t>docker network create demo-net &amp;&amp; docker run -d --name srv --network demo-net nginx:alpine &amp;&amp; docker run --rm --network demo-net alpine ping -c 1 srv &amp;&amp; docker rm -f srv &amp;&amp; docker network rm demo-net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Explicar con precisión cómo el tráfico llega desde el exterior al contenedor a través de iptables DNAT y docker-proxy.</a:t>
            </a:r>
          </a:p>
          <a:p/>
          <a:p>
            <a:r>
              <a:t>[BAJO EL CAPÓ - EXPLICACIÓN TÉCNICA]</a:t>
            </a:r>
          </a:p>
          <a:p>
            <a:r>
              <a:t>La regla DNAT (Destination NAT) en la cadena PREROUTING altera la cabecera IP del paquete entrante: cambia la IP de destino del host por la IP interna del contenedor (172.18.0.2).</a:t>
            </a:r>
          </a:p>
          <a:p/>
          <a:p>
            <a:r>
              <a:t>[DINÁMICA DE AULA / PREGUNTA DISPARADORA]</a:t>
            </a:r>
          </a:p>
          <a:p>
            <a:r>
              <a:t>Si tienes UFW o un firewall activo en Ubuntu, ¿sabías que Docker se salta las reglas de UFW por defecto al modificar iptables antes?</a:t>
            </a:r>
          </a:p>
          <a:p/>
          <a:p>
            <a:r>
              <a:t>[DEMO EN VIVO / COMANDOS]</a:t>
            </a:r>
          </a:p>
          <a:p>
            <a:r>
              <a:t>docker run -d --name web-p -p 8080:80 nginx:alpine &amp;&amp; docker port web-p &amp;&amp; docker rm -f web-p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Evaluar el trade-off de rendimiento vs seguridad del modo host.</a:t>
            </a:r>
          </a:p>
          <a:p/>
          <a:p>
            <a:r>
              <a:t>[BAJO EL CAPÓ - EXPLICACIÓN TÉCNICA]</a:t>
            </a:r>
          </a:p>
          <a:p>
            <a:r>
              <a:t>Al omitir CLONE_NEWNET en clone(), el proceso del contenedor ve las mismas interfaces que eth0 del host.</a:t>
            </a:r>
          </a:p>
          <a:p/>
          <a:p>
            <a:r>
              <a:t>[DINÁMICA DE AULA / PREGUNTA DISPARADORA]</a:t>
            </a:r>
          </a:p>
          <a:p>
            <a:r>
              <a:t>Si arranco dos contenedores Nginx con '--network host' en la misma máquina, ¿qué ocurrirá con el segundo?</a:t>
            </a:r>
          </a:p>
          <a:p/>
          <a:p>
            <a:r>
              <a:t>[DEMO EN VIVO / COMANDOS]</a:t>
            </a:r>
          </a:p>
          <a:p>
            <a:r>
              <a:t>docker run --rm --network host alpine ip addr | head -n 8</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Presentar el modo none como herramienta de máxima contención para procesamiento seguro y air-gapped.</a:t>
            </a:r>
          </a:p>
          <a:p/>
          <a:p>
            <a:r>
              <a:t>[BAJO EL CAPÓ - EXPLICACIÓN TÉCNICA]</a:t>
            </a:r>
          </a:p>
          <a:p>
            <a:r>
              <a:t>El contenedor tiene un netns asignado pero runc no añade ningún veth ni ruta de gateway por defecto en la tabla de enrutamiento.</a:t>
            </a:r>
          </a:p>
          <a:p/>
          <a:p>
            <a:r>
              <a:t>[DINÁMICA DE AULA / PREGUNTA DISPARADORA]</a:t>
            </a:r>
          </a:p>
          <a:p>
            <a:r>
              <a:t>¿Cómo harías llegar los archivos a procesar a un contenedor con '--network none' si no tiene red? (Volúmenes)</a:t>
            </a:r>
          </a:p>
          <a:p/>
          <a:p>
            <a:r>
              <a:t>[DEMO EN VIVO / COMANDOS]</a:t>
            </a:r>
          </a:p>
          <a:p>
            <a:r>
              <a:t>docker run --rm --network none alpine ifconfig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Introducir el concepto de redes overlay y VXLAN para preparar a los alumnos para la orquestación del Módulo 5.</a:t>
            </a:r>
          </a:p>
          <a:p/>
          <a:p>
            <a:r>
              <a:t>[BAJO EL CAPÓ - EXPLICACIÓN TÉCNICA]</a:t>
            </a:r>
          </a:p>
          <a:p>
            <a:r>
              <a:t>VXLAN (Virtual Extensible LAN, RFC 7348) añade una cabecera de 8 bytes con un VNI (VXLAN Network Identifier) de 24 bits, permitiendo hasta 16 millones de redes virtuales aisladas sobre una misma red física.</a:t>
            </a:r>
          </a:p>
          <a:p/>
          <a:p>
            <a:r>
              <a:t>[DINÁMICA DE AULA / PREGUNTA DISPARADORA]</a:t>
            </a:r>
          </a:p>
          <a:p>
            <a:r>
              <a:t>¿Qué sobrecarga de bytes añade la cabecera VXLAN en cada paquete y por qué afecta al MTU de la red?</a:t>
            </a:r>
          </a:p>
          <a:p/>
          <a:p>
            <a:r>
              <a:t>[DEMO EN VIVO / COMANDOS]</a:t>
            </a:r>
          </a:p>
          <a:p>
            <a:r>
              <a:t>docker network create -d overlay --attachable demo-overlay 2&gt;/dev/null || echo 'Overlay requiere Swarm inicializado (docker swarm init)'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Explicar cuándo utilizar Macvlan (redes corporativas legacy) y cómo los plugins CNI amplían las capacidades de red.</a:t>
            </a:r>
          </a:p>
          <a:p/>
          <a:p>
            <a:r>
              <a:t>[BAJO EL CAPÓ - EXPLICACIÓN TÉCNICA]</a:t>
            </a:r>
          </a:p>
          <a:p>
            <a:r>
              <a:t>En Macvlan, el kernel crea subinterfaces virtuales asociadas a la interfaz física eth0. Por seguridad del kernel Linux, el host no puede comunicarse con los contenedores Macvlan por su interfaz física salvo que se cree un macvlan dummy en el propio host.</a:t>
            </a:r>
          </a:p>
          <a:p/>
          <a:p>
            <a:r>
              <a:t>[DINÁMICA DE AULA / PREGUNTA DISPARADORA]</a:t>
            </a:r>
          </a:p>
          <a:p>
            <a:r>
              <a:t>¿Por qué en entornos cloud como AWS o Azure Macvlan suele estar bloqueado por el proveedor? (Prevención de spoofing de MACs)</a:t>
            </a:r>
          </a:p>
          <a:p/>
          <a:p>
            <a:r>
              <a:t>[DEMO EN VIVO / COMANDOS]</a:t>
            </a:r>
          </a:p>
          <a:p>
            <a:r>
              <a:t>docker network 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Garantizar que todos los alumnos dominen la creación de redes y la resolución DNS entre contenedores antes de pasar a almacenamiento.</a:t>
            </a:r>
          </a:p>
          <a:p/>
          <a:p>
            <a:r>
              <a:t>[BAJO EL CAPÓ - EXPLICACIÓN TÉCNICA]</a:t>
            </a:r>
          </a:p>
          <a:p>
            <a:r>
              <a:t>Insistir a los alumnos en que nunca dejen contenedores en la red por defecto bridge para proyectos de más de un servicio.</a:t>
            </a:r>
          </a:p>
          <a:p/>
          <a:p>
            <a:r>
              <a:t>[DINÁMICA DE AULA / PREGUNTA DISPARADORA]</a:t>
            </a:r>
          </a:p>
          <a:p>
            <a:r>
              <a:t>¿Alguien puede explicar por qué el ping funcionó directamente con el nombre 'cache-redis' sin configurar /etc/hosts?</a:t>
            </a:r>
          </a:p>
          <a:p/>
          <a:p>
            <a:r>
              <a:t>[DEMO EN VIVO / COMANDOS]</a:t>
            </a:r>
          </a:p>
          <a:p>
            <a:r>
              <a:t>docker network create lab2-net &amp;&amp; docker run -d --name r1 --network lab2-net redis:alpine &amp;&amp; docker run --rm --network lab2-net alpine ping -c 1 r1 &amp;&amp; docker rm -f r1 &amp;&amp; docker network rm lab2-net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Introducir la necesidad de persistencia de datos y desmontar el mito de que 'Docker no sirve para bases de datos'.</a:t>
            </a:r>
          </a:p>
          <a:p/>
          <a:p>
            <a:r>
              <a:t>[BAJO EL CAPÓ - EXPLICACIÓN TÉCNICA]</a:t>
            </a:r>
          </a:p>
          <a:p>
            <a:r>
              <a:t>Los datos que residen en la capa de contenedor se pierden al destruirlo. Los volúmenes montan sistemas de archivos que evitan el storage driver, ofreciendo rendimiento nativo.</a:t>
            </a:r>
          </a:p>
          <a:p/>
          <a:p>
            <a:r>
              <a:t>[DINÁMICA DE AULA / PREGUNTA DISPARADORA]</a:t>
            </a:r>
          </a:p>
          <a:p>
            <a:r>
              <a:t>¿Qué pasa con los clientes registrados en MySQL si actualizamos la versión de la imagen y borramos el contenedor viejo?</a:t>
            </a:r>
          </a:p>
          <a:p/>
          <a:p>
            <a:r>
              <a:t>[DEMO EN VIVO / COMANDOS]</a:t>
            </a:r>
          </a:p>
          <a:p>
            <a:r>
              <a:t>docker volume 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Hacer entender que los contenedores son efímeros pero los datos deben ser sagrados y persistentes.</a:t>
            </a:r>
          </a:p>
          <a:p/>
          <a:p>
            <a:r>
              <a:t>[BAJO EL CAPÓ - EXPLICACIÓN TÉCNICA]</a:t>
            </a:r>
          </a:p>
          <a:p>
            <a:r>
              <a:t>Overlay2 es fantástico para archivos estáticos de la imagen, pero tiene penalización en escrituras pesadas aleatorias (como un motor InnoDB de MySQL o WAL de PostgreSQL). Los volúmenes se montan como sistemas de archivos directos sin pasar por Overlay2.</a:t>
            </a:r>
          </a:p>
          <a:p/>
          <a:p>
            <a:r>
              <a:t>[DINÁMICA DE AULA / PREGUNTA DISPARADORA]</a:t>
            </a:r>
          </a:p>
          <a:p>
            <a:r>
              <a:t>¿Por qué no es recomendable escribir terabytes de datos directamente en la capa de escritura del contenedor?</a:t>
            </a:r>
          </a:p>
          <a:p/>
          <a:p>
            <a:r>
              <a:t>[DEMO EN VIVO / COMANDOS]</a:t>
            </a:r>
          </a:p>
          <a:p>
            <a:r>
              <a:t>docker info | grep -i 'Storage Driver'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Explicar técnicamente el funcionamiento interno de Overlay2 y qué ocurre realmente en disco cuando se crea, edita o borra un archivo.</a:t>
            </a:r>
          </a:p>
          <a:p/>
          <a:p>
            <a:r>
              <a:t>[BAJO EL CAPÓ - EXPLICACIÓN TÉCNICA]</a:t>
            </a:r>
          </a:p>
          <a:p>
            <a:r>
              <a:t>Un whiteout file en OverlayFS es un dispositivo de caracteres (character device) con número mayor 0 y menor 0. Al montar el filesystem, el kernel oculta cualquier entrada en lowerdir con ese mismo nombre.</a:t>
            </a:r>
          </a:p>
          <a:p/>
          <a:p>
            <a:r>
              <a:t>[DINÁMICA DE AULA / PREGUNTA DISPARADORA]</a:t>
            </a:r>
          </a:p>
          <a:p>
            <a:r>
              <a:t>Si borras un archivo de 2GB de la imagen base dentro del contenedor, ¿se reduce el tamaño de la imagen en disco? (¡No, solo se crea un whiteout!)</a:t>
            </a:r>
          </a:p>
          <a:p/>
          <a:p>
            <a:r>
              <a:t>[DEMO EN VIVO / COMANDOS]</a:t>
            </a:r>
          </a:p>
          <a:p>
            <a:r>
              <a:t>docker run -d --name o2-demo alpine sleep 60 &amp;&amp; docker inspect o2-demo | grep -A 5 GraphDriver &amp;&amp; docker rm -f o2-demo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Presentar la tabla comparativa definitiva entre Named Volumes, Bind Mounts y Tmpfs.</a:t>
            </a:r>
          </a:p>
          <a:p/>
          <a:p>
            <a:r>
              <a:t>[BAJO EL CAPÓ - EXPLICACIÓN TÉCNICA]</a:t>
            </a:r>
          </a:p>
          <a:p>
            <a:r>
              <a:t>Técnicamente, tanto Bind Mounts como Volumes utilizan la syscall mount() de Linux con flags MS_BIND. La diferencia radica en si la ruta origen es gestionada por el daemon de Docker o por el usuario.</a:t>
            </a:r>
          </a:p>
          <a:p/>
          <a:p>
            <a:r>
              <a:t>[DINÁMICA DE AULA / PREGUNTA DISPARADORA]</a:t>
            </a:r>
          </a:p>
          <a:p>
            <a:r>
              <a:t>¿Cuál de los 3 elegirías para guardar el código fuente de un proyecto React mientras programas en tu portátil?</a:t>
            </a:r>
          </a:p>
          <a:p/>
          <a:p>
            <a:r>
              <a:t>[DEMO EN VIVO / COMANDOS]</a:t>
            </a:r>
          </a:p>
          <a:p>
            <a:r>
              <a:t>docker volume create test-vol &amp;&amp; docker volume inspect test-vol &amp;&amp; docker volume rm test-vol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Demostrar con el ejemplo práctico de una base de datos que destruir el contenedor no elimina los datos si residen en un Named Volume.</a:t>
            </a:r>
          </a:p>
          <a:p/>
          <a:p>
            <a:r>
              <a:t>[BAJO EL CAPÓ - EXPLICACIÓN TÉCNICA]</a:t>
            </a:r>
          </a:p>
          <a:p>
            <a:r>
              <a:t>Los volúmenes residen en /var/lib/docker/volumes/&lt;nombre&gt;/_data. En sistemas Linux con permisos de root, es posible inspeccionar y hacer copias de seguridad de esa carpeta directamente con tar o rsync.</a:t>
            </a:r>
          </a:p>
          <a:p/>
          <a:p>
            <a:r>
              <a:t>[DINÁMICA DE AULA / PREGUNTA DISPARADORA]</a:t>
            </a:r>
          </a:p>
          <a:p>
            <a:r>
              <a:t>¿Qué sucede si dos contenedores montan el mismo Named Volume simultáneamente? (Ambos pueden escribir, pero ojo con bloqueos a nivel de app)</a:t>
            </a:r>
          </a:p>
          <a:p/>
          <a:p>
            <a:r>
              <a:t>[DEMO EN VIVO / COMANDOS]</a:t>
            </a:r>
          </a:p>
          <a:p>
            <a:r>
              <a:t>docker volume create v_demo &amp;&amp; docker run --rm -v v_demo:/data alpine touch /data/saludos.txt &amp;&amp; docker run --rm -v v_demo:/data alpine ls /data &amp;&amp; docker volume rm v_demo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Enseñar el uso adecuado de Bind Mounts en desarrollo y prevenir el dolor de cabeza clásico de permisos UID/GID desalineados.</a:t>
            </a:r>
          </a:p>
          <a:p/>
          <a:p>
            <a:r>
              <a:t>[BAJO EL CAPÓ - EXPLICACIÓN TÉCNICA]</a:t>
            </a:r>
          </a:p>
          <a:p>
            <a:r>
              <a:t>En Linux, el kernel comprueba los permisos numéricos de UID/GID. Si dentro del contenedor se crea un archivo con UID 0 (root), en el host pertenecerá a root, impidiendo que el desarrollador pueda editarlo sin sudo.</a:t>
            </a:r>
          </a:p>
          <a:p/>
          <a:p>
            <a:r>
              <a:t>[DINÁMICA DE AULA / PREGUNTA DISPARADORA]</a:t>
            </a:r>
          </a:p>
          <a:p>
            <a:r>
              <a:t>¿A cuántos os ha pasado crear archivos desde Docker y luego no poder editarlos o borrarlos en vuestro editor en el host?</a:t>
            </a:r>
          </a:p>
          <a:p/>
          <a:p>
            <a:r>
              <a:t>[DEMO EN VIVO / COMANDOS]</a:t>
            </a:r>
          </a:p>
          <a:p>
            <a:r>
              <a:t>docker run --rm -v $(pwd):/host_dir alpine ls /host_dir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Instruir en el uso de tmpfs para optimizar el rendimiento y la seguridad de datos volátiles.</a:t>
            </a:r>
          </a:p>
          <a:p/>
          <a:p>
            <a:r>
              <a:t>[BAJO EL CAPÓ - EXPLICACIÓN TÉCNICA]</a:t>
            </a:r>
          </a:p>
          <a:p>
            <a:r>
              <a:t>Tmpfs es un sistema de archivos virtual de Linux respaldado por la memoria y swap del kernel. Utiliza la llamada mount -t tmpfs.</a:t>
            </a:r>
          </a:p>
          <a:p/>
          <a:p>
            <a:r>
              <a:t>[DINÁMICA DE AULA / PREGUNTA DISPARADORA]</a:t>
            </a:r>
          </a:p>
          <a:p>
            <a:r>
              <a:t>¿Por qué es buena idea poner la carpeta /tmp de un contenedor en tmpfs si la app genera millones de archivos efímeros por hora?</a:t>
            </a:r>
          </a:p>
          <a:p/>
          <a:p>
            <a:r>
              <a:t>[DEMO EN VIVO / COMANDOS]</a:t>
            </a:r>
          </a:p>
          <a:p>
            <a:r>
              <a:t>docker run --rm --tmpfs /ram_dir alpine df -T /ram_dir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Explicar el punto del temario oficial 'Contenedores de volúmenes de datos' contextualizándolo históricamente.</a:t>
            </a:r>
          </a:p>
          <a:p/>
          <a:p>
            <a:r>
              <a:t>[BAJO EL CAPÓ - EXPLICACIÓN TÉCNICA]</a:t>
            </a:r>
          </a:p>
          <a:p>
            <a:r>
              <a:t>Data Volume Containers usaban volúmenes anónimos asociados al metadata del contenedor en /var/lib/docker/containers/&lt;id&gt;/config.v2.json. Si alguien borraba el contenedor con 'docker rm -v', los datos desaparecían.</a:t>
            </a:r>
          </a:p>
          <a:p/>
          <a:p>
            <a:r>
              <a:t>[DINÁMICA DE AULA / PREGUNTA DISPARADORA]</a:t>
            </a:r>
          </a:p>
          <a:p>
            <a:r>
              <a:t>¿Por qué mantener un contenedor en estado 'Exited' solo para sujetar una carpeta era una solución poco elegante?</a:t>
            </a:r>
          </a:p>
          <a:p/>
          <a:p>
            <a:r>
              <a:t>[DEMO EN VIVO / COMANDOS]</a:t>
            </a:r>
          </a:p>
          <a:p>
            <a:r>
              <a:t>docker create -v /datos --name data-holder alpine &amp;&amp; docker run --rm --volumes-from data-holder alpine touch /datos/archivo &amp;&amp; docker run --rm --volumes-from data-holder alpine ls /datos &amp;&amp; docker rm -v data-holder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Mostrar cómo los volúmenes de Docker pueden conectarse a almacenamiento en red corporativo.</a:t>
            </a:r>
          </a:p>
          <a:p/>
          <a:p>
            <a:r>
              <a:t>[BAJO EL CAPÓ - EXPLICACIÓN TÉCNICA]</a:t>
            </a:r>
          </a:p>
          <a:p>
            <a:r>
              <a:t>El driver 'local' de Docker incluye la capacidad de invocar llamadas mount del sistema con cualquier sistema de archivos soportado por el kernel del host (nfs, cifs, sshfs, btrfs, zfs).</a:t>
            </a:r>
          </a:p>
          <a:p/>
          <a:p>
            <a:r>
              <a:t>[DINÁMICA DE AULA / PREGUNTA DISPARADORA]</a:t>
            </a:r>
          </a:p>
          <a:p>
            <a:r>
              <a:t>¿Qué precauciones debemos tener con la latencia de red si una base de datos escribe en un volumen NFS montado remotamente?</a:t>
            </a:r>
          </a:p>
          <a:p/>
          <a:p>
            <a:r>
              <a:t>[DEMO EN VIVO / COMANDOS]</a:t>
            </a:r>
          </a:p>
          <a:p>
            <a:r>
              <a:t>docker volume create --help</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Proporcionar a los alumnos la receta canónica para hacer copias de seguridad fiables de volúmenes de Docker.</a:t>
            </a:r>
          </a:p>
          <a:p/>
          <a:p>
            <a:r>
              <a:t>[BAJO EL CAPÓ - EXPLICACIÓN TÉCNICA]</a:t>
            </a:r>
          </a:p>
          <a:p>
            <a:r>
              <a:t>Montar el volumen origen en modo :ro (read-only) durante el backup evita que escrituras concurrentes puedan corromper el archivo tar en curso.</a:t>
            </a:r>
          </a:p>
          <a:p/>
          <a:p>
            <a:r>
              <a:t>[DINÁMICA DE AULA / PREGUNTA DISPARADORA]</a:t>
            </a:r>
          </a:p>
          <a:p>
            <a:r>
              <a:t>¿Por qué es más limpio usar un contenedor efímero con tar que entrar por SSH como root y copiar los archivos a mano?</a:t>
            </a:r>
          </a:p>
          <a:p/>
          <a:p>
            <a:r>
              <a:t>[DEMO EN VIVO / COMANDOS]</a:t>
            </a:r>
          </a:p>
          <a:p>
            <a:r>
              <a:t>docker volume create v_bk &amp;&amp; docker run --rm -v v_bk:/src alpine touch /src/datos.db &amp;&amp; docker run --rm -v v_bk:/src -v /tmp:/dst alpine tar czf /dst/backup.tar.gz -C /src . &amp;&amp; ls -lh /tmp/backup.tar.gz &amp;&amp; docker volume rm v_bk</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Fijar buenas prácticas estrictas y señalar los errores más costosos que cometen los equipos en producción.</a:t>
            </a:r>
          </a:p>
          <a:p/>
          <a:p>
            <a:r>
              <a:t>[BAJO EL CAPÓ - EXPLICACIÓN TÉCNICA]</a:t>
            </a:r>
          </a:p>
          <a:p>
            <a:r>
              <a:t>La directiva VOLUME dentro del Dockerfile crea automáticamente un volumen anónimo cada vez que se ejecuta 'docker run' sin parámetros de volumen explícitos. Esto puede saturar /var/lib/docker/volumes rápidamente si no se gestiona.</a:t>
            </a:r>
          </a:p>
          <a:p/>
          <a:p>
            <a:r>
              <a:t>[DINÁMICA DE AULA / PREGUNTA DISPARADORA]</a:t>
            </a:r>
          </a:p>
          <a:p>
            <a:r>
              <a:t>¿Qué opináis de la práctica de hacer 'docker commit' en lugar de actualizar el Dockerfile?</a:t>
            </a:r>
          </a:p>
          <a:p/>
          <a:p>
            <a:r>
              <a:t>[DEMO EN VIVO / COMANDOS]</a:t>
            </a:r>
          </a:p>
          <a:p>
            <a:r>
              <a:t>docker volume ls -q -f dangling=true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Dar 60-75 minutos a los alumnos para experimentar el contraste real entre persistencia en base de datos y desarrollo ágil con Bind Mount.</a:t>
            </a:r>
          </a:p>
          <a:p/>
          <a:p>
            <a:r>
              <a:t>[BAJO EL CAPÓ - EXPLICACIÓN TÉCNICA]</a:t>
            </a:r>
          </a:p>
          <a:p>
            <a:r>
              <a:t>Verificar que los alumnos entienden que el volumen 'db_datos' sobrevivió al borrado del contenedor y que el bind mount permite trabajar a velocidad nativa en local.</a:t>
            </a:r>
          </a:p>
          <a:p/>
          <a:p>
            <a:r>
              <a:t>[DINÁMICA DE AULA / PREGUNTA DISPARADORA]</a:t>
            </a:r>
          </a:p>
          <a:p>
            <a:r>
              <a:t>¿Quién ha podido destruir el contenedor de PostgreSQL y volver a ver sus tablas en el contenedor nuevo?</a:t>
            </a:r>
          </a:p>
          <a:p/>
          <a:p>
            <a:r>
              <a:t>[DEMO EN VIVO / COMANDOS]</a:t>
            </a:r>
          </a:p>
          <a:p>
            <a:r>
              <a:t>docker volume create lab3_demo &amp;&amp; docker run --rm -v lab3_demo:/data alpine touch /data/ok &amp;&amp; docker run --rm -v lab3_demo:/data alpine ls /data &amp;&amp; docker volume rm lab3_demo</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Cerrar la Jornada 2 resolviendo dudas finales sobre redes y almacenamiento y anticipar el salto al Cloud del Día 3.</a:t>
            </a:r>
          </a:p>
          <a:p/>
          <a:p>
            <a:r>
              <a:t>[BAJO EL CAPÓ - EXPLICACIÓN TÉCNICA]</a:t>
            </a:r>
          </a:p>
          <a:p>
            <a:r>
              <a:t>Recordar a los alumnos que una vez que dominamos la ejecución local, la red y la persistencia, el siguiente paso natural es cómo se ejecutan estos mismos contenedores en infraestructuras Cloud.</a:t>
            </a:r>
          </a:p>
          <a:p/>
          <a:p>
            <a:r>
              <a:t>[DINÁMICA DE AULA / PREGUNTA DISPARADORA]</a:t>
            </a:r>
          </a:p>
          <a:p>
            <a:r>
              <a:t>¿Tenéis clara la diferencia de uso entre un Named Volume y un Bind Mount en un proyecto real?</a:t>
            </a:r>
          </a:p>
          <a:p/>
          <a:p>
            <a:r>
              <a:t>[DEMO EN VIVO / COMANDOS]</a:t>
            </a:r>
          </a:p>
          <a:p>
            <a:r>
              <a:t>docker ps &amp;&amp; docker network ls &amp;&amp; docker volume ls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Introducir el salto desde la máquina local del desarrollador hacia las grandes nubes públicas empresariales.</a:t>
            </a:r>
          </a:p>
          <a:p/>
          <a:p>
            <a:r>
              <a:t>[BAJO EL CAPÓ - EXPLICACIÓN TÉCNICA]</a:t>
            </a:r>
          </a:p>
          <a:p>
            <a:r>
              <a:t>Los proveedores de nube pública ejecutan hipervisores tipo 1 fuertemente customizados (ej. AWS Nitro, Azure Hyper-V) sobre los que despliegan máquinas virtuales aisladas (MicroVMs como Firecracker) para ofrecer ejecución serverless de contenedores con aislamiento multinquilino estricto.</a:t>
            </a:r>
          </a:p>
          <a:p/>
          <a:p>
            <a:r>
              <a:t>[DINÁMICA DE AULA / PREGUNTA DISPARADORA]</a:t>
            </a:r>
          </a:p>
          <a:p>
            <a:r>
              <a:t>¿Qué proveedores de nube pública utilizáis actualmente en vuestra empresa (AWS, Azure, GCP u on-premise)?</a:t>
            </a:r>
          </a:p>
          <a:p/>
          <a:p>
            <a:r>
              <a:t>[DEMO EN VIVO / COMANDOS]</a:t>
            </a:r>
          </a:p>
          <a:p>
            <a:r>
              <a:t>docker info | grep -i 'Registry'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Posicionar el concepto de CaaS y Serverless Containers frente a las VMs tradicionales de IaaS.</a:t>
            </a:r>
          </a:p>
          <a:p/>
          <a:p>
            <a:r>
              <a:t>[BAJO EL CAPÓ - EXPLICACIÓN TÉCNICA]</a:t>
            </a:r>
          </a:p>
          <a:p>
            <a:r>
              <a:t>En Serverless Containers no hay un host Linux permanente asignado al usuario. El proveedor crea dinámicamente un sandbox de ejecución rápido cuando entra una petición HTTP y lo suspende o apaga al terminar.</a:t>
            </a:r>
          </a:p>
          <a:p/>
          <a:p>
            <a:r>
              <a:t>[DINÁMICA DE AULA / PREGUNTA DISPARADORA]</a:t>
            </a:r>
          </a:p>
          <a:p>
            <a:r>
              <a:t>¿Cuánto dinero ahorra una empresa si una API interna de facturación que solo se usa de lunes a viernes escala a cero por las noches y fines de semana?</a:t>
            </a:r>
          </a:p>
          <a:p/>
          <a:p>
            <a:r>
              <a:t>[DEMO EN VIVO / COMANDOS]</a:t>
            </a:r>
          </a:p>
          <a:p>
            <a:r>
              <a:t>echo 'De IaaS a Serverless Containers'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Hacer entender que el Container Registry es el centro neurálgico que conecta el desarrollo con el despliegue cloud.</a:t>
            </a:r>
          </a:p>
          <a:p/>
          <a:p>
            <a:r>
              <a:t>[BAJO EL CAPÓ - EXPLICACIÓN TÉCNICA]</a:t>
            </a:r>
          </a:p>
          <a:p>
            <a:r>
              <a:t>Al hacer 'docker push', el cliente comprueba con el registry qué capas (por su SHA256) ya existen en el servidor remoto para subir únicamente las capas nuevas (subida diferencial optimizada).</a:t>
            </a:r>
          </a:p>
          <a:p/>
          <a:p>
            <a:r>
              <a:t>[DINÁMICA DE AULA / PREGUNTA DISPARADORA]</a:t>
            </a:r>
          </a:p>
          <a:p>
            <a:r>
              <a:t>¿Por qué nunca debemos usar credenciales de usuario/contraseña personales en un pipeline de CI/CD para hacer push?</a:t>
            </a:r>
          </a:p>
          <a:p/>
          <a:p>
            <a:r>
              <a:t>[DEMO EN VIVO / COMANDOS]</a:t>
            </a:r>
          </a:p>
          <a:p>
            <a:r>
              <a:t>docker tag --help | head -n 8</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Profundizar en la seguridad de la cadena de suministro de software (Supply Chain Security) en los registries cloud.</a:t>
            </a:r>
          </a:p>
          <a:p/>
          <a:p>
            <a:r>
              <a:t>[BAJO EL CAPÓ - EXPLICACIÓN TÉCNICA]</a:t>
            </a:r>
          </a:p>
          <a:p>
            <a:r>
              <a:t>La especificación OCI Distribution Specification define la API HTTP estándar (/v2/&lt;name&gt;/manifests/&lt;reference&gt;) que implementan todos los registros cloud modernos.</a:t>
            </a:r>
          </a:p>
          <a:p/>
          <a:p>
            <a:r>
              <a:t>[DINÁMICA DE AULA / PREGUNTA DISPARADORA]</a:t>
            </a:r>
          </a:p>
          <a:p>
            <a:r>
              <a:t>¿Qué pasaría en producción si un atacante consigue sobrescribir la imagen 'backend:v2.0' en el registry con una versión que contiene malware?</a:t>
            </a:r>
          </a:p>
          <a:p/>
          <a:p>
            <a:r>
              <a:t>[DEMO EN VIVO / COMANDOS]</a:t>
            </a:r>
          </a:p>
          <a:p>
            <a:r>
              <a:t>docker search --filter is-official=true nginx | head -n 5</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Mapear el catálogo completo de opciones de contenedores en Azure para que el alumno sepa qué herramienta usar según el caso de uso.</a:t>
            </a:r>
          </a:p>
          <a:p/>
          <a:p>
            <a:r>
              <a:t>[BAJO EL CAPÓ - EXPLICACIÓN TÉCNICA]</a:t>
            </a:r>
          </a:p>
          <a:p>
            <a:r>
              <a:t>Azure Container Instances ejecuta cada grupo de contenedores dentro de una frontera de hipervisor dedicada y aislada, garantizando que dos clientes no comparten el mismo kernel en la infraestructura física de Azure.</a:t>
            </a:r>
          </a:p>
          <a:p/>
          <a:p>
            <a:r>
              <a:t>[DINÁMICA DE AULA / PREGUNTA DISPARADORA]</a:t>
            </a:r>
          </a:p>
          <a:p>
            <a:r>
              <a:t>Si solo quieres levantar un script de Python que procese un archivo una vez al día durante 10 minutos, ¿qué servicio de Azure elegirías?</a:t>
            </a:r>
          </a:p>
          <a:p/>
          <a:p>
            <a:r>
              <a:t>[DEMO EN VIVO / COMANDOS]</a:t>
            </a:r>
          </a:p>
          <a:p>
            <a:r>
              <a:t>echo 'Azure Container Registry (ACR) + ACI + ACA + AKS'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Enseñar a desplegar un contenedor público en Azure en menos de 2 minutos mediante Azure CLI.</a:t>
            </a:r>
          </a:p>
          <a:p/>
          <a:p>
            <a:r>
              <a:t>[BAJO EL CAPÓ - EXPLICACIÓN TÉCNICA]</a:t>
            </a:r>
          </a:p>
          <a:p>
            <a:r>
              <a:t>ACI soporta el concepto de 'Container Groups', similar a un Pod de Kubernetes: varios contenedores que comparten ciclo de vida, almacenamiento y la misma dirección IP.</a:t>
            </a:r>
          </a:p>
          <a:p/>
          <a:p>
            <a:r>
              <a:t>[DINÁMICA DE AULA / PREGUNTA DISPARADORA]</a:t>
            </a:r>
          </a:p>
          <a:p>
            <a:r>
              <a:t>¿Por qué ACI no es la mejor opción para un sistema complejo de 30 microservicios interconectados? (Para eso está ACA o AKS)</a:t>
            </a:r>
          </a:p>
          <a:p/>
          <a:p>
            <a:r>
              <a:t>[DEMO EN VIVO / COMANDOS]</a:t>
            </a:r>
          </a:p>
          <a:p>
            <a:r>
              <a:t>echo 'az container create --help'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Presentar Azure Container Apps como el punto dulce actual de la industria entre la simpleza de ACI y la complejidad de AKS.</a:t>
            </a:r>
          </a:p>
          <a:p/>
          <a:p>
            <a:r>
              <a:t>[BAJO EL CAPÓ - EXPLICACIÓN TÉCNICA]</a:t>
            </a:r>
          </a:p>
          <a:p>
            <a:r>
              <a:t>ACA utiliza Dapr como sidecar opcional y Envoy proxy como ingress controller. La abstracción de KEDA monitoriza métricas externas para disparar el Horizontal Pod Autoscaler de K8s bajo cuerda.</a:t>
            </a:r>
          </a:p>
          <a:p/>
          <a:p>
            <a:r>
              <a:t>[DINÁMICA DE AULA / PREGUNTA DISPARADORA]</a:t>
            </a:r>
          </a:p>
          <a:p>
            <a:r>
              <a:t>¿Qué ventaja tiene escalar por el tamaño de una cola de mensajes en vez de por consumo de CPU?</a:t>
            </a:r>
          </a:p>
          <a:p/>
          <a:p>
            <a:r>
              <a:t>[DEMO EN VIVO / COMANDOS]</a:t>
            </a:r>
          </a:p>
          <a:p>
            <a:r>
              <a:t>echo 'az containerapp --help'</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Estructurar el catálogo de AWS para que el alumno entienda el papel de ECS frente a EKS y el cómputo Fargate.</a:t>
            </a:r>
          </a:p>
          <a:p/>
          <a:p>
            <a:r>
              <a:t>[BAJO EL CAPÓ - EXPLICACIÓN TÉCNICA]</a:t>
            </a:r>
          </a:p>
          <a:p>
            <a:r>
              <a:t>Amazon ECS utiliza internamente un agente de código abierto (amazon-ecs-agent) escrito en Go que corre en los nodos y habla directamente con el motor de Docker o containerd.</a:t>
            </a:r>
          </a:p>
          <a:p/>
          <a:p>
            <a:r>
              <a:t>[DINÁMICA DE AULA / PREGUNTA DISPARADORA]</a:t>
            </a:r>
          </a:p>
          <a:p>
            <a:r>
              <a:t>¿Quién en el aula ha trabajado con ECS o EKS en Amazon Web Services?</a:t>
            </a:r>
          </a:p>
          <a:p/>
          <a:p>
            <a:r>
              <a:t>[DEMO EN VIVO / COMANDOS]</a:t>
            </a:r>
          </a:p>
          <a:p>
            <a:r>
              <a:t>echo 'Amazon ECR + ECS + Fargate + EKS'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Contrastar los dos modelos de ejecución de ECS: pagar por servidores fijos (EC2) vs pagar por tarea en ejecución (Fargate).</a:t>
            </a:r>
          </a:p>
          <a:p/>
          <a:p>
            <a:r>
              <a:t>[BAJO EL CAPÓ - EXPLICACIÓN TÉCNICA]</a:t>
            </a:r>
          </a:p>
          <a:p>
            <a:r>
              <a:t>Firecracker es un hipervisor ligero de código abierto desarrollado por AWS en Rust basado en KVM que arranca MicroVMs en menos de 5ms consumiendo solo 5MB de memoria.</a:t>
            </a:r>
          </a:p>
          <a:p/>
          <a:p>
            <a:r>
              <a:t>[DINÁMICA DE AULA / PREGUNTA DISPARADORA]</a:t>
            </a:r>
          </a:p>
          <a:p>
            <a:r>
              <a:t>Si tu clúster de ECS tiene picos inesperados de tráfico en Black Friday, ¿cuál de los dos modelos escala más rápido?</a:t>
            </a:r>
          </a:p>
          <a:p/>
          <a:p>
            <a:r>
              <a:t>[DEMO EN VIVO / COMANDOS]</a:t>
            </a:r>
          </a:p>
          <a:p>
            <a:r>
              <a:t>aws ecs list-clusters 2&gt;/dev/null || echo 'AWS CLI configured check'</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Instruir en el uso de Amazon ECR y las políticas de inmutabilidad y escaneo automático al hacer push.</a:t>
            </a:r>
          </a:p>
          <a:p/>
          <a:p>
            <a:r>
              <a:t>[BAJO EL CAPÓ - EXPLICACIÓN TÉCNICA]</a:t>
            </a:r>
          </a:p>
          <a:p>
            <a:r>
              <a:t>ECR almacena los datos de las capas de imagen directamente en Amazon S3 cifrados con claves KMS con una durabilidad del 99.999999999% (11 nueves).</a:t>
            </a:r>
          </a:p>
          <a:p/>
          <a:p>
            <a:r>
              <a:t>[DINÁMICA DE AULA / PREGUNTA DISPARADORA]</a:t>
            </a:r>
          </a:p>
          <a:p>
            <a:r>
              <a:t>¿Por qué la inmutabilidad de tags evita que un fallo humano en CI/CD rompa un despliegue previo?</a:t>
            </a:r>
          </a:p>
          <a:p/>
          <a:p>
            <a:r>
              <a:t>[DEMO EN VIVO / COMANDOS]</a:t>
            </a:r>
          </a:p>
          <a:p>
            <a:r>
              <a:t>echo 'aws ecr get-login-password --help'</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Resaltar la posición histórica de Google en el desarrollo de cgroups y Kubernetes y presentar Cloud Run y GKE.</a:t>
            </a:r>
          </a:p>
          <a:p/>
          <a:p>
            <a:r>
              <a:t>[BAJO EL CAPÓ - EXPLICACIÓN TÉCNICA]</a:t>
            </a:r>
          </a:p>
          <a:p>
            <a:r>
              <a:t>Google diseñó originalmente cgroups (llamados process containers en 2006) y los donó al kernel de Linux para poder ejecutar Borg en sus datacenters.</a:t>
            </a:r>
          </a:p>
          <a:p/>
          <a:p>
            <a:r>
              <a:t>[DINÁMICA DE AULA / PREGUNTA DISPARADORA]</a:t>
            </a:r>
          </a:p>
          <a:p>
            <a:r>
              <a:t>¿Sabías que Google arranca más de 4.000 millones de contenedores por semana en su infraestructura interna?</a:t>
            </a:r>
          </a:p>
          <a:p/>
          <a:p>
            <a:r>
              <a:t>[DEMO EN VIVO / COMANDOS]</a:t>
            </a:r>
          </a:p>
          <a:p>
            <a:r>
              <a:t>echo 'Google Artifact Registry + Cloud Run + GKE'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Demostrar la agilidad extrema de Google Cloud Run para desplegar contenedores sin preocuparse por servidores ni infraestructura.</a:t>
            </a:r>
          </a:p>
          <a:p/>
          <a:p>
            <a:r>
              <a:t>[BAJO EL CAPÓ - EXPLICACIÓN TÉCNICA]</a:t>
            </a:r>
          </a:p>
          <a:p>
            <a:r>
              <a:t>Cloud Run utiliza Knative Serving sobre clústeres de GKE optimizados y cajas de aislamiento gVisor para arrancar contenedores en frío en menos de un segundo.</a:t>
            </a:r>
          </a:p>
          <a:p/>
          <a:p>
            <a:r>
              <a:t>[DINÁMICA DE AULA / PREGUNTA DISPARADORA]</a:t>
            </a:r>
          </a:p>
          <a:p>
            <a:r>
              <a:t>¿Cuál es la diferencia entre AWS Lambda y Google Cloud Run? (Lambda ejecuta funciones; Cloud Run ejecuta cualquier contenedor estándar).</a:t>
            </a:r>
          </a:p>
          <a:p/>
          <a:p>
            <a:r>
              <a:t>[DEMO EN VIVO / COMANDOS]</a:t>
            </a:r>
          </a:p>
          <a:p>
            <a:r>
              <a:t>echo 'gcloud run deploy --help'</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Explicar la transición de GCR clásico (gcr.io) a Artifact Registry (*-docker.pkg.dev) en Google Cloud.</a:t>
            </a:r>
          </a:p>
          <a:p/>
          <a:p>
            <a:r>
              <a:t>[BAJO EL CAPÓ - EXPLICACIÓN TÉCNICA]</a:t>
            </a:r>
          </a:p>
          <a:p>
            <a:r>
              <a:t>Binary Authorization en Google Cloud valida firmas criptográficas generadas durante el pipeline de build para impedir que nadie pueda desplegar una imagen manual no auditada.</a:t>
            </a:r>
          </a:p>
          <a:p/>
          <a:p>
            <a:r>
              <a:t>[DINÁMICA DE AULA / PREGUNTA DISPARADORA]</a:t>
            </a:r>
          </a:p>
          <a:p>
            <a:r>
              <a:t>¿Por qué es beneficioso tener el registro de contenedores en la misma región que el clúster de cómputo? (Menor latencia de descarga y ahorro en costes de transferencia de red).</a:t>
            </a:r>
          </a:p>
          <a:p/>
          <a:p>
            <a:r>
              <a:t>[DEMO EN VIVO / COMANDOS]</a:t>
            </a:r>
          </a:p>
          <a:p>
            <a:r>
              <a:t>gcloud artifacts repositories list 2&gt;/dev/null || echo 'gcloud check'</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Abordar el punto oficial del temario 'Docker Cloud' con total rigor histórico y profesionalidad.</a:t>
            </a:r>
          </a:p>
          <a:p/>
          <a:p>
            <a:r>
              <a:t>[BAJO EL CAPÓ - EXPLICACIÓN TÉCNICA]</a:t>
            </a:r>
          </a:p>
          <a:p>
            <a:r>
              <a:t>Tutum y Docker Cloud intentaron monetizar el hosting de contenedores antes de que AWS lanzara ECS/Fargate y Google lanzara Cloud Run. Docker Inc. reorientó su modelo de negocio hacia Docker Desktop comercial y suscripciones de Docker Hub.</a:t>
            </a:r>
          </a:p>
          <a:p/>
          <a:p>
            <a:r>
              <a:t>[DINÁMICA DE AULA / PREGUNTA DISPARADORA]</a:t>
            </a:r>
          </a:p>
          <a:p>
            <a:r>
              <a:t>¿Tiene sentido que una empresa intente competir en hosting contra AWS, Microsoft y Google a la vez?</a:t>
            </a:r>
          </a:p>
          <a:p/>
          <a:p>
            <a:r>
              <a:t>[DEMO EN VIVO / COMANDOS]</a:t>
            </a:r>
          </a:p>
          <a:p>
            <a:r>
              <a:t>docker scout --help 2&gt;/dev/null || docker --help</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Ayudar a los alumnos a tomar decisiones técnicas y económicas fundamentadas en sus proyectos de empresa.</a:t>
            </a:r>
          </a:p>
          <a:p/>
          <a:p>
            <a:r>
              <a:t>[BAJO EL CAPÓ - EXPLICACIÓN TÉCNICA]</a:t>
            </a:r>
          </a:p>
          <a:p>
            <a:r>
              <a:t>Kubernetes añade una sobrecarga operativa y cognitiva notable. Para muchas aplicaciones, un servicio serverless como Cloud Run o ACA cubre el 100% de las necesidades con una fracción del coste operativo.</a:t>
            </a:r>
          </a:p>
          <a:p/>
          <a:p>
            <a:r>
              <a:t>[DINÁMICA DE AULA / PREGUNTA DISPARADORA]</a:t>
            </a:r>
          </a:p>
          <a:p>
            <a:r>
              <a:t>Si tu empresa solo tiene 3 desarrolladores y una API web, ¿recomendarías montar un clúster de Kubernetes?</a:t>
            </a:r>
          </a:p>
          <a:p/>
          <a:p>
            <a:r>
              <a:t>[DEMO EN VIVO / COMANDOS]</a:t>
            </a:r>
          </a:p>
          <a:p>
            <a:r>
              <a:t>echo 'Comparativa Serverless Containers vs K8s'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Fijar las pautas de arquitectura cloud-native necesarias para que un contenedor sea estable y seguro en la nube.</a:t>
            </a:r>
          </a:p>
          <a:p/>
          <a:p>
            <a:r>
              <a:t>[BAJO EL CAPÓ - EXPLICACIÓN TÉCNICA]</a:t>
            </a:r>
          </a:p>
          <a:p>
            <a:r>
              <a:t>La directiva HEALTHCHECK en el Dockerfile es consultada por los balanceadores de carga para saber si deben enviar tráfico a ese contenedor o esperar a que termine de inicializarse.</a:t>
            </a:r>
          </a:p>
          <a:p/>
          <a:p>
            <a:r>
              <a:t>[DINÁMICA DE AULA / PREGUNTA DISPARADORA]</a:t>
            </a:r>
          </a:p>
          <a:p>
            <a:r>
              <a:t>¿Qué le ocurriría a tu factura de Cloud Run si no configuras un límite de max-instances y sufres un ataque DoS?</a:t>
            </a:r>
          </a:p>
          <a:p/>
          <a:p>
            <a:r>
              <a:t>[DEMO EN VIVO / COMANDOS]</a:t>
            </a:r>
          </a:p>
          <a:p>
            <a:r>
              <a:t>docker run --rm alpine sh -c 'echo "Logs directos a stdout y stderr"'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Guiar a los alumnos en el proceso completo de subir una imagen a un registro público/privado y desplegarla en un entorno cloud.</a:t>
            </a:r>
          </a:p>
          <a:p/>
          <a:p>
            <a:r>
              <a:t>[BAJO EL CAPÓ - EXPLICACIÓN TÉCNICA]</a:t>
            </a:r>
          </a:p>
          <a:p>
            <a:r>
              <a:t>En entornos formativos donde los alumnos no disponen de tarjeta de crédito para nubes públicas, este laboratorio se puede realizar de forma 100% gratuita usando Docker Hub público y servicios como Play with Docker, Render, o simulación con registry local 'docker run -d -p 5000:5000 registry:2'.</a:t>
            </a:r>
          </a:p>
          <a:p/>
          <a:p>
            <a:r>
              <a:t>[DINÁMICA DE AULA / PREGUNTA DISPARADORA]</a:t>
            </a:r>
          </a:p>
          <a:p>
            <a:r>
              <a:t>¿Quién ha conseguido hacer push de su imagen y verla listada en el registro remoto?</a:t>
            </a:r>
          </a:p>
          <a:p/>
          <a:p>
            <a:r>
              <a:t>[DEMO EN VIVO / COMANDOS]</a:t>
            </a:r>
          </a:p>
          <a:p>
            <a:r>
              <a:t>docker run -d -p 5000:5000 --name registry-local registry:2 &amp;&amp; docker tag nginx:alpine localhost:5000/mi-web:1.0 &amp;&amp; docker push localhost:5000/mi-web:1.0 &amp;&amp; curl http://localhost:5000/v2/_catalog &amp;&amp; docker rm -f registry-local</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Cerrar la Jornada 3 revisando cómo los contenedores conectan el desarrollo con la nube y preparar el escenario para Kubernetes en el Día 4.</a:t>
            </a:r>
          </a:p>
          <a:p/>
          <a:p>
            <a:r>
              <a:t>[BAJO EL CAPÓ - EXPLICACIÓN TÉCNICA]</a:t>
            </a:r>
          </a:p>
          <a:p>
            <a:r>
              <a:t>Recordar a los alumnos que mañana entraremos en el orquestador estándar de la industria (Kubernetes) para aprender cómo gestionar cientos de contenedores coordinados.</a:t>
            </a:r>
          </a:p>
          <a:p/>
          <a:p>
            <a:r>
              <a:t>[DINÁMICA DE AULA / PREGUNTA DISPARADORA]</a:t>
            </a:r>
          </a:p>
          <a:p>
            <a:r>
              <a:t>Entre ACI, Fargate y Cloud Run, ¿cuál os parece la alternativa más atractiva para vuestros proyectos inmediatos?</a:t>
            </a:r>
          </a:p>
          <a:p/>
          <a:p>
            <a:r>
              <a:t>[DEMO EN VIVO / COMANDOS]</a:t>
            </a:r>
          </a:p>
          <a:p>
            <a:r>
              <a:t>docker images | head -n 5</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Dar la bienvenida a la última jornada del curso y presentar el salto de gestionar contenedores individuales a coordinar clústeres masivos.</a:t>
            </a:r>
          </a:p>
          <a:p/>
          <a:p>
            <a:r>
              <a:t>[BAJO EL CAPÓ - EXPLICACIÓN TÉCNICA]</a:t>
            </a:r>
          </a:p>
          <a:p>
            <a:r>
              <a:t>Docker Engine gestiona contenedores en un único host. La orquestación abstrae una flota de cientos o miles de servidores físicos para que el operador los vea y gestione como una única gran computadora homogénea.</a:t>
            </a:r>
          </a:p>
          <a:p/>
          <a:p>
            <a:r>
              <a:t>[DINÁMICA DE AULA / PREGUNTA DISPARADORA]</a:t>
            </a:r>
          </a:p>
          <a:p>
            <a:r>
              <a:t>Si tenéis 50 contenedores repartidos en 10 servidores y uno de los servidores se quema a las 3 de la madrugada, ¿quién reinicia los contenedores afectados?</a:t>
            </a:r>
          </a:p>
          <a:p/>
          <a:p>
            <a:r>
              <a:t>[DEMO EN VIVO / COMANDOS]</a:t>
            </a:r>
          </a:p>
          <a:p>
            <a:r>
              <a:t>docker info | grep -i 'Swarm'</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Hacer reflexionar a los alumnos sobre el paso crítico de entornos de desarrollo a operaciones de producción 24/7.</a:t>
            </a:r>
          </a:p>
          <a:p/>
          <a:p>
            <a:r>
              <a:t>[BAJO EL CAPÓ - EXPLICACIÓN TÉCNICA]</a:t>
            </a:r>
          </a:p>
          <a:p>
            <a:r>
              <a:t>Un orquestador opera como un sistema operativo distribuido. Utiliza algoritmos de consenso (Raft, Paxos) para mantener un estado coherente entre todos los nodos del clúster ante particiones de red (Split-Brain).</a:t>
            </a:r>
          </a:p>
          <a:p/>
          <a:p>
            <a:r>
              <a:t>[DINÁMICA DE AULA / PREGUNTA DISPARADORA]</a:t>
            </a:r>
          </a:p>
          <a:p>
            <a:r>
              <a:t>¿Qué hacéis en vuestra empresa cuando hay que actualizar una versión en producción para que los usuarios no noten cortes?</a:t>
            </a:r>
          </a:p>
          <a:p/>
          <a:p>
            <a:r>
              <a:t>[DEMO EN VIVO / COMANDOS]</a:t>
            </a:r>
          </a:p>
          <a:p>
            <a:r>
              <a:t>echo '¿Por qué necesitamos Orquestación?'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Fijar las 5 responsabilidades esenciales que cualquier orquestador (Swarm, K8s, Nomad) debe proporcionar por diseño.</a:t>
            </a:r>
          </a:p>
          <a:p/>
          <a:p>
            <a:r>
              <a:t>[BAJO EL CAPÓ - EXPLICACIÓN TÉCNICA]</a:t>
            </a:r>
          </a:p>
          <a:p>
            <a:r>
              <a:t>La reconciliación continua es el motor de todo orquestador: compara permanentemente el 'Desired State' (declarado en YAML) con el 'Actual State' (lo que corre en el kernel). Si difieren, ejecuta acciones correctivas inmediatas.</a:t>
            </a:r>
          </a:p>
          <a:p/>
          <a:p>
            <a:r>
              <a:t>[DINÁMICA DE AULA / PREGUNTA DISPARADORA]</a:t>
            </a:r>
          </a:p>
          <a:p>
            <a:r>
              <a:t>¿Qué ventaja tiene que el orquestador haga un rollback automático si una nueva versión falla el health check?</a:t>
            </a:r>
          </a:p>
          <a:p/>
          <a:p>
            <a:r>
              <a:t>[DEMO EN VIVO / COMANDOS]</a:t>
            </a:r>
          </a:p>
          <a:p>
            <a:r>
              <a:t>echo 'Scheduling + Self-Healing + Auto-Scaling + Service Discovery + Rolling Updates'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Presentar el punto oficial del temario 'Comparativa de Orquestadores' analizando los 3 principales contendientes del mercado.</a:t>
            </a:r>
          </a:p>
          <a:p/>
          <a:p>
            <a:r>
              <a:t>[BAJO EL CAPÓ - EXPLICACIÓN TÉCNICA]</a:t>
            </a:r>
          </a:p>
          <a:p>
            <a:r>
              <a:t>Kubernetes ganó la 'guerra de orquestadores' (2015-2018) frente a Docker Swarm y Apache Mesos gracias al respaldo masivo de Google, Red Hat, Microsoft, Amazon y la fundación CNCF.</a:t>
            </a:r>
          </a:p>
          <a:p/>
          <a:p>
            <a:r>
              <a:t>[DINÁMICA DE AULA / PREGUNTA DISPARADORA]</a:t>
            </a:r>
          </a:p>
          <a:p>
            <a:r>
              <a:t>¿Alguien en la sala ha usado Docker Swarm en el pasado? ¿Por qué la industria se volcó con Kubernetes?</a:t>
            </a:r>
          </a:p>
          <a:p/>
          <a:p>
            <a:r>
              <a:t>[DEMO EN VIVO / COMANDOS]</a:t>
            </a:r>
          </a:p>
          <a:p>
            <a:r>
              <a:t>echo 'Docker Swarm vs Kubernetes vs HashiCorp Nomad'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Enseñar a los alumnos a inicializar un clúster Swarm y comprobar cómo escala un servicio en segundos.</a:t>
            </a:r>
          </a:p>
          <a:p/>
          <a:p>
            <a:r>
              <a:t>[BAJO EL CAPÓ - EXPLICACIÓN TÉCNICA]</a:t>
            </a:r>
          </a:p>
          <a:p>
            <a:r>
              <a:t>SwarmKit utiliza gRPC con TLS mutuo (mTLS) generado automáticamente para encriptar toda la comunicación entre nodos. El Routing Mesh se apoya en IPVS (IP Virtual Server) en el kernel de Linux.</a:t>
            </a:r>
          </a:p>
          <a:p/>
          <a:p>
            <a:r>
              <a:t>[DINÁMICA DE AULA / PREGUNTA DISPARADORA]</a:t>
            </a:r>
          </a:p>
          <a:p>
            <a:r>
              <a:t>¿Por qué es recomendable tener un número impar de nodos Manager (3, 5, 7) en un clúster Raft? (Para evitar empates en la elección de líder).</a:t>
            </a:r>
          </a:p>
          <a:p/>
          <a:p>
            <a:r>
              <a:t>[DEMO EN VIVO / COMANDOS]</a:t>
            </a:r>
          </a:p>
          <a:p>
            <a:r>
              <a:t>docker swarm init 2&gt;/dev/null || echo 'Swarm ya activo' ; docker service ls ; docker swarm leave --force 2&gt;/dev/null || true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Poner en contexto el origen, propósito e impacto de Kubernetes en el ecosistema tecnológico global.</a:t>
            </a:r>
          </a:p>
          <a:p/>
          <a:p>
            <a:r>
              <a:t>[BAJO EL CAPÓ - EXPLICACIÓN TÉCNICA]</a:t>
            </a:r>
          </a:p>
          <a:p>
            <a:r>
              <a:t>Kubernetes no es un sistema de despliegue pasivo; es un sistema de control de lazo cerrado (Closed-Loop Control System) inspirado en la teoría de control y robótica.</a:t>
            </a:r>
          </a:p>
          <a:p/>
          <a:p>
            <a:r>
              <a:t>[DINÁMICA DE AULA / PREGUNTA DISPARADORA]</a:t>
            </a:r>
          </a:p>
          <a:p>
            <a:r>
              <a:t>¿Cuál es la diferencia entre un enfoque imperativo ('haz esto ahora') y un enfoque declarativo ('este es el estado deseado')?</a:t>
            </a:r>
          </a:p>
          <a:p/>
          <a:p>
            <a:r>
              <a:t>[DEMO EN VIVO / COMANDOS]</a:t>
            </a:r>
          </a:p>
          <a:p>
            <a:r>
              <a:t>echo 'Kubernetes: De Borg a la CNCF'</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Explicar la división fundamental entre el cerebro del clúster (Control Plane) y los ejecutores de carga (Worker Nodes).</a:t>
            </a:r>
          </a:p>
          <a:p/>
          <a:p>
            <a:r>
              <a:t>[BAJO EL CAPÓ - EXPLICACIÓN TÉCNICA]</a:t>
            </a:r>
          </a:p>
          <a:p>
            <a:r>
              <a:t>En clústeres gestionados como AKS, EKS o GKE, el proveedor de nube asume el 100% de la gestión, alta disponibilidad y coste del Control Plane; el cliente solo paga por los Worker Nodes donde corren sus Pods.</a:t>
            </a:r>
          </a:p>
          <a:p/>
          <a:p>
            <a:r>
              <a:t>[DINÁMICA DE AULA / PREGUNTA DISPARADORA]</a:t>
            </a:r>
          </a:p>
          <a:p>
            <a:r>
              <a:t>¿Qué le ocurre a una aplicación web que ya está corriendo en un Worker Node si el Control Plane se cae temporalmente durante 10 minutos?</a:t>
            </a:r>
          </a:p>
          <a:p/>
          <a:p>
            <a:r>
              <a:t>[DEMO EN VIVO / COMANDOS]</a:t>
            </a:r>
          </a:p>
          <a:p>
            <a:r>
              <a:t>echo 'Control Plane (Master) vs Worker Nodes'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Detallar los 4 componentes indispensables del Control Plane y su función específica.</a:t>
            </a:r>
          </a:p>
          <a:p/>
          <a:p>
            <a:r>
              <a:t>[BAJO EL CAPÓ - EXPLICACIÓN TÉCNICA]</a:t>
            </a:r>
          </a:p>
          <a:p>
            <a:r>
              <a:t>Ningún componente habla directamente con etcd excepto kube-apiserver. Todos los demás componentes (scheduler, controllers, kubelet) consultan y envían eventos a través del API server.</a:t>
            </a:r>
          </a:p>
          <a:p/>
          <a:p>
            <a:r>
              <a:t>[DINÁMICA DE AULA / PREGUNTA DISPARADORA]</a:t>
            </a:r>
          </a:p>
          <a:p>
            <a:r>
              <a:t>¿Por qué hacer copias de seguridad de etcd equivale a hacer una copia de seguridad de todo el clúster de Kubernetes?</a:t>
            </a:r>
          </a:p>
          <a:p/>
          <a:p>
            <a:r>
              <a:t>[DEMO EN VIVO / COMANDOS]</a:t>
            </a:r>
          </a:p>
          <a:p>
            <a:r>
              <a:t>kubectl version --client 2&gt;/dev/null || echo 'kubectl client check'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Explicar cómo el kubelet y kube-proxy coordinan el runtime de contenedores en cada servidor físico.</a:t>
            </a:r>
          </a:p>
          <a:p/>
          <a:p>
            <a:r>
              <a:t>[BAJO EL CAPÓ - EXPLICACIÓN TÉCNICA]</a:t>
            </a:r>
          </a:p>
          <a:p>
            <a:r>
              <a:t>Desde Kubernetes 1.24 se eliminó 'dockershim'. Kubernetes ya no habla directamente con Docker Engine, sino con containerd o CRI-O mediante la interfaz estándar CRI (Container Runtime Interface).</a:t>
            </a:r>
          </a:p>
          <a:p/>
          <a:p>
            <a:r>
              <a:t>[DINÁMICA DE AULA / PREGUNTA DISPARADORA]</a:t>
            </a:r>
          </a:p>
          <a:p>
            <a:r>
              <a:t>¿Qué es el Container Runtime Interface (CRI) y por qué Kubernetes ya no depende exclusivamente de Docker?</a:t>
            </a:r>
          </a:p>
          <a:p/>
          <a:p>
            <a:r>
              <a:t>[DEMO EN VIVO / COMANDOS]</a:t>
            </a:r>
          </a:p>
          <a:p>
            <a:r>
              <a:t>echo 'kubelet + kube-proxy + containerd'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Hacer comprender el núcleo conceptual de Kubernetes: el bucle infinito de reconciliación declarativa.</a:t>
            </a:r>
          </a:p>
          <a:p/>
          <a:p>
            <a:r>
              <a:t>[BAJO EL CAPÓ - EXPLICACIÓN TÉCNICA]</a:t>
            </a:r>
          </a:p>
          <a:p>
            <a:r>
              <a:t>Kubernetes utiliza llamadas HTTP Watch sobre la API de etcd. Esto significa que los controladores no hacen polling constante, sino que se suscriben a flujos reactivos de eventos (Event-Driven Architecture).</a:t>
            </a:r>
          </a:p>
          <a:p/>
          <a:p>
            <a:r>
              <a:t>[DINÁMICA DE AULA / PREGUNTA DISPARADORA]</a:t>
            </a:r>
          </a:p>
          <a:p>
            <a:r>
              <a:t>Si matamos a mano un Pod con 'kubectl delete pod', ¿por qué aparece uno nuevo con otro nombre al cabo de 2 segundos?</a:t>
            </a:r>
          </a:p>
          <a:p/>
          <a:p>
            <a:r>
              <a:t>[DEMO EN VIVO / COMANDOS]</a:t>
            </a:r>
          </a:p>
          <a:p>
            <a:r>
              <a:t>echo 'Bucle de Reconciliación: Observar -&gt; Comparar -&gt; Actuar'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Presentar el concepto de Pod y aclarar por qué K8s añade esta capa de abstracción sobre los contenedores.</a:t>
            </a:r>
          </a:p>
          <a:p/>
          <a:p>
            <a:r>
              <a:t>[BAJO EL CAPÓ - EXPLICACIÓN TÉCNICA]</a:t>
            </a:r>
          </a:p>
          <a:p>
            <a:r>
              <a:t>K8s crea un contenedor especial invisible llamado 'pause container' (o infra container) para cada Pod. Este contenedor sujeta los namespaces (NET, IPC) mientras los contenedores de usuario se inician y reinician a su alrededor.</a:t>
            </a:r>
          </a:p>
          <a:p/>
          <a:p>
            <a:r>
              <a:t>[DINÁMICA DE AULA / PREGUNTA DISPARADORA]</a:t>
            </a:r>
          </a:p>
          <a:p>
            <a:r>
              <a:t>¿En qué escenario tendría sentido colocar dos contenedores distintos dentro del mismo Pod? (Patrón Sidecar: ej. app principal + proxy de logging/mTLS).</a:t>
            </a:r>
          </a:p>
          <a:p/>
          <a:p>
            <a:r>
              <a:t>[DEMO EN VIVO / COMANDOS]</a:t>
            </a:r>
          </a:p>
          <a:p>
            <a:r>
              <a:t>echo 'Pod: La unidad atómica de Kubernetes'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Enseñar a los alumnos por qué en producción siempre se crean Deployments y cómo gestionan las réplicas y rollouts.</a:t>
            </a:r>
          </a:p>
          <a:p/>
          <a:p>
            <a:r>
              <a:t>[BAJO EL CAPÓ - EXPLICACIÓN TÉCNICA]</a:t>
            </a:r>
          </a:p>
          <a:p>
            <a:r>
              <a:t>Un Deployment no crea Pods directamente: crea y gestiona ReplicaSets. Al hacer un update de imagen, crea un nuevo ReplicaSet y va incrementando sus réplicas a medida que reduce las del ReplicaSet anterior.</a:t>
            </a:r>
          </a:p>
          <a:p/>
          <a:p>
            <a:r>
              <a:t>[DINÁMICA DE AULA / PREGUNTA DISPARADORA]</a:t>
            </a:r>
          </a:p>
          <a:p>
            <a:r>
              <a:t>¿Qué comando de kubectl usarías para escalar las réplicas de 3 a 10 en tiempo de ejecución? (kubectl scale deployment api-pedidos --replicas=10).</a:t>
            </a:r>
          </a:p>
          <a:p/>
          <a:p>
            <a:r>
              <a:t>[DEMO EN VIVO / COMANDOS]</a:t>
            </a:r>
          </a:p>
          <a:p>
            <a:r>
              <a:t>echo 'kubectl apply -f deployment.yaml'</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Hacer entender que los Services resuelven el reto del descubrimiento de servicios y balanceo interno en Kubernetes.</a:t>
            </a:r>
          </a:p>
          <a:p/>
          <a:p>
            <a:r>
              <a:t>[BAJO EL CAPÓ - EXPLICACIÓN TÉCNICA]</a:t>
            </a:r>
          </a:p>
          <a:p>
            <a:r>
              <a:t>Los Services no son procesos reales; son reglas de iptables o IPVS gestionadas por kube-proxy que interceptan paquetes dirigidos a la ClusterIP y los reenvían a las IPs reales de los Pods (Endpoints).</a:t>
            </a:r>
          </a:p>
          <a:p/>
          <a:p>
            <a:r>
              <a:t>[DINÁMICA DE AULA / PREGUNTA DISPARADORA]</a:t>
            </a:r>
          </a:p>
          <a:p>
            <a:r>
              <a:t>Si tienes 5 réplicas de un Pod detrás de un Service, ¿cómo sabe el Service a qué Pods enviar tráfico si uno de ellos está caído? (Sondas ReadinessProbe).</a:t>
            </a:r>
          </a:p>
          <a:p/>
          <a:p>
            <a:r>
              <a:t>[DEMO EN VIVO / COMANDOS]</a:t>
            </a:r>
          </a:p>
          <a:p>
            <a:r>
              <a:t>echo 'kubectl get svc'</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Presentar cómo se gestiona la configuración externa (ConfigMaps/Secrets) y el almacenamiento persistente (PVC/PV) en Kubernetes.</a:t>
            </a:r>
          </a:p>
          <a:p/>
          <a:p>
            <a:r>
              <a:t>[BAJO EL CAPÓ - EXPLICACIÓN TÉCNICA]</a:t>
            </a:r>
          </a:p>
          <a:p>
            <a:r>
              <a:t>Por defecto en Kubernetes vainilla, los Secrets en etcd están en base64 sin cifrar a nivel de disco; en producción es obligatorio activar 'Encryption at Rest' con KMS en el kube-apiserver.</a:t>
            </a:r>
          </a:p>
          <a:p/>
          <a:p>
            <a:r>
              <a:t>[DINÁMICA DE AULA / PREGUNTA DISPARADORA]</a:t>
            </a:r>
          </a:p>
          <a:p>
            <a:r>
              <a:t>¿Por qué nunca debemos compilar contraseñas o URLs de bases de datos dentro de la imagen de Docker?</a:t>
            </a:r>
          </a:p>
          <a:p/>
          <a:p>
            <a:r>
              <a:t>[DEMO EN VIVO / COMANDOS]</a:t>
            </a:r>
          </a:p>
          <a:p>
            <a:r>
              <a:t>echo 'ConfigMaps, Secrets y PersistentVolumeClaims'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Hacer que los alumnos sientan que todo lo aprendido en los Módulos 1, 2, 3 y 4 se reutiliza y encaja perfectamente en Kubernetes.</a:t>
            </a:r>
          </a:p>
          <a:p/>
          <a:p>
            <a:r>
              <a:t>[BAJO EL CAPÓ - EXPLICACIÓN TÉCNICA]</a:t>
            </a:r>
          </a:p>
          <a:p>
            <a:r>
              <a:t>Herramientas como 'Kompose' permiten convertir automáticamente archivos docker-compose.yml en manifiestos de Kubernetes YAML.</a:t>
            </a:r>
          </a:p>
          <a:p/>
          <a:p>
            <a:r>
              <a:t>[DINÁMICA DE AULA / PREGUNTA DISPARADORA]</a:t>
            </a:r>
          </a:p>
          <a:p>
            <a:r>
              <a:t>¿Cuál de las equivalencias de la tabla os parece más intuitiva?</a:t>
            </a:r>
          </a:p>
          <a:p/>
          <a:p>
            <a:r>
              <a:t>[DEMO EN VIVO / COMANDOS]</a:t>
            </a:r>
          </a:p>
          <a:p>
            <a:r>
              <a:t>echo 'Tabla de equivalencias Docker &lt;-&gt; Kubernetes'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Facilitar a los alumnos herramientas para que puedan continuar practicando Kubernetes en sus propios equipos sin coste cloud.</a:t>
            </a:r>
          </a:p>
          <a:p/>
          <a:p>
            <a:r>
              <a:t>[BAJO EL CAPÓ - EXPLICACIÓN TÉCNICA]</a:t>
            </a:r>
          </a:p>
          <a:p>
            <a:r>
              <a:t>Kind levanta un contenedor Docker con la imagen kindest/node que contiene systemd, containerd, kubelet y todos los binarios de K8s preinstalados.</a:t>
            </a:r>
          </a:p>
          <a:p/>
          <a:p>
            <a:r>
              <a:t>[DINÁMICA DE AULA / PREGUNTA DISPARADORA]</a:t>
            </a:r>
          </a:p>
          <a:p>
            <a:r>
              <a:t>¿Quién tiene Docker Desktop instalado en su máquina y ha probado a activar la casilla de Kubernetes?</a:t>
            </a:r>
          </a:p>
          <a:p/>
          <a:p>
            <a:r>
              <a:t>[DEMO EN VIVO / COMANDOS]</a:t>
            </a:r>
          </a:p>
          <a:p>
            <a:r>
              <a:t>kind version 2&gt;/dev/null || minikube version 2&gt;/dev/null || echo 'Entornos locales para K8s'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Taller integrador de 75-90 minutos donde los alumnos consolidan todo el viaje: desde el Dockerfile hasta el despliegue orquestado en K8s.</a:t>
            </a:r>
          </a:p>
          <a:p/>
          <a:p>
            <a:r>
              <a:t>[BAJO EL CAPÓ - EXPLICACIÓN TÉCNICA]</a:t>
            </a:r>
          </a:p>
          <a:p>
            <a:r>
              <a:t>Acompañar a los alumnos en el uso de 'kubectl get pods -w' (watch mode) para que vean en tiempo real la transición de estados de los contenedores durante el Rolling Update.</a:t>
            </a:r>
          </a:p>
          <a:p/>
          <a:p>
            <a:r>
              <a:t>[DINÁMICA DE AULA / PREGUNTA DISPARADORA]</a:t>
            </a:r>
          </a:p>
          <a:p>
            <a:r>
              <a:t>¿Habéis visto cómo al borrar el Pod, el ReplicaSet creó otro Pod sustituto inmediatamente?</a:t>
            </a:r>
          </a:p>
          <a:p/>
          <a:p>
            <a:r>
              <a:t>[DEMO EN VIVO / COMANDOS]</a:t>
            </a:r>
          </a:p>
          <a:p>
            <a:r>
              <a:t>kubectl get pods 2&gt;/dev/null || echo 'Demo K8s'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DE LA SLIDE]</a:t>
            </a:r>
          </a:p>
          <a:p>
            <a:r>
              <a:t>Agradecer la participación y esfuerzo de los alumnos, felicitarles por completar las 20 horas formativas y proporcionar recursos de especialización.</a:t>
            </a:r>
          </a:p>
          <a:p/>
          <a:p>
            <a:r>
              <a:t>[BAJO EL CAPÓ - EXPLICACIÓN TÉCNICA]</a:t>
            </a:r>
          </a:p>
          <a:p>
            <a:r>
              <a:t>Recomendar los siguientes pasos en su carrera profesional: certificación CKA (Certified Kubernetes Administrator), CKAD (Certified Kubernetes Application Developer) y buenas prácticas de seguridad con Docker Scout / Trivy.</a:t>
            </a:r>
          </a:p>
          <a:p/>
          <a:p>
            <a:r>
              <a:t>[DINÁMICA DE AULA / PREGUNTA DISPARADORA]</a:t>
            </a:r>
          </a:p>
          <a:p>
            <a:r>
              <a:t>¿Cuáles son las 3 habilidades que os lleváis de este curso para aplicar inmediatamente en vuestro trabajo diario?</a:t>
            </a:r>
          </a:p>
          <a:p/>
          <a:p>
            <a:r>
              <a:t>[DEMO EN VIVO / COMANDOS]</a:t>
            </a:r>
          </a:p>
          <a:p>
            <a:r>
              <a:t>echo 'Fin del curso Docker Fundamentals 20H'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D3A"/>
          </a:solidFill>
          <a:ln>
            <a:solidFill>
              <a:srgbClr val="0B1D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32720" cy="457200"/>
          </a:xfrm>
          <a:prstGeom prst="rect">
            <a:avLst/>
          </a:prstGeom>
          <a:noFill/>
        </p:spPr>
        <p:txBody>
          <a:bodyPr wrap="square">
            <a:spAutoFit/>
          </a:bodyPr>
          <a:lstStyle/>
          <a:p>
            <a:pPr>
              <a:defRPr sz="1300" b="1">
                <a:solidFill>
                  <a:srgbClr val="0DB7ED"/>
                </a:solidFill>
                <a:latin typeface="Calibri"/>
              </a:defRPr>
            </a:pPr>
            <a:r>
              <a:t>DÍA 1 • FUNDAMENTOS DE CONTENEDORES</a:t>
            </a:r>
          </a:p>
        </p:txBody>
      </p:sp>
      <p:sp>
        <p:nvSpPr>
          <p:cNvPr id="4" name="TextBox 3"/>
          <p:cNvSpPr txBox="1"/>
          <p:nvPr/>
        </p:nvSpPr>
        <p:spPr>
          <a:xfrm>
            <a:off x="914400" y="1828800"/>
            <a:ext cx="10332720" cy="2194560"/>
          </a:xfrm>
          <a:prstGeom prst="rect">
            <a:avLst/>
          </a:prstGeom>
          <a:noFill/>
        </p:spPr>
        <p:txBody>
          <a:bodyPr wrap="square">
            <a:spAutoFit/>
          </a:bodyPr>
          <a:lstStyle/>
          <a:p>
            <a:pPr>
              <a:defRPr sz="4000" b="1">
                <a:solidFill>
                  <a:srgbClr val="FFFFFF"/>
                </a:solidFill>
                <a:latin typeface="Calibri"/>
              </a:defRPr>
            </a:pPr>
            <a:r>
              <a:t>DOCKER FUNDAMENTALS</a:t>
            </a:r>
          </a:p>
        </p:txBody>
      </p:sp>
      <p:sp>
        <p:nvSpPr>
          <p:cNvPr id="5" name="TextBox 4"/>
          <p:cNvSpPr txBox="1"/>
          <p:nvPr/>
        </p:nvSpPr>
        <p:spPr>
          <a:xfrm>
            <a:off x="914400" y="4114800"/>
            <a:ext cx="10332720" cy="1645920"/>
          </a:xfrm>
          <a:prstGeom prst="rect">
            <a:avLst/>
          </a:prstGeom>
          <a:noFill/>
        </p:spPr>
        <p:txBody>
          <a:bodyPr wrap="square">
            <a:spAutoFit/>
          </a:bodyPr>
          <a:lstStyle/>
          <a:p>
            <a:pPr>
              <a:defRPr sz="2000">
                <a:solidFill>
                  <a:srgbClr val="64748B"/>
                </a:solidFill>
                <a:latin typeface="Calibri"/>
              </a:defRPr>
            </a:pPr>
            <a:r>
              <a:t>Módulo 1: Introducción, Arquitectura del Motor, Seguridad e Imágenes</a:t>
            </a:r>
            <a:br/>
            <a:r>
              <a:t>Jornada 1 de 4 (5 Horas Lectivas)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1 • CONTEXTO</a:t>
            </a:r>
          </a:p>
          <a:p>
            <a:pPr>
              <a:defRPr sz="2800" b="1">
                <a:solidFill>
                  <a:srgbClr val="1E293B"/>
                </a:solidFill>
                <a:latin typeface="Calibri"/>
              </a:defRPr>
            </a:pPr>
            <a:r>
              <a:t>El Reto del Despliegue: Del Monolito a la Matriz Matricial</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La Matriz del Infierno (N x M)</a:t>
            </a:r>
          </a:p>
          <a:p>
            <a:pPr>
              <a:spcAft>
                <a:spcPts val="800"/>
              </a:spcAft>
              <a:defRPr sz="1400">
                <a:latin typeface="Calibri"/>
              </a:defRPr>
            </a:pPr>
            <a:r>
              <a:rPr b="1">
                <a:solidFill>
                  <a:srgbClr val="1E293B"/>
                </a:solidFill>
              </a:rPr>
              <a:t>• Diversidad de Lenguajes: </a:t>
            </a:r>
            <a:r>
              <a:rPr b="0">
                <a:solidFill>
                  <a:srgbClr val="1E293B"/>
                </a:solidFill>
              </a:rPr>
              <a:t>Node.js, Python, Java, Go, .NET con diferentes versiones de runtime en el mismo servidor.</a:t>
            </a:r>
          </a:p>
          <a:p>
            <a:pPr>
              <a:spcAft>
                <a:spcPts val="800"/>
              </a:spcAft>
              <a:defRPr sz="1400">
                <a:latin typeface="Calibri"/>
              </a:defRPr>
            </a:pPr>
            <a:r>
              <a:rPr b="1">
                <a:solidFill>
                  <a:srgbClr val="1E293B"/>
                </a:solidFill>
              </a:rPr>
              <a:t>• Dependencias de Sistema: </a:t>
            </a:r>
            <a:r>
              <a:rPr b="0">
                <a:solidFill>
                  <a:srgbClr val="1E293B"/>
                </a:solidFill>
              </a:rPr>
              <a:t>Librerías compartidas (glibc, OpenSSL) que generan conflictos catastróficos entre servicios.</a:t>
            </a:r>
          </a:p>
          <a:p>
            <a:pPr>
              <a:spcAft>
                <a:spcPts val="800"/>
              </a:spcAft>
              <a:defRPr sz="1400">
                <a:latin typeface="Calibri"/>
              </a:defRPr>
            </a:pPr>
            <a:r>
              <a:rPr b="1">
                <a:solidFill>
                  <a:srgbClr val="1E293B"/>
                </a:solidFill>
              </a:rPr>
              <a:t>• Entornos Heterogéneos: </a:t>
            </a:r>
            <a:r>
              <a:rPr b="0">
                <a:solidFill>
                  <a:srgbClr val="1E293B"/>
                </a:solidFill>
              </a:rPr>
              <a:t>Discrepancias constantes entre portátil local, servidor de pruebas (QA) y clúster de producción.</a:t>
            </a:r>
          </a:p>
          <a:p>
            <a:pPr>
              <a:spcAft>
                <a:spcPts val="800"/>
              </a:spcAft>
              <a:defRPr sz="1400">
                <a:latin typeface="Calibri"/>
              </a:defRPr>
            </a:pPr>
            <a:r>
              <a:rPr b="1">
                <a:solidFill>
                  <a:srgbClr val="1E293B"/>
                </a:solidFill>
              </a:rPr>
              <a:t>• Deriva de Configuración: </a:t>
            </a:r>
            <a:r>
              <a:rPr b="0">
                <a:solidFill>
                  <a:srgbClr val="1E293B"/>
                </a:solidFill>
              </a:rPr>
              <a:t>Modificaciones manuales no documentadas en máquinas virtuales ('servidores copo de nieve').</a:t>
            </a:r>
          </a:p>
        </p:txBody>
      </p:sp>
      <p:sp>
        <p:nvSpPr>
          <p:cNvPr id="5" name="Rounded Rectangle 4"/>
          <p:cNvSpPr/>
          <p:nvPr/>
        </p:nvSpPr>
        <p:spPr>
          <a:xfrm>
            <a:off x="6217920" y="1645920"/>
            <a:ext cx="52120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La Solución de Contenedores</a:t>
            </a:r>
          </a:p>
          <a:p>
            <a:pPr>
              <a:spcAft>
                <a:spcPts val="800"/>
              </a:spcAft>
              <a:defRPr sz="1400">
                <a:latin typeface="Calibri"/>
              </a:defRPr>
            </a:pPr>
            <a:r>
              <a:rPr b="1">
                <a:solidFill>
                  <a:srgbClr val="1E293B"/>
                </a:solidFill>
              </a:rPr>
              <a:t>• Inmutabilidad: </a:t>
            </a:r>
            <a:r>
              <a:rPr b="0">
                <a:solidFill>
                  <a:srgbClr val="1E293B"/>
                </a:solidFill>
              </a:rPr>
              <a:t>Empaquetar la aplicación junto con todo su entorno exacto de ejecución en un artefacto autocontenido.</a:t>
            </a:r>
          </a:p>
          <a:p>
            <a:pPr>
              <a:spcAft>
                <a:spcPts val="800"/>
              </a:spcAft>
              <a:defRPr sz="1400">
                <a:latin typeface="Calibri"/>
              </a:defRPr>
            </a:pPr>
            <a:r>
              <a:rPr b="1">
                <a:solidFill>
                  <a:srgbClr val="1E293B"/>
                </a:solidFill>
              </a:rPr>
              <a:t>• Portabilidad Absoluta: </a:t>
            </a:r>
            <a:r>
              <a:rPr b="0">
                <a:solidFill>
                  <a:srgbClr val="1E293B"/>
                </a:solidFill>
              </a:rPr>
              <a:t>La garantía del contenedor: si arranca en el equipo del desarrollador, se ejecutará idénticamente en la nube.</a:t>
            </a:r>
          </a:p>
          <a:p>
            <a:pPr>
              <a:spcAft>
                <a:spcPts val="800"/>
              </a:spcAft>
              <a:defRPr sz="1400">
                <a:latin typeface="Calibri"/>
              </a:defRPr>
            </a:pPr>
            <a:r>
              <a:rPr b="1">
                <a:solidFill>
                  <a:srgbClr val="1E293B"/>
                </a:solidFill>
              </a:rPr>
              <a:t>• Arranque en Milisegundos: </a:t>
            </a:r>
            <a:r>
              <a:rPr b="0">
                <a:solidFill>
                  <a:srgbClr val="1E293B"/>
                </a:solidFill>
              </a:rPr>
              <a:t>Al no tener que arrancar un sistema operativo completo, un contenedor inicia como un proceso normal.</a:t>
            </a:r>
          </a:p>
          <a:p>
            <a:pPr>
              <a:spcAft>
                <a:spcPts val="800"/>
              </a:spcAft>
              <a:defRPr sz="1400">
                <a:latin typeface="Calibri"/>
              </a:defRPr>
            </a:pPr>
            <a:r>
              <a:rPr b="1">
                <a:solidFill>
                  <a:srgbClr val="1E293B"/>
                </a:solidFill>
              </a:rPr>
              <a:t>• Densidad de Carga: </a:t>
            </a:r>
            <a:r>
              <a:rPr b="0">
                <a:solidFill>
                  <a:srgbClr val="1E293B"/>
                </a:solidFill>
              </a:rPr>
              <a:t>Ejecución de cientos de microservicios en el mismo hardware sin la sobrecarga de RAM de múltiples VMs.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2 / 81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1 • FUNDAMENTOS</a:t>
            </a:r>
          </a:p>
          <a:p>
            <a:pPr>
              <a:defRPr sz="2800" b="1">
                <a:solidFill>
                  <a:srgbClr val="1E293B"/>
                </a:solidFill>
                <a:latin typeface="Calibri"/>
              </a:defRPr>
            </a:pPr>
            <a:r>
              <a:t>Máquinas Virtuales vs Contenedores: Arquitectura Interna</a:t>
            </a:r>
          </a:p>
        </p:txBody>
      </p:sp>
      <p:sp>
        <p:nvSpPr>
          <p:cNvPr id="4" name="Rounded Rectangle 3"/>
          <p:cNvSpPr/>
          <p:nvPr/>
        </p:nvSpPr>
        <p:spPr>
          <a:xfrm>
            <a:off x="731520" y="1645920"/>
            <a:ext cx="5166360" cy="45720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293B"/>
                </a:solidFill>
                <a:latin typeface="Calibri"/>
              </a:defRPr>
            </a:pPr>
            <a:r>
              <a:t>Máquina Virtual (Hipervisor)</a:t>
            </a:r>
          </a:p>
        </p:txBody>
      </p:sp>
      <p:sp>
        <p:nvSpPr>
          <p:cNvPr id="5" name="Rectangle 4"/>
          <p:cNvSpPr/>
          <p:nvPr/>
        </p:nvSpPr>
        <p:spPr>
          <a:xfrm>
            <a:off x="914400" y="2377440"/>
            <a:ext cx="4800600" cy="822960"/>
          </a:xfrm>
          <a:prstGeom prst="rect">
            <a:avLst/>
          </a:prstGeom>
          <a:solidFill>
            <a:srgbClr val="FEF2F2"/>
          </a:solidFill>
          <a:ln>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991B1B"/>
                </a:solidFill>
                <a:latin typeface="Calibri"/>
              </a:defRPr>
            </a:pPr>
            <a:r>
              <a:t>App A + Dependencias</a:t>
            </a:r>
          </a:p>
        </p:txBody>
      </p:sp>
      <p:sp>
        <p:nvSpPr>
          <p:cNvPr id="6" name="Rectangle 5"/>
          <p:cNvSpPr/>
          <p:nvPr/>
        </p:nvSpPr>
        <p:spPr>
          <a:xfrm>
            <a:off x="914400" y="3291840"/>
            <a:ext cx="4800600" cy="822960"/>
          </a:xfrm>
          <a:prstGeom prst="rect">
            <a:avLst/>
          </a:prstGeom>
          <a:solidFill>
            <a:srgbClr val="F1F5F9"/>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293B"/>
                </a:solidFill>
                <a:latin typeface="Calibri"/>
              </a:defRPr>
            </a:pPr>
            <a:r>
              <a:t>Guest OS (Kernel propio, drivers, libs: GBs)</a:t>
            </a:r>
          </a:p>
        </p:txBody>
      </p:sp>
      <p:sp>
        <p:nvSpPr>
          <p:cNvPr id="7" name="Rectangle 6"/>
          <p:cNvSpPr/>
          <p:nvPr/>
        </p:nvSpPr>
        <p:spPr>
          <a:xfrm>
            <a:off x="914400" y="4206240"/>
            <a:ext cx="4800600" cy="822960"/>
          </a:xfrm>
          <a:prstGeom prst="rect">
            <a:avLst/>
          </a:prstGeom>
          <a:solidFill>
            <a:srgbClr val="0B1D3A"/>
          </a:solidFill>
          <a:ln>
            <a:solidFill>
              <a:srgbClr val="0B1D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Hipervisor (Type 1 o 2: ESXi, KVM, Hyper-V)</a:t>
            </a:r>
          </a:p>
        </p:txBody>
      </p:sp>
      <p:sp>
        <p:nvSpPr>
          <p:cNvPr id="8" name="Rectangle 7"/>
          <p:cNvSpPr/>
          <p:nvPr/>
        </p:nvSpPr>
        <p:spPr>
          <a:xfrm>
            <a:off x="914400" y="5120640"/>
            <a:ext cx="4800600" cy="822960"/>
          </a:xfrm>
          <a:prstGeom prst="rect">
            <a:avLst/>
          </a:prstGeom>
          <a:solidFill>
            <a:srgbClr val="F1F5F9"/>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64748B"/>
                </a:solidFill>
                <a:latin typeface="Calibri"/>
              </a:defRPr>
            </a:pPr>
            <a:r>
              <a:t>Hardware Servidor (CPU, RAM, Disco)</a:t>
            </a:r>
          </a:p>
        </p:txBody>
      </p:sp>
      <p:sp>
        <p:nvSpPr>
          <p:cNvPr id="9" name="Rounded Rectangle 8"/>
          <p:cNvSpPr/>
          <p:nvPr/>
        </p:nvSpPr>
        <p:spPr>
          <a:xfrm>
            <a:off x="6263640" y="1645920"/>
            <a:ext cx="5166360" cy="4572000"/>
          </a:xfrm>
          <a:prstGeom prst="roundRect">
            <a:avLst/>
          </a:prstGeom>
          <a:solidFill>
            <a:srgbClr val="FFFFFF"/>
          </a:solidFill>
          <a:ln w="19050">
            <a:solidFill>
              <a:srgbClr val="1D63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D63ED"/>
                </a:solidFill>
                <a:latin typeface="Calibri"/>
              </a:defRPr>
            </a:pPr>
            <a:r>
              <a:t>Contenedor Docker (Aislamiento de Kernel)</a:t>
            </a:r>
          </a:p>
        </p:txBody>
      </p:sp>
      <p:sp>
        <p:nvSpPr>
          <p:cNvPr id="10" name="Rectangle 9"/>
          <p:cNvSpPr/>
          <p:nvPr/>
        </p:nvSpPr>
        <p:spPr>
          <a:xfrm>
            <a:off x="6446520" y="2377440"/>
            <a:ext cx="4800600" cy="822960"/>
          </a:xfrm>
          <a:prstGeom prst="rect">
            <a:avLst/>
          </a:prstGeom>
          <a:solidFill>
            <a:srgbClr val="ECFDF5"/>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293B"/>
                </a:solidFill>
                <a:latin typeface="Calibri"/>
              </a:defRPr>
            </a:pPr>
            <a:r>
              <a:t>App A + Dependencias (Bin/Lib: MBs)</a:t>
            </a:r>
          </a:p>
        </p:txBody>
      </p:sp>
      <p:sp>
        <p:nvSpPr>
          <p:cNvPr id="11" name="Rectangle 10"/>
          <p:cNvSpPr/>
          <p:nvPr/>
        </p:nvSpPr>
        <p:spPr>
          <a:xfrm>
            <a:off x="6446520" y="3291840"/>
            <a:ext cx="4800600" cy="822960"/>
          </a:xfrm>
          <a:prstGeom prst="rect">
            <a:avLst/>
          </a:prstGeom>
          <a:solidFill>
            <a:srgbClr val="1D63ED"/>
          </a:solidFill>
          <a:ln>
            <a:solidFill>
              <a:srgbClr val="1D6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Motor Docker (dockerd + containerd + runc)</a:t>
            </a:r>
          </a:p>
        </p:txBody>
      </p:sp>
      <p:sp>
        <p:nvSpPr>
          <p:cNvPr id="12" name="Rectangle 11"/>
          <p:cNvSpPr/>
          <p:nvPr/>
        </p:nvSpPr>
        <p:spPr>
          <a:xfrm>
            <a:off x="6446520" y="4206240"/>
            <a:ext cx="4800600" cy="822960"/>
          </a:xfrm>
          <a:prstGeom prst="rect">
            <a:avLst/>
          </a:prstGeom>
          <a:solidFill>
            <a:srgbClr val="0B1D3A"/>
          </a:solidFill>
          <a:ln>
            <a:solidFill>
              <a:srgbClr val="0B1D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DB7ED"/>
                </a:solidFill>
                <a:latin typeface="Calibri"/>
              </a:defRPr>
            </a:pPr>
            <a:r>
              <a:t>Kernel Linux Compartido (Namespaces + Cgroups)</a:t>
            </a:r>
          </a:p>
        </p:txBody>
      </p:sp>
      <p:sp>
        <p:nvSpPr>
          <p:cNvPr id="13" name="Rectangle 12"/>
          <p:cNvSpPr/>
          <p:nvPr/>
        </p:nvSpPr>
        <p:spPr>
          <a:xfrm>
            <a:off x="6446520" y="5120640"/>
            <a:ext cx="4800600" cy="822960"/>
          </a:xfrm>
          <a:prstGeom prst="rect">
            <a:avLst/>
          </a:prstGeom>
          <a:solidFill>
            <a:srgbClr val="F1F5F9"/>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64748B"/>
                </a:solidFill>
                <a:latin typeface="Calibri"/>
              </a:defRPr>
            </a:pPr>
            <a:r>
              <a:t>Hardware Servidor (CPU, RAM, Disco)</a:t>
            </a:r>
          </a:p>
        </p:txBody>
      </p:sp>
      <p:sp>
        <p:nvSpPr>
          <p:cNvPr id="14" name="TextBox 13"/>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3 / 81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1 • ARQUITECTURA DE BAJO NIVEL</a:t>
            </a:r>
          </a:p>
          <a:p>
            <a:pPr>
              <a:defRPr sz="2800" b="1">
                <a:solidFill>
                  <a:srgbClr val="1E293B"/>
                </a:solidFill>
                <a:latin typeface="Calibri"/>
              </a:defRPr>
            </a:pPr>
            <a:r>
              <a:t>¿Qué es un Contenedor? El Secreto del Kernel</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La Verdad Técnica</a:t>
            </a:r>
          </a:p>
          <a:p>
            <a:pPr>
              <a:spcAft>
                <a:spcPts val="800"/>
              </a:spcAft>
              <a:defRPr sz="1400">
                <a:latin typeface="Calibri"/>
              </a:defRPr>
            </a:pPr>
            <a:r>
              <a:rPr b="1">
                <a:solidFill>
                  <a:srgbClr val="1E293B"/>
                </a:solidFill>
              </a:rPr>
              <a:t>• No existe la 'entidad contenedor': </a:t>
            </a:r>
            <a:r>
              <a:rPr b="0">
                <a:solidFill>
                  <a:srgbClr val="1E293B"/>
                </a:solidFill>
              </a:rPr>
              <a:t>En el código fuente del kernel de Linux no hay ninguna estructura de datos llamada 'container'.</a:t>
            </a:r>
          </a:p>
          <a:p>
            <a:pPr>
              <a:spcAft>
                <a:spcPts val="800"/>
              </a:spcAft>
              <a:defRPr sz="1400">
                <a:latin typeface="Calibri"/>
              </a:defRPr>
            </a:pPr>
            <a:r>
              <a:rPr b="1">
                <a:solidFill>
                  <a:srgbClr val="1E293B"/>
                </a:solidFill>
              </a:rPr>
              <a:t>• Un proceso ordinario: </a:t>
            </a:r>
            <a:r>
              <a:rPr b="0">
                <a:solidFill>
                  <a:srgbClr val="1E293B"/>
                </a:solidFill>
              </a:rPr>
              <a:t>Un contenedor es un proceso estándar de Linux (`task_struct`) al que se le han aplicado restricciones de visibilidad y recursos.</a:t>
            </a:r>
          </a:p>
          <a:p>
            <a:pPr>
              <a:spcAft>
                <a:spcPts val="800"/>
              </a:spcAft>
              <a:defRPr sz="1400">
                <a:latin typeface="Calibri"/>
              </a:defRPr>
            </a:pPr>
            <a:r>
              <a:rPr b="1">
                <a:solidFill>
                  <a:srgbClr val="1E293B"/>
                </a:solidFill>
              </a:rPr>
              <a:t>• Los Tres Pilares del Kernel: </a:t>
            </a:r>
            <a:r>
              <a:rPr b="0">
                <a:solidFill>
                  <a:srgbClr val="1E293B"/>
                </a:solidFill>
              </a:rPr>
              <a:t>Namespaces (visión aislada), Cgroups (cuotas de recursos) y LSM/Capabilities (seguridad).</a:t>
            </a:r>
          </a:p>
          <a:p>
            <a:pPr>
              <a:spcAft>
                <a:spcPts val="800"/>
              </a:spcAft>
              <a:defRPr sz="1400">
                <a:latin typeface="Calibri"/>
              </a:defRPr>
            </a:pPr>
            <a:r>
              <a:rPr b="1">
                <a:solidFill>
                  <a:srgbClr val="1E293B"/>
                </a:solidFill>
              </a:rPr>
              <a:t>• Coste Cero de Virtualización: </a:t>
            </a:r>
            <a:r>
              <a:rPr b="0">
                <a:solidFill>
                  <a:srgbClr val="1E293B"/>
                </a:solidFill>
              </a:rPr>
              <a:t>La CPU ejecuta las instrucciones del contenedor nativamente en Ring 3 (espacio de usuario).</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Comprobación de Procesos</a:t>
            </a:r>
          </a:p>
          <a:p>
            <a:pPr>
              <a:spcAft>
                <a:spcPts val="200"/>
              </a:spcAft>
              <a:defRPr sz="1100">
                <a:solidFill>
                  <a:srgbClr val="94A3B8"/>
                </a:solidFill>
                <a:latin typeface="Consolas"/>
              </a:defRPr>
            </a:pPr>
            <a:r>
              <a:t># Ver el proceso del contenedor desde el Host</a:t>
            </a:r>
          </a:p>
          <a:p>
            <a:pPr>
              <a:spcAft>
                <a:spcPts val="200"/>
              </a:spcAft>
              <a:defRPr sz="1100" b="1">
                <a:solidFill>
                  <a:srgbClr val="38BDF8"/>
                </a:solidFill>
                <a:latin typeface="Consolas"/>
              </a:defRPr>
            </a:pPr>
            <a:r>
              <a:t>$ docker run -d --name web-demo nginx</a:t>
            </a:r>
          </a:p>
          <a:p>
            <a:pPr>
              <a:spcAft>
                <a:spcPts val="200"/>
              </a:spcAft>
              <a:defRPr sz="1100">
                <a:solidFill>
                  <a:srgbClr val="FFFFFF"/>
                </a:solidFill>
                <a:latin typeface="Consolas"/>
              </a:defRPr>
            </a:pPr>
            <a:r>
              <a:t>7f8a9b2c...</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Inspeccionar el PID en el host</a:t>
            </a:r>
          </a:p>
          <a:p>
            <a:pPr>
              <a:spcAft>
                <a:spcPts val="200"/>
              </a:spcAft>
              <a:defRPr sz="1100" b="1">
                <a:solidFill>
                  <a:srgbClr val="38BDF8"/>
                </a:solidFill>
                <a:latin typeface="Consolas"/>
              </a:defRPr>
            </a:pPr>
            <a:r>
              <a:t>$ docker inspect -f '{{.State.Pid}}' web-demo</a:t>
            </a:r>
          </a:p>
          <a:p>
            <a:pPr>
              <a:spcAft>
                <a:spcPts val="200"/>
              </a:spcAft>
              <a:defRPr sz="1100">
                <a:solidFill>
                  <a:srgbClr val="FFFFFF"/>
                </a:solidFill>
                <a:latin typeface="Consolas"/>
              </a:defRPr>
            </a:pPr>
            <a:r>
              <a:t>42150</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Comprobar que en el host es un proceso normal</a:t>
            </a:r>
          </a:p>
          <a:p>
            <a:pPr>
              <a:spcAft>
                <a:spcPts val="200"/>
              </a:spcAft>
              <a:defRPr sz="1100" b="1">
                <a:solidFill>
                  <a:srgbClr val="38BDF8"/>
                </a:solidFill>
                <a:latin typeface="Consolas"/>
              </a:defRPr>
            </a:pPr>
            <a:r>
              <a:t>$ ps -ef | grep 42150</a:t>
            </a:r>
          </a:p>
          <a:p>
            <a:pPr>
              <a:spcAft>
                <a:spcPts val="200"/>
              </a:spcAft>
              <a:defRPr sz="1100">
                <a:solidFill>
                  <a:srgbClr val="FFFFFF"/>
                </a:solidFill>
                <a:latin typeface="Consolas"/>
              </a:defRPr>
            </a:pPr>
            <a:r>
              <a:t>root 42150 42100 0 10:15 ? 00:00:00 nginx: master</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Comprobar que dentro del contenedor se ve como PID 1</a:t>
            </a:r>
          </a:p>
          <a:p>
            <a:pPr>
              <a:spcAft>
                <a:spcPts val="200"/>
              </a:spcAft>
              <a:defRPr sz="1100" b="1">
                <a:solidFill>
                  <a:srgbClr val="38BDF8"/>
                </a:solidFill>
                <a:latin typeface="Consolas"/>
              </a:defRPr>
            </a:pPr>
            <a:r>
              <a:t>$ docker exec web-demo ps -ef</a:t>
            </a:r>
          </a:p>
          <a:p>
            <a:pPr>
              <a:spcAft>
                <a:spcPts val="200"/>
              </a:spcAft>
              <a:defRPr sz="1100">
                <a:solidFill>
                  <a:srgbClr val="FFFFFF"/>
                </a:solidFill>
                <a:latin typeface="Consolas"/>
              </a:defRPr>
            </a:pPr>
            <a:r>
              <a:t>UID  PID  PPID  C STIME TTY   TIME CMD</a:t>
            </a:r>
          </a:p>
          <a:p>
            <a:pPr>
              <a:spcAft>
                <a:spcPts val="200"/>
              </a:spcAft>
              <a:defRPr sz="1100">
                <a:solidFill>
                  <a:srgbClr val="FFFFFF"/>
                </a:solidFill>
                <a:latin typeface="Consolas"/>
              </a:defRPr>
            </a:pPr>
            <a:r>
              <a:t>root   1     0  0 10:15 ? 00:00:00 nginx: master</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4 / 81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1 • MOTOR DOCKER</a:t>
            </a:r>
          </a:p>
          <a:p>
            <a:pPr>
              <a:defRPr sz="2800" b="1">
                <a:solidFill>
                  <a:srgbClr val="1E293B"/>
                </a:solidFill>
                <a:latin typeface="Calibri"/>
              </a:defRPr>
            </a:pPr>
            <a:r>
              <a:t>Arquitectura del Motor Docker: Desacoplamiento OCI</a:t>
            </a:r>
          </a:p>
        </p:txBody>
      </p:sp>
      <p:sp>
        <p:nvSpPr>
          <p:cNvPr id="4" name="Rounded Rectangle 3"/>
          <p:cNvSpPr/>
          <p:nvPr/>
        </p:nvSpPr>
        <p:spPr>
          <a:xfrm>
            <a:off x="731520" y="1645920"/>
            <a:ext cx="10698480" cy="658368"/>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0" tIns="91440"/>
          <a:lstStyle/>
          <a:p>
            <a:pPr algn="ctr">
              <a:defRPr sz="1300" b="1">
                <a:solidFill>
                  <a:srgbClr val="1E293B"/>
                </a:solidFill>
                <a:latin typeface="Calibri"/>
              </a:defRPr>
            </a:pPr>
            <a:r>
              <a:t>1. Docker CLI</a:t>
            </a:r>
          </a:p>
          <a:p>
            <a:pPr>
              <a:defRPr sz="1000">
                <a:solidFill>
                  <a:srgbClr val="64748B"/>
                </a:solidFill>
                <a:latin typeface="Calibri"/>
              </a:defRPr>
            </a:pPr>
            <a:r>
              <a:t>Cliente de usuario</a:t>
            </a:r>
            <a:br/>
            <a:r>
              <a:t>(docker run / build)</a:t>
            </a:r>
          </a:p>
        </p:txBody>
      </p:sp>
      <p:sp>
        <p:nvSpPr>
          <p:cNvPr id="5" name="Rounded Rectangle 4"/>
          <p:cNvSpPr/>
          <p:nvPr/>
        </p:nvSpPr>
        <p:spPr>
          <a:xfrm>
            <a:off x="731520" y="2414016"/>
            <a:ext cx="10698480" cy="658368"/>
          </a:xfrm>
          <a:prstGeom prst="roundRect">
            <a:avLst/>
          </a:prstGeom>
          <a:solidFill>
            <a:srgbClr val="FFFFFF"/>
          </a:solidFill>
          <a:ln w="12700">
            <a:solidFill>
              <a:srgbClr val="1D63ED"/>
            </a:solidFill>
          </a:ln>
        </p:spPr>
        <p:style>
          <a:lnRef idx="1">
            <a:schemeClr val="accent1"/>
          </a:lnRef>
          <a:fillRef idx="3">
            <a:schemeClr val="accent1"/>
          </a:fillRef>
          <a:effectRef idx="2">
            <a:schemeClr val="accent1"/>
          </a:effectRef>
          <a:fontRef idx="minor">
            <a:schemeClr val="lt1"/>
          </a:fontRef>
        </p:style>
        <p:txBody>
          <a:bodyPr rtlCol="0" anchor="ctr" lIns="182880" tIns="91440"/>
          <a:lstStyle/>
          <a:p>
            <a:pPr algn="ctr">
              <a:defRPr sz="1300" b="1">
                <a:solidFill>
                  <a:srgbClr val="1D63ED"/>
                </a:solidFill>
                <a:latin typeface="Calibri"/>
              </a:defRPr>
            </a:pPr>
            <a:r>
              <a:t>2. REST API / Socket</a:t>
            </a:r>
          </a:p>
          <a:p>
            <a:pPr>
              <a:defRPr sz="1000">
                <a:solidFill>
                  <a:srgbClr val="64748B"/>
                </a:solidFill>
                <a:latin typeface="Calibri"/>
              </a:defRPr>
            </a:pPr>
            <a:r>
              <a:t>/var/run/docker.sock</a:t>
            </a:r>
            <a:br/>
            <a:r>
              <a:t>(Llamadas gRPC/REST)</a:t>
            </a:r>
          </a:p>
        </p:txBody>
      </p:sp>
      <p:sp>
        <p:nvSpPr>
          <p:cNvPr id="6" name="Rounded Rectangle 5"/>
          <p:cNvSpPr/>
          <p:nvPr/>
        </p:nvSpPr>
        <p:spPr>
          <a:xfrm>
            <a:off x="731520" y="3182112"/>
            <a:ext cx="10698480" cy="658368"/>
          </a:xfrm>
          <a:prstGeom prst="roundRect">
            <a:avLst/>
          </a:prstGeom>
          <a:solidFill>
            <a:srgbClr val="0B1D3A"/>
          </a:solidFill>
          <a:ln w="12700">
            <a:solidFill>
              <a:srgbClr val="0B1D3A"/>
            </a:solidFill>
          </a:ln>
        </p:spPr>
        <p:style>
          <a:lnRef idx="1">
            <a:schemeClr val="accent1"/>
          </a:lnRef>
          <a:fillRef idx="3">
            <a:schemeClr val="accent1"/>
          </a:fillRef>
          <a:effectRef idx="2">
            <a:schemeClr val="accent1"/>
          </a:effectRef>
          <a:fontRef idx="minor">
            <a:schemeClr val="lt1"/>
          </a:fontRef>
        </p:style>
        <p:txBody>
          <a:bodyPr rtlCol="0" anchor="ctr" lIns="182880" tIns="91440"/>
          <a:lstStyle/>
          <a:p>
            <a:pPr algn="ctr">
              <a:defRPr sz="1300" b="1">
                <a:solidFill>
                  <a:srgbClr val="FFFFFF"/>
                </a:solidFill>
                <a:latin typeface="Calibri"/>
              </a:defRPr>
            </a:pPr>
            <a:r>
              <a:t>3. Docker Daemon</a:t>
            </a:r>
          </a:p>
          <a:p>
            <a:pPr>
              <a:defRPr sz="1000">
                <a:solidFill>
                  <a:srgbClr val="64748B"/>
                </a:solidFill>
                <a:latin typeface="Calibri"/>
              </a:defRPr>
            </a:pPr>
            <a:r>
              <a:t>dockerd</a:t>
            </a:r>
            <a:br/>
            <a:r>
              <a:t>(Auth, build, volúmenes, redes)</a:t>
            </a:r>
          </a:p>
        </p:txBody>
      </p:sp>
      <p:sp>
        <p:nvSpPr>
          <p:cNvPr id="7" name="Rounded Rectangle 6"/>
          <p:cNvSpPr/>
          <p:nvPr/>
        </p:nvSpPr>
        <p:spPr>
          <a:xfrm>
            <a:off x="731520" y="3950208"/>
            <a:ext cx="10698480" cy="658368"/>
          </a:xfrm>
          <a:prstGeom prst="roundRect">
            <a:avLst/>
          </a:prstGeom>
          <a:solidFill>
            <a:srgbClr val="F1F5F9"/>
          </a:solidFill>
          <a:ln w="12700">
            <a:solidFill>
              <a:srgbClr val="1D63ED"/>
            </a:solidFill>
          </a:ln>
        </p:spPr>
        <p:style>
          <a:lnRef idx="1">
            <a:schemeClr val="accent1"/>
          </a:lnRef>
          <a:fillRef idx="3">
            <a:schemeClr val="accent1"/>
          </a:fillRef>
          <a:effectRef idx="2">
            <a:schemeClr val="accent1"/>
          </a:effectRef>
          <a:fontRef idx="minor">
            <a:schemeClr val="lt1"/>
          </a:fontRef>
        </p:style>
        <p:txBody>
          <a:bodyPr rtlCol="0" anchor="ctr" lIns="182880" tIns="91440"/>
          <a:lstStyle/>
          <a:p>
            <a:pPr algn="ctr">
              <a:defRPr sz="1300" b="1">
                <a:solidFill>
                  <a:srgbClr val="1E293B"/>
                </a:solidFill>
                <a:latin typeface="Calibri"/>
              </a:defRPr>
            </a:pPr>
            <a:r>
              <a:t>4. Container Runtime</a:t>
            </a:r>
          </a:p>
          <a:p>
            <a:pPr>
              <a:defRPr sz="1000">
                <a:solidFill>
                  <a:srgbClr val="64748B"/>
                </a:solidFill>
                <a:latin typeface="Calibri"/>
              </a:defRPr>
            </a:pPr>
            <a:r>
              <a:t>containerd + containerd-shim</a:t>
            </a:r>
            <a:br/>
            <a:r>
              <a:t>(Ciclo de vida y gestión OCI)</a:t>
            </a:r>
          </a:p>
        </p:txBody>
      </p:sp>
      <p:sp>
        <p:nvSpPr>
          <p:cNvPr id="8" name="Rounded Rectangle 7"/>
          <p:cNvSpPr/>
          <p:nvPr/>
        </p:nvSpPr>
        <p:spPr>
          <a:xfrm>
            <a:off x="731520" y="4718304"/>
            <a:ext cx="10698480" cy="658368"/>
          </a:xfrm>
          <a:prstGeom prst="roundRect">
            <a:avLst/>
          </a:prstGeom>
          <a:solidFill>
            <a:srgbClr val="ECFDF5"/>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lIns="182880" tIns="91440"/>
          <a:lstStyle/>
          <a:p>
            <a:pPr algn="ctr">
              <a:defRPr sz="1300" b="1">
                <a:solidFill>
                  <a:srgbClr val="1E293B"/>
                </a:solidFill>
                <a:latin typeface="Calibri"/>
              </a:defRPr>
            </a:pPr>
            <a:r>
              <a:t>5. OCI Low-Level</a:t>
            </a:r>
          </a:p>
          <a:p>
            <a:pPr>
              <a:defRPr sz="1000">
                <a:solidFill>
                  <a:srgbClr val="64748B"/>
                </a:solidFill>
                <a:latin typeface="Calibri"/>
              </a:defRPr>
            </a:pPr>
            <a:r>
              <a:t>runc</a:t>
            </a:r>
            <a:br/>
            <a:r>
              <a:t>(Crea procesos con cgroups/namespaces)</a:t>
            </a:r>
          </a:p>
        </p:txBody>
      </p:sp>
      <p:sp>
        <p:nvSpPr>
          <p:cNvPr id="9" name="TextBox 8"/>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5 / 81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1 • INSTALACIÓN</a:t>
            </a:r>
          </a:p>
          <a:p>
            <a:pPr>
              <a:defRPr sz="2800" b="1">
                <a:solidFill>
                  <a:srgbClr val="1E293B"/>
                </a:solidFill>
                <a:latin typeface="Calibri"/>
              </a:defRPr>
            </a:pPr>
            <a:r>
              <a:t>Docker-Engine vs Docker.io: Paquetes y Distribuciones</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Docker-CE / Docker-Engine (Oficial)</a:t>
            </a:r>
          </a:p>
          <a:p>
            <a:pPr>
              <a:spcAft>
                <a:spcPts val="800"/>
              </a:spcAft>
              <a:defRPr sz="1400">
                <a:latin typeface="Calibri"/>
              </a:defRPr>
            </a:pPr>
            <a:r>
              <a:rPr b="1">
                <a:solidFill>
                  <a:srgbClr val="1E293B"/>
                </a:solidFill>
              </a:rPr>
              <a:t>• Origen: </a:t>
            </a:r>
            <a:r>
              <a:rPr b="0">
                <a:solidFill>
                  <a:srgbClr val="1E293B"/>
                </a:solidFill>
              </a:rPr>
              <a:t>Repositorios oficiales mantenidos directamente por Docker Inc.</a:t>
            </a:r>
          </a:p>
          <a:p>
            <a:pPr>
              <a:spcAft>
                <a:spcPts val="800"/>
              </a:spcAft>
              <a:defRPr sz="1400">
                <a:latin typeface="Calibri"/>
              </a:defRPr>
            </a:pPr>
            <a:r>
              <a:rPr b="1">
                <a:solidFill>
                  <a:srgbClr val="1E293B"/>
                </a:solidFill>
              </a:rPr>
              <a:t>• Versiones Actualizadas: </a:t>
            </a:r>
            <a:r>
              <a:rPr b="0">
                <a:solidFill>
                  <a:srgbClr val="1E293B"/>
                </a:solidFill>
              </a:rPr>
              <a:t>Incluye las últimas mejoras de runtime, compatibilidad OCI, Docker Buildx y Compose v2 integrado.</a:t>
            </a:r>
          </a:p>
          <a:p>
            <a:pPr>
              <a:spcAft>
                <a:spcPts val="800"/>
              </a:spcAft>
              <a:defRPr sz="1400">
                <a:latin typeface="Calibri"/>
              </a:defRPr>
            </a:pPr>
            <a:r>
              <a:rPr b="1">
                <a:solidFill>
                  <a:srgbClr val="1E293B"/>
                </a:solidFill>
              </a:rPr>
              <a:t>• Paquetes Clave: </a:t>
            </a:r>
            <a:r>
              <a:rPr b="0">
                <a:solidFill>
                  <a:srgbClr val="1E293B"/>
                </a:solidFill>
              </a:rPr>
              <a:t>`docker-ce`, `docker-ce-cli`, `containerd.io`, `docker-buildx-plugin`, `docker-compose-plugin`.</a:t>
            </a:r>
          </a:p>
          <a:p>
            <a:pPr>
              <a:spcAft>
                <a:spcPts val="800"/>
              </a:spcAft>
              <a:defRPr sz="1400">
                <a:latin typeface="Calibri"/>
              </a:defRPr>
            </a:pPr>
            <a:r>
              <a:rPr b="1">
                <a:solidFill>
                  <a:srgbClr val="1E293B"/>
                </a:solidFill>
              </a:rPr>
              <a:t>• Uso Recomendado: </a:t>
            </a:r>
            <a:r>
              <a:rPr b="0">
                <a:solidFill>
                  <a:srgbClr val="1E293B"/>
                </a:solidFill>
              </a:rPr>
              <a:t>Entornos de producción empresariales y servidores de desarrollo profesional.</a:t>
            </a:r>
          </a:p>
        </p:txBody>
      </p:sp>
      <p:sp>
        <p:nvSpPr>
          <p:cNvPr id="5" name="Rounded Rectangle 4"/>
          <p:cNvSpPr/>
          <p:nvPr/>
        </p:nvSpPr>
        <p:spPr>
          <a:xfrm>
            <a:off x="6217920" y="1645920"/>
            <a:ext cx="52120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Docker.io (Distribuciones Linux)</a:t>
            </a:r>
          </a:p>
          <a:p>
            <a:pPr>
              <a:spcAft>
                <a:spcPts val="800"/>
              </a:spcAft>
              <a:defRPr sz="1400">
                <a:latin typeface="Calibri"/>
              </a:defRPr>
            </a:pPr>
            <a:r>
              <a:rPr b="1">
                <a:solidFill>
                  <a:srgbClr val="1E293B"/>
                </a:solidFill>
              </a:rPr>
              <a:t>• Origen: </a:t>
            </a:r>
            <a:r>
              <a:rPr b="0">
                <a:solidFill>
                  <a:srgbClr val="1E293B"/>
                </a:solidFill>
              </a:rPr>
              <a:t>Mantenido por empaquetadores de distribuciones (Debian, Ubuntu) en sus repositorios `apt` estándar.</a:t>
            </a:r>
          </a:p>
          <a:p>
            <a:pPr>
              <a:spcAft>
                <a:spcPts val="800"/>
              </a:spcAft>
              <a:defRPr sz="1400">
                <a:latin typeface="Calibri"/>
              </a:defRPr>
            </a:pPr>
            <a:r>
              <a:rPr b="1">
                <a:solidFill>
                  <a:srgbClr val="1E293B"/>
                </a:solidFill>
              </a:rPr>
              <a:t>• Versiones Desfasadas: </a:t>
            </a:r>
            <a:r>
              <a:rPr b="0">
                <a:solidFill>
                  <a:srgbClr val="1E293B"/>
                </a:solidFill>
              </a:rPr>
              <a:t>Suele incluir versiones antiguas congeladas para asegurar estabilidad con la versión de la distribución.</a:t>
            </a:r>
          </a:p>
          <a:p>
            <a:pPr>
              <a:spcAft>
                <a:spcPts val="800"/>
              </a:spcAft>
              <a:defRPr sz="1400">
                <a:latin typeface="Calibri"/>
              </a:defRPr>
            </a:pPr>
            <a:r>
              <a:rPr b="1">
                <a:solidFill>
                  <a:srgbClr val="1E293B"/>
                </a:solidFill>
              </a:rPr>
              <a:t>• Ausencia de Plugins Modernos: </a:t>
            </a:r>
            <a:r>
              <a:rPr b="0">
                <a:solidFill>
                  <a:srgbClr val="1E293B"/>
                </a:solidFill>
              </a:rPr>
              <a:t>A menudo carece de Buildx moderno o el comando `docker compose` unificado.</a:t>
            </a:r>
          </a:p>
          <a:p>
            <a:pPr>
              <a:spcAft>
                <a:spcPts val="800"/>
              </a:spcAft>
              <a:defRPr sz="1400">
                <a:latin typeface="Calibri"/>
              </a:defRPr>
            </a:pPr>
            <a:r>
              <a:rPr b="1">
                <a:solidFill>
                  <a:srgbClr val="1E293B"/>
                </a:solidFill>
              </a:rPr>
              <a:t>• Riesgos de Compatibilidad: </a:t>
            </a:r>
            <a:r>
              <a:rPr b="0">
                <a:solidFill>
                  <a:srgbClr val="1E293B"/>
                </a:solidFill>
              </a:rPr>
              <a:t>Problemas con sintaxis de Compose moderna o drivers de almacenamiento recientes.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6 / 81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1 • SEGURIDAD</a:t>
            </a:r>
          </a:p>
          <a:p>
            <a:pPr>
              <a:defRPr sz="2800" b="1">
                <a:solidFill>
                  <a:srgbClr val="1E293B"/>
                </a:solidFill>
                <a:latin typeface="Calibri"/>
              </a:defRPr>
            </a:pPr>
            <a:r>
              <a:t>Filosofía de Seguridad: Defensa en Profundidad</a:t>
            </a:r>
          </a:p>
        </p:txBody>
      </p:sp>
      <p:sp>
        <p:nvSpPr>
          <p:cNvPr id="4" name="Rounded Rectangle 3"/>
          <p:cNvSpPr/>
          <p:nvPr/>
        </p:nvSpPr>
        <p:spPr>
          <a:xfrm>
            <a:off x="731520" y="1645920"/>
            <a:ext cx="10698480" cy="4572000"/>
          </a:xfrm>
          <a:prstGeom prst="roundRect">
            <a:avLst/>
          </a:prstGeom>
          <a:solidFill>
            <a:srgbClr val="F1F5F9"/>
          </a:solidFill>
          <a:ln w="19050">
            <a:solidFill>
              <a:srgbClr val="1D6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B1D3A"/>
                </a:solidFill>
                <a:latin typeface="Calibri"/>
              </a:defRPr>
            </a:pPr>
            <a:r>
              <a:t>ESPACIO DE KERNEL LINUX DEL HOST</a:t>
            </a:r>
          </a:p>
        </p:txBody>
      </p:sp>
      <p:sp>
        <p:nvSpPr>
          <p:cNvPr id="5" name="Rectangle 4"/>
          <p:cNvSpPr/>
          <p:nvPr/>
        </p:nvSpPr>
        <p:spPr>
          <a:xfrm>
            <a:off x="914400" y="2286000"/>
            <a:ext cx="5074920" cy="3749040"/>
          </a:xfrm>
          <a:prstGeom prst="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63ED"/>
                </a:solidFill>
                <a:latin typeface="Calibri"/>
              </a:defRPr>
            </a:pPr>
            <a:r>
              <a:t>NAMESPACES (¿Qué puede ver?)</a:t>
            </a:r>
          </a:p>
          <a:p>
            <a:pPr>
              <a:defRPr sz="1000">
                <a:solidFill>
                  <a:srgbClr val="1E293B"/>
                </a:solidFill>
                <a:latin typeface="Calibri"/>
              </a:defRPr>
            </a:pPr>
            <a:r>
              <a:t>• PID: Árbol de procesos privado (PID 1)</a:t>
            </a:r>
          </a:p>
          <a:p>
            <a:pPr>
              <a:defRPr sz="1000">
                <a:solidFill>
                  <a:srgbClr val="1E293B"/>
                </a:solidFill>
                <a:latin typeface="Calibri"/>
              </a:defRPr>
            </a:pPr>
            <a:r>
              <a:t>• NET: Interfaces de red y puertos propios</a:t>
            </a:r>
          </a:p>
          <a:p>
            <a:pPr>
              <a:defRPr sz="1000">
                <a:solidFill>
                  <a:srgbClr val="1E293B"/>
                </a:solidFill>
                <a:latin typeface="Calibri"/>
              </a:defRPr>
            </a:pPr>
            <a:r>
              <a:t>• MNT: Puntos de montaje aislados</a:t>
            </a:r>
          </a:p>
          <a:p>
            <a:pPr>
              <a:defRPr sz="1000">
                <a:solidFill>
                  <a:srgbClr val="1E293B"/>
                </a:solidFill>
                <a:latin typeface="Calibri"/>
              </a:defRPr>
            </a:pPr>
            <a:r>
              <a:t>• IPC: Memoria compartida y colas</a:t>
            </a:r>
          </a:p>
          <a:p>
            <a:pPr>
              <a:defRPr sz="1000">
                <a:solidFill>
                  <a:srgbClr val="1E293B"/>
                </a:solidFill>
                <a:latin typeface="Calibri"/>
              </a:defRPr>
            </a:pPr>
            <a:r>
              <a:t>• UTS: Hostname y dominio independiente</a:t>
            </a:r>
          </a:p>
          <a:p>
            <a:pPr>
              <a:defRPr sz="1000">
                <a:solidFill>
                  <a:srgbClr val="1E293B"/>
                </a:solidFill>
                <a:latin typeface="Calibri"/>
              </a:defRPr>
            </a:pPr>
            <a:r>
              <a:t>• USER: Mapeo de UIDs/GIDs (rootless)</a:t>
            </a:r>
          </a:p>
        </p:txBody>
      </p:sp>
      <p:sp>
        <p:nvSpPr>
          <p:cNvPr id="6" name="Rectangle 5"/>
          <p:cNvSpPr/>
          <p:nvPr/>
        </p:nvSpPr>
        <p:spPr>
          <a:xfrm>
            <a:off x="6172200" y="2286000"/>
            <a:ext cx="5074920" cy="3749040"/>
          </a:xfrm>
          <a:prstGeom prst="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63ED"/>
                </a:solidFill>
                <a:latin typeface="Calibri"/>
              </a:defRPr>
            </a:pPr>
            <a:r>
              <a:t>CGROUPS &amp; SEC (¿Cuánto puede usar?)</a:t>
            </a:r>
          </a:p>
          <a:p>
            <a:pPr>
              <a:defRPr sz="1000">
                <a:solidFill>
                  <a:srgbClr val="1E293B"/>
                </a:solidFill>
                <a:latin typeface="Calibri"/>
              </a:defRPr>
            </a:pPr>
            <a:r>
              <a:t>• CPU: Límites (--cpus, shares, quotas)</a:t>
            </a:r>
          </a:p>
          <a:p>
            <a:pPr>
              <a:defRPr sz="1000">
                <a:solidFill>
                  <a:srgbClr val="1E293B"/>
                </a:solidFill>
                <a:latin typeface="Calibri"/>
              </a:defRPr>
            </a:pPr>
            <a:r>
              <a:t>• Memoria: Topes y prevención OOM Killer</a:t>
            </a:r>
          </a:p>
          <a:p>
            <a:pPr>
              <a:defRPr sz="1000">
                <a:solidFill>
                  <a:srgbClr val="1E293B"/>
                </a:solidFill>
                <a:latin typeface="Calibri"/>
              </a:defRPr>
            </a:pPr>
            <a:r>
              <a:t>• Block I/O: Ancho de banda de disco</a:t>
            </a:r>
          </a:p>
          <a:p>
            <a:pPr>
              <a:defRPr sz="1000">
                <a:solidFill>
                  <a:srgbClr val="1E293B"/>
                </a:solidFill>
                <a:latin typeface="Calibri"/>
              </a:defRPr>
            </a:pPr>
            <a:r>
              <a:t>• PIDs: Límite contra fork-bombs</a:t>
            </a:r>
          </a:p>
          <a:p>
            <a:pPr>
              <a:defRPr sz="1000">
                <a:solidFill>
                  <a:srgbClr val="1E293B"/>
                </a:solidFill>
                <a:latin typeface="Calibri"/>
              </a:defRPr>
            </a:pPr>
            <a:r>
              <a:t>• Capabilities: Restricción de llamadas root</a:t>
            </a:r>
          </a:p>
          <a:p>
            <a:pPr>
              <a:defRPr sz="1000">
                <a:solidFill>
                  <a:srgbClr val="1E293B"/>
                </a:solidFill>
                <a:latin typeface="Calibri"/>
              </a:defRPr>
            </a:pPr>
            <a:r>
              <a:t>• Seccomp &amp; AppArmor: Filtro de syscalls</a:t>
            </a:r>
          </a:p>
        </p:txBody>
      </p:sp>
      <p:sp>
        <p:nvSpPr>
          <p:cNvPr id="7" name="TextBox 6"/>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7 / 81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1 • SEGURIDAD</a:t>
            </a:r>
          </a:p>
          <a:p>
            <a:pPr>
              <a:defRPr sz="2800" b="1">
                <a:solidFill>
                  <a:srgbClr val="1E293B"/>
                </a:solidFill>
                <a:latin typeface="Calibri"/>
              </a:defRPr>
            </a:pPr>
            <a:r>
              <a:t>Linux Namespaces: Creando la Ilusión de Máquina Privada</a:t>
            </a:r>
          </a:p>
        </p:txBody>
      </p:sp>
      <p:sp>
        <p:nvSpPr>
          <p:cNvPr id="4" name="Rounded Rectangle 3"/>
          <p:cNvSpPr/>
          <p:nvPr/>
        </p:nvSpPr>
        <p:spPr>
          <a:xfrm>
            <a:off x="731520" y="1645920"/>
            <a:ext cx="106984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Los 6 Namespaces Fundamentales del Kernel</a:t>
            </a:r>
          </a:p>
          <a:p>
            <a:pPr>
              <a:spcAft>
                <a:spcPts val="1200"/>
              </a:spcAft>
              <a:defRPr sz="1400">
                <a:latin typeface="Calibri"/>
              </a:defRPr>
            </a:pPr>
            <a:r>
              <a:rPr b="1">
                <a:solidFill>
                  <a:srgbClr val="1E293B"/>
                </a:solidFill>
              </a:rPr>
              <a:t>• PID Namespace: </a:t>
            </a:r>
            <a:r>
              <a:rPr b="0">
                <a:solidFill>
                  <a:srgbClr val="1E293B"/>
                </a:solidFill>
              </a:rPr>
              <a:t>Proporciona un árbol de procesos privado. El proceso de entrada del contenedor se convierte en el PID 1, ajeno al resto de procesos del host.</a:t>
            </a:r>
          </a:p>
          <a:p>
            <a:pPr>
              <a:spcAft>
                <a:spcPts val="1200"/>
              </a:spcAft>
              <a:defRPr sz="1400">
                <a:latin typeface="Calibri"/>
              </a:defRPr>
            </a:pPr>
            <a:r>
              <a:rPr b="1">
                <a:solidFill>
                  <a:srgbClr val="1E293B"/>
                </a:solidFill>
              </a:rPr>
              <a:t>• NET Namespace: </a:t>
            </a:r>
            <a:r>
              <a:rPr b="0">
                <a:solidFill>
                  <a:srgbClr val="1E293B"/>
                </a:solidFill>
              </a:rPr>
              <a:t>Proporciona una pila de red completa (loopback privada, interfaz veth propia, tabla de enrutamiento y reglas iptables individuales).</a:t>
            </a:r>
          </a:p>
          <a:p>
            <a:pPr>
              <a:spcAft>
                <a:spcPts val="1200"/>
              </a:spcAft>
              <a:defRPr sz="1400">
                <a:latin typeface="Calibri"/>
              </a:defRPr>
            </a:pPr>
            <a:r>
              <a:rPr b="1">
                <a:solidFill>
                  <a:srgbClr val="1E293B"/>
                </a:solidFill>
              </a:rPr>
              <a:t>• MNT (Mount) Namespace: </a:t>
            </a:r>
            <a:r>
              <a:rPr b="0">
                <a:solidFill>
                  <a:srgbClr val="1E293B"/>
                </a:solidFill>
              </a:rPr>
              <a:t>Aísla la jerarquía del sistema de archivos. Cada contenedor ve su propio rootfs `/` generado por el Union File System.</a:t>
            </a:r>
          </a:p>
          <a:p>
            <a:pPr>
              <a:spcAft>
                <a:spcPts val="1200"/>
              </a:spcAft>
              <a:defRPr sz="1400">
                <a:latin typeface="Calibri"/>
              </a:defRPr>
            </a:pPr>
            <a:r>
              <a:rPr b="1">
                <a:solidFill>
                  <a:srgbClr val="1E293B"/>
                </a:solidFill>
              </a:rPr>
              <a:t>• IPC Namespace: </a:t>
            </a:r>
            <a:r>
              <a:rPr b="0">
                <a:solidFill>
                  <a:srgbClr val="1E293B"/>
                </a:solidFill>
              </a:rPr>
              <a:t>Impide la comunicación por memoria compartida (POSIX/SysV) o semáforos entre procesos de contenedores distintos.</a:t>
            </a:r>
          </a:p>
          <a:p>
            <a:pPr>
              <a:spcAft>
                <a:spcPts val="1200"/>
              </a:spcAft>
              <a:defRPr sz="1400">
                <a:latin typeface="Calibri"/>
              </a:defRPr>
            </a:pPr>
            <a:r>
              <a:rPr b="1">
                <a:solidFill>
                  <a:srgbClr val="1E293B"/>
                </a:solidFill>
              </a:rPr>
              <a:t>• UTS Namespace: </a:t>
            </a:r>
            <a:r>
              <a:rPr b="0">
                <a:solidFill>
                  <a:srgbClr val="1E293B"/>
                </a:solidFill>
              </a:rPr>
              <a:t>Permite que el contenedor tenga su propio hostname y nombre de dominio sin alterar el nombre del servidor anfitrión.</a:t>
            </a:r>
          </a:p>
          <a:p>
            <a:pPr>
              <a:spcAft>
                <a:spcPts val="1200"/>
              </a:spcAft>
              <a:defRPr sz="1400">
                <a:latin typeface="Calibri"/>
              </a:defRPr>
            </a:pPr>
            <a:r>
              <a:rPr b="1">
                <a:solidFill>
                  <a:srgbClr val="1E293B"/>
                </a:solidFill>
              </a:rPr>
              <a:t>• USER Namespace: </a:t>
            </a:r>
            <a:r>
              <a:rPr b="0">
                <a:solidFill>
                  <a:srgbClr val="1E293B"/>
                </a:solidFill>
              </a:rPr>
              <a:t>Asigna el usuario UID 0 (root) dentro del contenedor a un UID no privilegiado (ej. 100000) en el host (Base de Rootless Docker).</a:t>
            </a:r>
          </a:p>
        </p:txBody>
      </p:sp>
      <p:sp>
        <p:nvSpPr>
          <p:cNvPr id="5" name="TextBox 4"/>
          <p:cNvSpPr txBox="1"/>
          <p:nvPr/>
        </p:nvSpPr>
        <p:spPr>
          <a:xfrm>
            <a:off x="10332720" y="6446520"/>
            <a:ext cx="1645920" cy="320040"/>
          </a:xfrm>
          <a:prstGeom prst="rect">
            <a:avLst/>
          </a:prstGeom>
          <a:noFill/>
        </p:spPr>
        <p:txBody>
          <a:bodyPr wrap="none" lIns="0" tIns="0" rIns="0" bIns="0">
            <a:spAutoFit/>
          </a:bodyPr>
          <a:lstStyle/>
          <a:p>
            <a:pPr algn="r">
              <a:defRPr sz="900">
                <a:solidFill>
                  <a:srgbClr val="0DB7ED"/>
                </a:solidFill>
                <a:latin typeface="Calibri"/>
              </a:defRPr>
            </a:pPr>
            <a:r>
              <a:t>8 / 81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1 • SEGURIDAD</a:t>
            </a:r>
          </a:p>
          <a:p>
            <a:pPr>
              <a:defRPr sz="2800" b="1">
                <a:solidFill>
                  <a:srgbClr val="1E293B"/>
                </a:solidFill>
                <a:latin typeface="Calibri"/>
              </a:defRPr>
            </a:pPr>
            <a:r>
              <a:t>Control Groups (Cgroups): Límites y Medición</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Protección de Recursos en el Host</a:t>
            </a:r>
          </a:p>
          <a:p>
            <a:pPr>
              <a:spcAft>
                <a:spcPts val="800"/>
              </a:spcAft>
              <a:defRPr sz="1400">
                <a:latin typeface="Calibri"/>
              </a:defRPr>
            </a:pPr>
            <a:r>
              <a:rPr b="1">
                <a:solidFill>
                  <a:srgbClr val="1E293B"/>
                </a:solidFill>
              </a:rPr>
              <a:t>• Evitar Ataques DoS / Vecino Ruidoso: </a:t>
            </a:r>
            <a:r>
              <a:rPr b="0">
                <a:solidFill>
                  <a:srgbClr val="1E293B"/>
                </a:solidFill>
              </a:rPr>
              <a:t>Un contenedor con un bucle infinito o fuga de memoria no debe colapsar el servidor entero.</a:t>
            </a:r>
          </a:p>
          <a:p>
            <a:pPr>
              <a:spcAft>
                <a:spcPts val="800"/>
              </a:spcAft>
              <a:defRPr sz="1400">
                <a:latin typeface="Calibri"/>
              </a:defRPr>
            </a:pPr>
            <a:r>
              <a:rPr b="1">
                <a:solidFill>
                  <a:srgbClr val="1E293B"/>
                </a:solidFill>
              </a:rPr>
              <a:t>• Límites de Memoria (`--memory`): </a:t>
            </a:r>
            <a:r>
              <a:rPr b="0">
                <a:solidFill>
                  <a:srgbClr val="1E293B"/>
                </a:solidFill>
              </a:rPr>
              <a:t>Control estricto de RAM. Si el contenedor excede su límite, el kernel OOM Killer termina el proceso del contenedor, no el host.</a:t>
            </a:r>
          </a:p>
          <a:p>
            <a:pPr>
              <a:spcAft>
                <a:spcPts val="800"/>
              </a:spcAft>
              <a:defRPr sz="1400">
                <a:latin typeface="Calibri"/>
              </a:defRPr>
            </a:pPr>
            <a:r>
              <a:rPr b="1">
                <a:solidFill>
                  <a:srgbClr val="1E293B"/>
                </a:solidFill>
              </a:rPr>
              <a:t>• Cuotas de CPU (`--cpus`): </a:t>
            </a:r>
            <a:r>
              <a:rPr b="0">
                <a:solidFill>
                  <a:srgbClr val="1E293B"/>
                </a:solidFill>
              </a:rPr>
              <a:t>Asignación de periodos de CPU mediante el CFS (Completely Fair Scheduler) de Linux.</a:t>
            </a:r>
          </a:p>
          <a:p>
            <a:pPr>
              <a:spcAft>
                <a:spcPts val="800"/>
              </a:spcAft>
              <a:defRPr sz="1400">
                <a:latin typeface="Calibri"/>
              </a:defRPr>
            </a:pPr>
            <a:r>
              <a:rPr b="1">
                <a:solidFill>
                  <a:srgbClr val="1E293B"/>
                </a:solidFill>
              </a:rPr>
              <a:t>• Cgroups v2 (Moderno): </a:t>
            </a:r>
            <a:r>
              <a:rPr b="0">
                <a:solidFill>
                  <a:srgbClr val="1E293B"/>
                </a:solidFill>
              </a:rPr>
              <a:t>Jerarquía unificada de control en `/sys/fs/cgroup/`, mejor gestión de memoria y presión de E/S (PSI).</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Aplicación de Límites</a:t>
            </a:r>
          </a:p>
          <a:p>
            <a:pPr>
              <a:spcAft>
                <a:spcPts val="200"/>
              </a:spcAft>
              <a:defRPr sz="1100">
                <a:solidFill>
                  <a:srgbClr val="94A3B8"/>
                </a:solidFill>
                <a:latin typeface="Consolas"/>
              </a:defRPr>
            </a:pPr>
            <a:r>
              <a:t># Limitar contenedor a 512MB de RAM y 1.5 CPUs</a:t>
            </a:r>
          </a:p>
          <a:p>
            <a:pPr>
              <a:spcAft>
                <a:spcPts val="200"/>
              </a:spcAft>
              <a:defRPr sz="1100" b="1">
                <a:solidFill>
                  <a:srgbClr val="38BDF8"/>
                </a:solidFill>
                <a:latin typeface="Consolas"/>
              </a:defRPr>
            </a:pPr>
            <a:r>
              <a:t>$ docker run -d --name app-limitada \</a:t>
            </a:r>
          </a:p>
          <a:p>
            <a:pPr>
              <a:spcAft>
                <a:spcPts val="200"/>
              </a:spcAft>
              <a:defRPr sz="1100">
                <a:solidFill>
                  <a:srgbClr val="FFFFFF"/>
                </a:solidFill>
                <a:latin typeface="Consolas"/>
              </a:defRPr>
            </a:pPr>
            <a:r>
              <a:t>    --memory="512m" \</a:t>
            </a:r>
          </a:p>
          <a:p>
            <a:pPr>
              <a:spcAft>
                <a:spcPts val="200"/>
              </a:spcAft>
              <a:defRPr sz="1100">
                <a:solidFill>
                  <a:srgbClr val="FFFFFF"/>
                </a:solidFill>
                <a:latin typeface="Consolas"/>
              </a:defRPr>
            </a:pPr>
            <a:r>
              <a:t>    --cpus="1.5" \</a:t>
            </a:r>
          </a:p>
          <a:p>
            <a:pPr>
              <a:spcAft>
                <a:spcPts val="200"/>
              </a:spcAft>
              <a:defRPr sz="1100">
                <a:solidFill>
                  <a:srgbClr val="FFFFFF"/>
                </a:solidFill>
                <a:latin typeface="Consolas"/>
              </a:defRPr>
            </a:pPr>
            <a:r>
              <a:t>    --pids-limit=100 \</a:t>
            </a:r>
          </a:p>
          <a:p>
            <a:pPr>
              <a:spcAft>
                <a:spcPts val="200"/>
              </a:spcAft>
              <a:defRPr sz="1100">
                <a:solidFill>
                  <a:srgbClr val="FFFFFF"/>
                </a:solidFill>
                <a:latin typeface="Consolas"/>
              </a:defRPr>
            </a:pPr>
            <a:r>
              <a:t>    nginx</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Monitorizar métricas en tiempo real</a:t>
            </a:r>
          </a:p>
          <a:p>
            <a:pPr>
              <a:spcAft>
                <a:spcPts val="200"/>
              </a:spcAft>
              <a:defRPr sz="1100" b="1">
                <a:solidFill>
                  <a:srgbClr val="38BDF8"/>
                </a:solidFill>
                <a:latin typeface="Consolas"/>
              </a:defRPr>
            </a:pPr>
            <a:r>
              <a:t>$ docker stats app-limitada</a:t>
            </a:r>
          </a:p>
          <a:p>
            <a:pPr>
              <a:spcAft>
                <a:spcPts val="200"/>
              </a:spcAft>
              <a:defRPr sz="1100">
                <a:solidFill>
                  <a:srgbClr val="FFFFFF"/>
                </a:solidFill>
                <a:latin typeface="Consolas"/>
              </a:defRPr>
            </a:pPr>
            <a:r>
              <a:t>CONTAINER ID   NAME            CPU %   MEM USAGE / LIMIT</a:t>
            </a:r>
          </a:p>
          <a:p>
            <a:pPr>
              <a:spcAft>
                <a:spcPts val="200"/>
              </a:spcAft>
              <a:defRPr sz="1100">
                <a:solidFill>
                  <a:srgbClr val="FFFFFF"/>
                </a:solidFill>
                <a:latin typeface="Consolas"/>
              </a:defRPr>
            </a:pPr>
            <a:r>
              <a:t>8a1b2c3d4e     app-limitada    0.05%   4.2MiB / 512MiB</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Inspeccionar cgroups directamente en Linux</a:t>
            </a:r>
          </a:p>
          <a:p>
            <a:pPr>
              <a:spcAft>
                <a:spcPts val="200"/>
              </a:spcAft>
              <a:defRPr sz="1100" b="1">
                <a:solidFill>
                  <a:srgbClr val="38BDF8"/>
                </a:solidFill>
                <a:latin typeface="Consolas"/>
              </a:defRPr>
            </a:pPr>
            <a:r>
              <a:t>$ cat /sys/fs/cgroup/docker/&lt;ID&gt;/memory.max</a:t>
            </a:r>
          </a:p>
          <a:p>
            <a:pPr>
              <a:spcAft>
                <a:spcPts val="200"/>
              </a:spcAft>
              <a:defRPr sz="1100">
                <a:solidFill>
                  <a:srgbClr val="FFFFFF"/>
                </a:solidFill>
                <a:latin typeface="Consolas"/>
              </a:defRPr>
            </a:pPr>
            <a:r>
              <a:t>536870912</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9 / 81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1 • SEGURIDAD</a:t>
            </a:r>
          </a:p>
          <a:p>
            <a:pPr>
              <a:defRPr sz="2800" b="1">
                <a:solidFill>
                  <a:srgbClr val="1E293B"/>
                </a:solidFill>
                <a:latin typeface="Calibri"/>
              </a:defRPr>
            </a:pPr>
            <a:r>
              <a:t>Capabilities de Linux y Modo Rootless</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El Principio de Mínimo Privilegio</a:t>
            </a:r>
          </a:p>
          <a:p>
            <a:pPr>
              <a:spcAft>
                <a:spcPts val="800"/>
              </a:spcAft>
              <a:defRPr sz="1400">
                <a:latin typeface="Calibri"/>
              </a:defRPr>
            </a:pPr>
            <a:r>
              <a:rPr b="1">
                <a:solidFill>
                  <a:srgbClr val="1E293B"/>
                </a:solidFill>
              </a:rPr>
              <a:t>• Fraccionando el poder de Root: </a:t>
            </a:r>
            <a:r>
              <a:rPr b="0">
                <a:solidFill>
                  <a:srgbClr val="1E293B"/>
                </a:solidFill>
              </a:rPr>
              <a:t>Linux divide los privilegios de superusuario en ~40 'capabilities' independientes (ej. `CAP_NET_ADMIN`, `CAP_SYS_ADMIN`, `CAP_CHOWN`).</a:t>
            </a:r>
          </a:p>
          <a:p>
            <a:pPr>
              <a:spcAft>
                <a:spcPts val="800"/>
              </a:spcAft>
              <a:defRPr sz="1400">
                <a:latin typeface="Calibri"/>
              </a:defRPr>
            </a:pPr>
            <a:r>
              <a:rPr b="1">
                <a:solidFill>
                  <a:srgbClr val="1E293B"/>
                </a:solidFill>
              </a:rPr>
              <a:t>• Capabilities por Defecto en Docker: </a:t>
            </a:r>
            <a:r>
              <a:rPr b="0">
                <a:solidFill>
                  <a:srgbClr val="1E293B"/>
                </a:solidFill>
              </a:rPr>
              <a:t>Docker arranca contenedores eliminando capabilities peligrosas (`CAP_SYS_ADMIN`, `CAP_SYS_RAWIO`).</a:t>
            </a:r>
          </a:p>
          <a:p>
            <a:pPr>
              <a:spcAft>
                <a:spcPts val="800"/>
              </a:spcAft>
              <a:defRPr sz="1400">
                <a:latin typeface="Calibri"/>
              </a:defRPr>
            </a:pPr>
            <a:r>
              <a:rPr b="1">
                <a:solidFill>
                  <a:srgbClr val="1E293B"/>
                </a:solidFill>
              </a:rPr>
              <a:t>• Antipatrón `--privileged`: </a:t>
            </a:r>
            <a:r>
              <a:rPr b="0">
                <a:solidFill>
                  <a:srgbClr val="1E293B"/>
                </a:solidFill>
              </a:rPr>
              <a:t>Proporciona acceso ilimitado a todos los dispositivos del host. ¡Prohibido en producción!</a:t>
            </a:r>
          </a:p>
          <a:p>
            <a:pPr>
              <a:spcAft>
                <a:spcPts val="800"/>
              </a:spcAft>
              <a:defRPr sz="1400">
                <a:latin typeface="Calibri"/>
              </a:defRPr>
            </a:pPr>
            <a:r>
              <a:rPr b="1">
                <a:solidFill>
                  <a:srgbClr val="1E293B"/>
                </a:solidFill>
              </a:rPr>
              <a:t>• Rootless Docker: </a:t>
            </a:r>
            <a:r>
              <a:rPr b="0">
                <a:solidFill>
                  <a:srgbClr val="1E293B"/>
                </a:solidFill>
              </a:rPr>
              <a:t>Ejecución de dockerd y contenedores completamente bajo una cuenta de usuario sin privilegios en el host.</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Gestión de Capabilities</a:t>
            </a:r>
          </a:p>
          <a:p>
            <a:pPr>
              <a:spcAft>
                <a:spcPts val="200"/>
              </a:spcAft>
              <a:defRPr sz="1100">
                <a:solidFill>
                  <a:srgbClr val="94A3B8"/>
                </a:solidFill>
                <a:latin typeface="Consolas"/>
              </a:defRPr>
            </a:pPr>
            <a:r>
              <a:t># Buenas prácticas: Despojar todas las capabilities</a:t>
            </a:r>
          </a:p>
          <a:p>
            <a:pPr>
              <a:spcAft>
                <a:spcPts val="200"/>
              </a:spcAft>
              <a:defRPr sz="1100">
                <a:solidFill>
                  <a:srgbClr val="94A3B8"/>
                </a:solidFill>
                <a:latin typeface="Consolas"/>
              </a:defRPr>
            </a:pPr>
            <a:r>
              <a:t># y conceder únicamente las indispensables</a:t>
            </a:r>
          </a:p>
          <a:p>
            <a:pPr>
              <a:spcAft>
                <a:spcPts val="200"/>
              </a:spcAft>
              <a:defRPr sz="1100" b="1">
                <a:solidFill>
                  <a:srgbClr val="38BDF8"/>
                </a:solidFill>
                <a:latin typeface="Consolas"/>
              </a:defRPr>
            </a:pPr>
            <a:r>
              <a:t>$ docker run -d --name web-secure \</a:t>
            </a:r>
          </a:p>
          <a:p>
            <a:pPr>
              <a:spcAft>
                <a:spcPts val="200"/>
              </a:spcAft>
              <a:defRPr sz="1100">
                <a:solidFill>
                  <a:srgbClr val="FFFFFF"/>
                </a:solidFill>
                <a:latin typeface="Consolas"/>
              </a:defRPr>
            </a:pPr>
            <a:r>
              <a:t>    --cap-drop=ALL \</a:t>
            </a:r>
          </a:p>
          <a:p>
            <a:pPr>
              <a:spcAft>
                <a:spcPts val="200"/>
              </a:spcAft>
              <a:defRPr sz="1100">
                <a:solidFill>
                  <a:srgbClr val="FFFFFF"/>
                </a:solidFill>
                <a:latin typeface="Consolas"/>
              </a:defRPr>
            </a:pPr>
            <a:r>
              <a:t>    --cap-add=NET_BIND_SERVICE \</a:t>
            </a:r>
          </a:p>
          <a:p>
            <a:pPr>
              <a:spcAft>
                <a:spcPts val="200"/>
              </a:spcAft>
              <a:defRPr sz="1100">
                <a:solidFill>
                  <a:srgbClr val="FFFFFF"/>
                </a:solidFill>
                <a:latin typeface="Consolas"/>
              </a:defRPr>
            </a:pPr>
            <a:r>
              <a:t>    nginx</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Comprobar que no se pueden modificar interfaces</a:t>
            </a:r>
          </a:p>
          <a:p>
            <a:pPr>
              <a:spcAft>
                <a:spcPts val="200"/>
              </a:spcAft>
              <a:defRPr sz="1100" b="1">
                <a:solidFill>
                  <a:srgbClr val="38BDF8"/>
                </a:solidFill>
                <a:latin typeface="Consolas"/>
              </a:defRPr>
            </a:pPr>
            <a:r>
              <a:t>$ docker exec web-secure ip link add dummy0 type dummy</a:t>
            </a:r>
          </a:p>
          <a:p>
            <a:pPr>
              <a:spcAft>
                <a:spcPts val="200"/>
              </a:spcAft>
              <a:defRPr sz="1100">
                <a:solidFill>
                  <a:srgbClr val="FFFFFF"/>
                </a:solidFill>
                <a:latin typeface="Consolas"/>
              </a:defRPr>
            </a:pPr>
            <a:r>
              <a:t>RTNETLINK answers: Operation not permitted</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Peligro extremo (Antipatrón):</a:t>
            </a:r>
          </a:p>
          <a:p>
            <a:pPr>
              <a:spcAft>
                <a:spcPts val="200"/>
              </a:spcAft>
              <a:defRPr sz="1100" b="1">
                <a:solidFill>
                  <a:srgbClr val="38BDF8"/>
                </a:solidFill>
                <a:latin typeface="Consolas"/>
              </a:defRPr>
            </a:pPr>
            <a:r>
              <a:t>$ docker run --privileged ... # NUNCA EN PRODUCCIÓN</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10 / 81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1 • IMÁGENES</a:t>
            </a:r>
          </a:p>
          <a:p>
            <a:pPr>
              <a:defRPr sz="2800" b="1">
                <a:solidFill>
                  <a:srgbClr val="1E293B"/>
                </a:solidFill>
                <a:latin typeface="Calibri"/>
              </a:defRPr>
            </a:pPr>
            <a:r>
              <a:t>¿Qué es una Imagen en Docker? La Plantilla Inmutable</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Definición y Propiedades</a:t>
            </a:r>
          </a:p>
          <a:p>
            <a:pPr>
              <a:spcAft>
                <a:spcPts val="800"/>
              </a:spcAft>
              <a:defRPr sz="1400">
                <a:latin typeface="Calibri"/>
              </a:defRPr>
            </a:pPr>
            <a:r>
              <a:rPr b="1">
                <a:solidFill>
                  <a:srgbClr val="1E293B"/>
                </a:solidFill>
              </a:rPr>
              <a:t>• Plantilla de Solo Lectura: </a:t>
            </a:r>
            <a:r>
              <a:rPr b="0">
                <a:solidFill>
                  <a:srgbClr val="1E293B"/>
                </a:solidFill>
              </a:rPr>
              <a:t>Archivo binario empaquetado que contiene el código, runtime, librerías del sistema y variables de entorno necesarias para ejecutar una aplicación.</a:t>
            </a:r>
          </a:p>
          <a:p>
            <a:pPr>
              <a:spcAft>
                <a:spcPts val="800"/>
              </a:spcAft>
              <a:defRPr sz="1400">
                <a:latin typeface="Calibri"/>
              </a:defRPr>
            </a:pPr>
            <a:r>
              <a:rPr b="1">
                <a:solidFill>
                  <a:srgbClr val="1E293B"/>
                </a:solidFill>
              </a:rPr>
              <a:t>• Inmutabilidad Estricta: </a:t>
            </a:r>
            <a:r>
              <a:rPr b="0">
                <a:solidFill>
                  <a:srgbClr val="1E293B"/>
                </a:solidFill>
              </a:rPr>
              <a:t>Una vez creada, una imagen jamás se modifica; para hacer cambios se genera una nueva versión.</a:t>
            </a:r>
          </a:p>
          <a:p>
            <a:pPr>
              <a:spcAft>
                <a:spcPts val="800"/>
              </a:spcAft>
              <a:defRPr sz="1400">
                <a:latin typeface="Calibri"/>
              </a:defRPr>
            </a:pPr>
            <a:r>
              <a:rPr b="1">
                <a:solidFill>
                  <a:srgbClr val="1E293B"/>
                </a:solidFill>
              </a:rPr>
              <a:t>• Identificador Criptográfico (Digest): </a:t>
            </a:r>
            <a:r>
              <a:rPr b="0">
                <a:solidFill>
                  <a:srgbClr val="1E293B"/>
                </a:solidFill>
              </a:rPr>
              <a:t>Cada capa e imagen se identifica por su hash SHA-256 (`sha256:7b9a...`), garantizando integridad frente a manipulaciones.</a:t>
            </a:r>
          </a:p>
          <a:p>
            <a:pPr>
              <a:spcAft>
                <a:spcPts val="800"/>
              </a:spcAft>
              <a:defRPr sz="1400">
                <a:latin typeface="Calibri"/>
              </a:defRPr>
            </a:pPr>
            <a:r>
              <a:rPr b="1">
                <a:solidFill>
                  <a:srgbClr val="1E293B"/>
                </a:solidFill>
              </a:rPr>
              <a:t>• Especificación OCI Image Format: </a:t>
            </a:r>
            <a:r>
              <a:rPr b="0">
                <a:solidFill>
                  <a:srgbClr val="1E293B"/>
                </a:solidFill>
              </a:rPr>
              <a:t>Estándar abierto gobernado por la Linux Foundation, compatible con Podman, CRI-O, Containerd y Docker.</a:t>
            </a:r>
          </a:p>
        </p:txBody>
      </p:sp>
      <p:sp>
        <p:nvSpPr>
          <p:cNvPr id="5" name="Rounded Rectangle 4"/>
          <p:cNvSpPr/>
          <p:nvPr/>
        </p:nvSpPr>
        <p:spPr>
          <a:xfrm>
            <a:off x="6217920" y="1645920"/>
            <a:ext cx="52120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Anatomía de una Referencia de Imagen</a:t>
            </a:r>
          </a:p>
          <a:p>
            <a:pPr>
              <a:spcAft>
                <a:spcPts val="800"/>
              </a:spcAft>
              <a:defRPr sz="1400">
                <a:latin typeface="Calibri"/>
              </a:defRPr>
            </a:pPr>
            <a:r>
              <a:rPr b="1">
                <a:solidFill>
                  <a:srgbClr val="1E293B"/>
                </a:solidFill>
              </a:rPr>
              <a:t>• Estructura Estándar: </a:t>
            </a:r>
            <a:r>
              <a:rPr b="0">
                <a:solidFill>
                  <a:srgbClr val="1E293B"/>
                </a:solidFill>
              </a:rPr>
              <a:t>`[registry]/[namespace]/[repositorio]:[tag]`.</a:t>
            </a:r>
          </a:p>
          <a:p>
            <a:pPr>
              <a:spcAft>
                <a:spcPts val="800"/>
              </a:spcAft>
              <a:defRPr sz="1400">
                <a:latin typeface="Calibri"/>
              </a:defRPr>
            </a:pPr>
            <a:r>
              <a:rPr b="1">
                <a:solidFill>
                  <a:srgbClr val="1E293B"/>
                </a:solidFill>
              </a:rPr>
              <a:t>• Ejemplo Completo: </a:t>
            </a:r>
            <a:r>
              <a:rPr b="0">
                <a:solidFill>
                  <a:srgbClr val="1E293B"/>
                </a:solidFill>
              </a:rPr>
              <a:t>`docker.io/library/nginx:1.25-alpine`.</a:t>
            </a:r>
          </a:p>
          <a:p>
            <a:pPr>
              <a:spcAft>
                <a:spcPts val="800"/>
              </a:spcAft>
              <a:defRPr sz="1400">
                <a:latin typeface="Calibri"/>
              </a:defRPr>
            </a:pPr>
            <a:r>
              <a:rPr b="1">
                <a:solidFill>
                  <a:srgbClr val="1E293B"/>
                </a:solidFill>
              </a:rPr>
              <a:t>• Valores por Defecto: </a:t>
            </a:r>
            <a:r>
              <a:rPr b="0">
                <a:solidFill>
                  <a:srgbClr val="1E293B"/>
                </a:solidFill>
              </a:rPr>
              <a:t>Si no se indica registry, se asume `docker.io` (Docker Hub); si no se indica tag, se asume `:latest`.</a:t>
            </a:r>
          </a:p>
          <a:p>
            <a:pPr>
              <a:spcAft>
                <a:spcPts val="800"/>
              </a:spcAft>
              <a:defRPr sz="1400">
                <a:latin typeface="Calibri"/>
              </a:defRPr>
            </a:pPr>
            <a:r>
              <a:rPr b="1">
                <a:solidFill>
                  <a:srgbClr val="1E293B"/>
                </a:solidFill>
              </a:rPr>
              <a:t>• Peligro del tag `: </a:t>
            </a:r>
            <a:r>
              <a:rPr b="0">
                <a:solidFill>
                  <a:srgbClr val="1E293B"/>
                </a:solidFill>
              </a:rPr>
              <a:t>latest`: No significa necesariamente 'última versión estable', sino la etiqueta por defecto asignada al último build. En producción, fijar siempre versiones semánticas (ej. `:1.25.3-alpine`).</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11 / 81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1 • IMÁGENES</a:t>
            </a:r>
          </a:p>
          <a:p>
            <a:pPr>
              <a:defRPr sz="2800" b="1">
                <a:solidFill>
                  <a:srgbClr val="1E293B"/>
                </a:solidFill>
                <a:latin typeface="Calibri"/>
              </a:defRPr>
            </a:pPr>
            <a:r>
              <a:t>Características de una Imagen: Capas y Caché</a:t>
            </a:r>
          </a:p>
        </p:txBody>
      </p:sp>
      <p:sp>
        <p:nvSpPr>
          <p:cNvPr id="4" name="Rounded Rectangle 3"/>
          <p:cNvSpPr/>
          <p:nvPr/>
        </p:nvSpPr>
        <p:spPr>
          <a:xfrm>
            <a:off x="731520" y="1645920"/>
            <a:ext cx="10698480" cy="960120"/>
          </a:xfrm>
          <a:prstGeom prst="roundRect">
            <a:avLst/>
          </a:prstGeom>
          <a:solidFill>
            <a:srgbClr val="FEF2F2"/>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lIns="182880"/>
          <a:lstStyle/>
          <a:p>
            <a:pPr algn="ctr">
              <a:defRPr sz="1200" b="1">
                <a:solidFill>
                  <a:srgbClr val="991B1B"/>
                </a:solidFill>
                <a:latin typeface="Calibri"/>
              </a:defRPr>
            </a:pPr>
            <a:r>
              <a:t>Capa de Contenedor (Read/Write)</a:t>
            </a:r>
          </a:p>
          <a:p>
            <a:pPr>
              <a:defRPr sz="1000">
                <a:solidFill>
                  <a:srgbClr val="64748B"/>
                </a:solidFill>
                <a:latin typeface="Calibri"/>
              </a:defRPr>
            </a:pPr>
            <a:r>
              <a:t>Efímera. Copy-on-Write al modificar archivos.</a:t>
            </a:r>
          </a:p>
        </p:txBody>
      </p:sp>
      <p:sp>
        <p:nvSpPr>
          <p:cNvPr id="5" name="Rounded Rectangle 4"/>
          <p:cNvSpPr/>
          <p:nvPr/>
        </p:nvSpPr>
        <p:spPr>
          <a:xfrm>
            <a:off x="731520" y="2697480"/>
            <a:ext cx="10698480" cy="96012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0"/>
          <a:lstStyle/>
          <a:p>
            <a:pPr algn="ctr">
              <a:defRPr sz="1200" b="1">
                <a:solidFill>
                  <a:srgbClr val="1E293B"/>
                </a:solidFill>
                <a:latin typeface="Calibri"/>
              </a:defRPr>
            </a:pPr>
            <a:r>
              <a:t>Capa 3: CMD / Dependencias de App</a:t>
            </a:r>
          </a:p>
          <a:p>
            <a:pPr>
              <a:defRPr sz="1000">
                <a:solidFill>
                  <a:srgbClr val="64748B"/>
                </a:solidFill>
                <a:latin typeface="Calibri"/>
              </a:defRPr>
            </a:pPr>
            <a:r>
              <a:t>Solo Lectura (Hash SHA256 inmutable)</a:t>
            </a:r>
          </a:p>
        </p:txBody>
      </p:sp>
      <p:sp>
        <p:nvSpPr>
          <p:cNvPr id="6" name="Rounded Rectangle 5"/>
          <p:cNvSpPr/>
          <p:nvPr/>
        </p:nvSpPr>
        <p:spPr>
          <a:xfrm>
            <a:off x="731520" y="3749040"/>
            <a:ext cx="10698480" cy="96012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0"/>
          <a:lstStyle/>
          <a:p>
            <a:pPr algn="ctr">
              <a:defRPr sz="1200" b="1">
                <a:solidFill>
                  <a:srgbClr val="1E293B"/>
                </a:solidFill>
                <a:latin typeface="Calibri"/>
              </a:defRPr>
            </a:pPr>
            <a:r>
              <a:t>Capa 2: Runtime (ej. Node.js / Python)</a:t>
            </a:r>
          </a:p>
          <a:p>
            <a:pPr>
              <a:defRPr sz="1000">
                <a:solidFill>
                  <a:srgbClr val="64748B"/>
                </a:solidFill>
                <a:latin typeface="Calibri"/>
              </a:defRPr>
            </a:pPr>
            <a:r>
              <a:t>Solo Lectura (Compartida en caché)</a:t>
            </a:r>
          </a:p>
        </p:txBody>
      </p:sp>
      <p:sp>
        <p:nvSpPr>
          <p:cNvPr id="7" name="Rounded Rectangle 6"/>
          <p:cNvSpPr/>
          <p:nvPr/>
        </p:nvSpPr>
        <p:spPr>
          <a:xfrm>
            <a:off x="731520" y="4800600"/>
            <a:ext cx="10698480" cy="96012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0"/>
          <a:lstStyle/>
          <a:p>
            <a:pPr algn="ctr">
              <a:defRPr sz="1200" b="1">
                <a:solidFill>
                  <a:srgbClr val="64748B"/>
                </a:solidFill>
                <a:latin typeface="Calibri"/>
              </a:defRPr>
            </a:pPr>
            <a:r>
              <a:t>Capa 1: Imagen Base (ej. Ubuntu / Alpine)</a:t>
            </a:r>
          </a:p>
          <a:p>
            <a:pPr>
              <a:defRPr sz="1000">
                <a:solidFill>
                  <a:srgbClr val="64748B"/>
                </a:solidFill>
                <a:latin typeface="Calibri"/>
              </a:defRPr>
            </a:pPr>
            <a:r>
              <a:t>Solo Lectura (Kernel compartido)</a:t>
            </a:r>
          </a:p>
        </p:txBody>
      </p:sp>
      <p:sp>
        <p:nvSpPr>
          <p:cNvPr id="8" name="TextBox 7"/>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12 / 81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1 • CONTENEDORES</a:t>
            </a:r>
          </a:p>
          <a:p>
            <a:pPr>
              <a:defRPr sz="2800" b="1">
                <a:solidFill>
                  <a:srgbClr val="1E293B"/>
                </a:solidFill>
                <a:latin typeface="Calibri"/>
              </a:defRPr>
            </a:pPr>
            <a:r>
              <a:t>¿Qué es un Contenedor? La Instancia Viva</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La Relación Clase - Objeto</a:t>
            </a:r>
          </a:p>
          <a:p>
            <a:pPr>
              <a:spcAft>
                <a:spcPts val="800"/>
              </a:spcAft>
              <a:defRPr sz="1400">
                <a:latin typeface="Calibri"/>
              </a:defRPr>
            </a:pPr>
            <a:r>
              <a:rPr b="1">
                <a:solidFill>
                  <a:srgbClr val="1E293B"/>
                </a:solidFill>
              </a:rPr>
              <a:t>• Analogía de Programación: </a:t>
            </a:r>
            <a:r>
              <a:rPr b="0">
                <a:solidFill>
                  <a:srgbClr val="1E293B"/>
                </a:solidFill>
              </a:rPr>
              <a:t>La imagen es la **Clase** (definición inmutable); el contenedor es el **Objeto** (instancia viva en memoria).</a:t>
            </a:r>
          </a:p>
          <a:p>
            <a:pPr>
              <a:spcAft>
                <a:spcPts val="800"/>
              </a:spcAft>
              <a:defRPr sz="1400">
                <a:latin typeface="Calibri"/>
              </a:defRPr>
            </a:pPr>
            <a:r>
              <a:rPr b="1">
                <a:solidFill>
                  <a:srgbClr val="1E293B"/>
                </a:solidFill>
              </a:rPr>
              <a:t>• Añadido de Capa R/W: </a:t>
            </a:r>
            <a:r>
              <a:rPr b="0">
                <a:solidFill>
                  <a:srgbClr val="1E293B"/>
                </a:solidFill>
              </a:rPr>
              <a:t>Al instanciar un contenedor, Docker añade una capa de lectura/escritura muy fina en la parte superior.</a:t>
            </a:r>
          </a:p>
          <a:p>
            <a:pPr>
              <a:spcAft>
                <a:spcPts val="800"/>
              </a:spcAft>
              <a:defRPr sz="1400">
                <a:latin typeface="Calibri"/>
              </a:defRPr>
            </a:pPr>
            <a:r>
              <a:rPr b="1">
                <a:solidFill>
                  <a:srgbClr val="1E293B"/>
                </a:solidFill>
              </a:rPr>
              <a:t>• Mecanismo Copy-on-Write (CoW): </a:t>
            </a:r>
            <a:r>
              <a:rPr b="0">
                <a:solidFill>
                  <a:srgbClr val="1E293B"/>
                </a:solidFill>
              </a:rPr>
              <a:t>Si el contenedor modifica un archivo de la imagen, el driver copia el archivo a la capa superior antes de modificarlo.</a:t>
            </a:r>
          </a:p>
          <a:p>
            <a:pPr>
              <a:spcAft>
                <a:spcPts val="800"/>
              </a:spcAft>
              <a:defRPr sz="1400">
                <a:latin typeface="Calibri"/>
              </a:defRPr>
            </a:pPr>
            <a:r>
              <a:rPr b="1">
                <a:solidFill>
                  <a:srgbClr val="1E293B"/>
                </a:solidFill>
              </a:rPr>
              <a:t>• Naturaleza Efímera: </a:t>
            </a:r>
            <a:r>
              <a:rPr b="0">
                <a:solidFill>
                  <a:srgbClr val="1E293B"/>
                </a:solidFill>
              </a:rPr>
              <a:t>Al eliminar el contenedor (`docker rm`), su capa R/W se destruye por completo; la imagen original permanece intacta.</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Demostración de Copy-on-Write</a:t>
            </a:r>
          </a:p>
          <a:p>
            <a:pPr>
              <a:spcAft>
                <a:spcPts val="200"/>
              </a:spcAft>
              <a:defRPr sz="1100">
                <a:solidFill>
                  <a:srgbClr val="94A3B8"/>
                </a:solidFill>
                <a:latin typeface="Consolas"/>
              </a:defRPr>
            </a:pPr>
            <a:r>
              <a:t># 1. Instanciar un contenedor a partir de Ubuntu</a:t>
            </a:r>
          </a:p>
          <a:p>
            <a:pPr>
              <a:spcAft>
                <a:spcPts val="200"/>
              </a:spcAft>
              <a:defRPr sz="1100" b="1">
                <a:solidFill>
                  <a:srgbClr val="38BDF8"/>
                </a:solidFill>
                <a:latin typeface="Consolas"/>
              </a:defRPr>
            </a:pPr>
            <a:r>
              <a:t>$ docker run -it --name prueba-cow ubuntu bash</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2. Modificar un archivo del sistema</a:t>
            </a:r>
          </a:p>
          <a:p>
            <a:pPr>
              <a:spcAft>
                <a:spcPts val="200"/>
              </a:spcAft>
              <a:defRPr sz="1100">
                <a:solidFill>
                  <a:srgbClr val="FFFFFF"/>
                </a:solidFill>
                <a:latin typeface="Consolas"/>
              </a:defRPr>
            </a:pPr>
            <a:r>
              <a:t>root@abc123:/# echo "modificado" &gt;&gt; /etc/issue</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3. Salir y ver los cambios en la capa R/W</a:t>
            </a:r>
          </a:p>
          <a:p>
            <a:pPr>
              <a:spcAft>
                <a:spcPts val="200"/>
              </a:spcAft>
              <a:defRPr sz="1100" b="1">
                <a:solidFill>
                  <a:srgbClr val="38BDF8"/>
                </a:solidFill>
                <a:latin typeface="Consolas"/>
              </a:defRPr>
            </a:pPr>
            <a:r>
              <a:t>$ docker diff prueba-cow</a:t>
            </a:r>
          </a:p>
          <a:p>
            <a:pPr>
              <a:spcAft>
                <a:spcPts val="200"/>
              </a:spcAft>
              <a:defRPr sz="1100">
                <a:solidFill>
                  <a:srgbClr val="FFFFFF"/>
                </a:solidFill>
                <a:latin typeface="Consolas"/>
              </a:defRPr>
            </a:pPr>
            <a:r>
              <a:t>C /etc</a:t>
            </a:r>
          </a:p>
          <a:p>
            <a:pPr>
              <a:spcAft>
                <a:spcPts val="200"/>
              </a:spcAft>
              <a:defRPr sz="1100">
                <a:solidFill>
                  <a:srgbClr val="FFFFFF"/>
                </a:solidFill>
                <a:latin typeface="Consolas"/>
              </a:defRPr>
            </a:pPr>
            <a:r>
              <a:t>C /etc/issue    # C = Changed (Copiado a R/W)</a:t>
            </a:r>
          </a:p>
          <a:p>
            <a:pPr>
              <a:spcAft>
                <a:spcPts val="200"/>
              </a:spcAft>
              <a:defRPr sz="1100">
                <a:solidFill>
                  <a:srgbClr val="FFFFFF"/>
                </a:solidFill>
                <a:latin typeface="Consolas"/>
              </a:defRPr>
            </a:pPr>
            <a:r>
              <a:t>A /root/.bash_history  # A = Added</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4. La imagen base jamás se altera</a:t>
            </a:r>
          </a:p>
          <a:p>
            <a:pPr>
              <a:spcAft>
                <a:spcPts val="200"/>
              </a:spcAft>
              <a:defRPr sz="1100" b="1">
                <a:solidFill>
                  <a:srgbClr val="38BDF8"/>
                </a:solidFill>
                <a:latin typeface="Consolas"/>
              </a:defRPr>
            </a:pPr>
            <a:r>
              <a:t>$ docker run --rm ubuntu cat /etc/issue</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13 / 81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1 • CONTENEDORES</a:t>
            </a:r>
          </a:p>
          <a:p>
            <a:pPr>
              <a:defRPr sz="2800" b="1">
                <a:solidFill>
                  <a:srgbClr val="1E293B"/>
                </a:solidFill>
                <a:latin typeface="Calibri"/>
              </a:defRPr>
            </a:pPr>
            <a:r>
              <a:t>Ciclo de Vida y Máquina de Estados del Contenedor</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Estados Principales</a:t>
            </a:r>
          </a:p>
          <a:p>
            <a:pPr>
              <a:spcAft>
                <a:spcPts val="800"/>
              </a:spcAft>
              <a:defRPr sz="1400">
                <a:latin typeface="Calibri"/>
              </a:defRPr>
            </a:pPr>
            <a:r>
              <a:rPr b="1">
                <a:solidFill>
                  <a:srgbClr val="1E293B"/>
                </a:solidFill>
              </a:rPr>
              <a:t>• Created (`docker create`): </a:t>
            </a:r>
            <a:r>
              <a:rPr b="0">
                <a:solidFill>
                  <a:srgbClr val="1E293B"/>
                </a:solidFill>
              </a:rPr>
              <a:t>Se prepara el sistema de archivos y configuración, pero el proceso aún no arranca.</a:t>
            </a:r>
          </a:p>
          <a:p>
            <a:pPr>
              <a:spcAft>
                <a:spcPts val="800"/>
              </a:spcAft>
              <a:defRPr sz="1400">
                <a:latin typeface="Calibri"/>
              </a:defRPr>
            </a:pPr>
            <a:r>
              <a:rPr b="1">
                <a:solidFill>
                  <a:srgbClr val="1E293B"/>
                </a:solidFill>
              </a:rPr>
              <a:t>• Running (`docker run / start`): </a:t>
            </a:r>
            <a:r>
              <a:rPr b="0">
                <a:solidFill>
                  <a:srgbClr val="1E293B"/>
                </a:solidFill>
              </a:rPr>
              <a:t>El proceso principal (PID 1) está activo en el kernel consumiendo CPU y memoria.</a:t>
            </a:r>
          </a:p>
          <a:p>
            <a:pPr>
              <a:spcAft>
                <a:spcPts val="800"/>
              </a:spcAft>
              <a:defRPr sz="1400">
                <a:latin typeface="Calibri"/>
              </a:defRPr>
            </a:pPr>
            <a:r>
              <a:rPr b="1">
                <a:solidFill>
                  <a:srgbClr val="1E293B"/>
                </a:solidFill>
              </a:rPr>
              <a:t>• Paused (`docker pause`): </a:t>
            </a:r>
            <a:r>
              <a:rPr b="0">
                <a:solidFill>
                  <a:srgbClr val="1E293B"/>
                </a:solidFill>
              </a:rPr>
              <a:t>Se congelan los procesos usando el cgroup freezer sin liberar memoria RAM.</a:t>
            </a:r>
          </a:p>
          <a:p>
            <a:pPr>
              <a:spcAft>
                <a:spcPts val="800"/>
              </a:spcAft>
              <a:defRPr sz="1400">
                <a:latin typeface="Calibri"/>
              </a:defRPr>
            </a:pPr>
            <a:r>
              <a:rPr b="1">
                <a:solidFill>
                  <a:srgbClr val="1E293B"/>
                </a:solidFill>
              </a:rPr>
              <a:t>• Exited / Stopped (`docker stop`): </a:t>
            </a:r>
            <a:r>
              <a:rPr b="0">
                <a:solidFill>
                  <a:srgbClr val="1E293B"/>
                </a:solidFill>
              </a:rPr>
              <a:t>Se envía señal SIGTERM (10s de gracia) y luego SIGKILL. El proceso finaliza.</a:t>
            </a:r>
          </a:p>
          <a:p>
            <a:pPr>
              <a:spcAft>
                <a:spcPts val="800"/>
              </a:spcAft>
              <a:defRPr sz="1400">
                <a:latin typeface="Calibri"/>
              </a:defRPr>
            </a:pPr>
            <a:r>
              <a:rPr b="1">
                <a:solidFill>
                  <a:srgbClr val="1E293B"/>
                </a:solidFill>
              </a:rPr>
              <a:t>• Dead: </a:t>
            </a:r>
            <a:r>
              <a:rPr b="0">
                <a:solidFill>
                  <a:srgbClr val="1E293B"/>
                </a:solidFill>
              </a:rPr>
              <a:t>Estado de error irrecuperable por bloqueo de kernel o fallo en desmontaje de volúmenes.</a:t>
            </a:r>
          </a:p>
        </p:txBody>
      </p:sp>
      <p:sp>
        <p:nvSpPr>
          <p:cNvPr id="5" name="Rounded Rectangle 4"/>
          <p:cNvSpPr/>
          <p:nvPr/>
        </p:nvSpPr>
        <p:spPr>
          <a:xfrm>
            <a:off x="6217920" y="1645920"/>
            <a:ext cx="52120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Gestión de Señales UNIX en PID 1</a:t>
            </a:r>
          </a:p>
          <a:p>
            <a:pPr>
              <a:spcAft>
                <a:spcPts val="800"/>
              </a:spcAft>
              <a:defRPr sz="1400">
                <a:latin typeface="Calibri"/>
              </a:defRPr>
            </a:pPr>
            <a:r>
              <a:rPr b="1">
                <a:solidFill>
                  <a:srgbClr val="1E293B"/>
                </a:solidFill>
              </a:rPr>
              <a:t>• Parada Limpia (`SIGTERM` - señal 15): </a:t>
            </a:r>
            <a:r>
              <a:rPr b="0">
                <a:solidFill>
                  <a:srgbClr val="1E293B"/>
                </a:solidFill>
              </a:rPr>
              <a:t>Docker notifica al contenedor que debe cerrar conexiones, guardar estado y terminar.</a:t>
            </a:r>
          </a:p>
          <a:p>
            <a:pPr>
              <a:spcAft>
                <a:spcPts val="800"/>
              </a:spcAft>
              <a:defRPr sz="1400">
                <a:latin typeface="Calibri"/>
              </a:defRPr>
            </a:pPr>
            <a:r>
              <a:rPr b="1">
                <a:solidFill>
                  <a:srgbClr val="1E293B"/>
                </a:solidFill>
              </a:rPr>
              <a:t>• Parada Forzosa (`SIGKILL` - señal 9): </a:t>
            </a:r>
            <a:r>
              <a:rPr b="0">
                <a:solidFill>
                  <a:srgbClr val="1E293B"/>
                </a:solidFill>
              </a:rPr>
              <a:t>Si no finaliza en el periodo de gracia (por defecto 10s), el kernel mata el proceso.</a:t>
            </a:r>
          </a:p>
          <a:p>
            <a:pPr>
              <a:spcAft>
                <a:spcPts val="800"/>
              </a:spcAft>
              <a:defRPr sz="1400">
                <a:latin typeface="Calibri"/>
              </a:defRPr>
            </a:pPr>
            <a:r>
              <a:rPr b="1">
                <a:solidFill>
                  <a:srgbClr val="1E293B"/>
                </a:solidFill>
              </a:rPr>
              <a:t>• El Problema del Manejador en PID 1: </a:t>
            </a:r>
            <a:r>
              <a:rPr b="0">
                <a:solidFill>
                  <a:srgbClr val="1E293B"/>
                </a:solidFill>
              </a:rPr>
              <a:t>En Linux, el PID 1 ignora por defecto señales si la aplicación no registra un handler explícito.</a:t>
            </a:r>
          </a:p>
          <a:p>
            <a:pPr>
              <a:spcAft>
                <a:spcPts val="800"/>
              </a:spcAft>
              <a:defRPr sz="1400">
                <a:latin typeface="Calibri"/>
              </a:defRPr>
            </a:pPr>
            <a:r>
              <a:rPr b="1">
                <a:solidFill>
                  <a:srgbClr val="1E293B"/>
                </a:solidFill>
              </a:rPr>
              <a:t>• Herramienta `--init`: </a:t>
            </a:r>
            <a:r>
              <a:rPr b="0">
                <a:solidFill>
                  <a:srgbClr val="1E293B"/>
                </a:solidFill>
              </a:rPr>
              <a:t>Inyecta un gestor init ultraligero (`tini`) para reenviar señales y recolectar procesos zombies.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14 / 81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1 • OPERACIÓN CLI</a:t>
            </a:r>
          </a:p>
          <a:p>
            <a:pPr>
              <a:defRPr sz="2800" b="1">
                <a:solidFill>
                  <a:srgbClr val="1E293B"/>
                </a:solidFill>
                <a:latin typeface="Calibri"/>
              </a:defRPr>
            </a:pPr>
            <a:r>
              <a:t>Comandos Esenciales de Operación en el Aula</a:t>
            </a:r>
          </a:p>
        </p:txBody>
      </p:sp>
      <p:sp>
        <p:nvSpPr>
          <p:cNvPr id="4" name="Rounded Rectangle 3"/>
          <p:cNvSpPr/>
          <p:nvPr/>
        </p:nvSpPr>
        <p:spPr>
          <a:xfrm>
            <a:off x="731520" y="1645920"/>
            <a:ext cx="512064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Comandos de Contenedor</a:t>
            </a:r>
          </a:p>
          <a:p>
            <a:pPr>
              <a:spcAft>
                <a:spcPts val="200"/>
              </a:spcAft>
              <a:defRPr sz="1100">
                <a:solidFill>
                  <a:srgbClr val="94A3B8"/>
                </a:solidFill>
                <a:latin typeface="Consolas"/>
              </a:defRPr>
            </a:pPr>
            <a:r>
              <a:t># Ejecutar en segundo plano con puerto y nombre</a:t>
            </a:r>
          </a:p>
          <a:p>
            <a:pPr>
              <a:spcAft>
                <a:spcPts val="200"/>
              </a:spcAft>
              <a:defRPr sz="1100" b="1">
                <a:solidFill>
                  <a:srgbClr val="38BDF8"/>
                </a:solidFill>
                <a:latin typeface="Consolas"/>
              </a:defRPr>
            </a:pPr>
            <a:r>
              <a:t>$ docker run -d --name mi-nginx -p 8080:80 nginx</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Listar contenedores activos y todos (incluidos parados)</a:t>
            </a:r>
          </a:p>
          <a:p>
            <a:pPr>
              <a:spcAft>
                <a:spcPts val="200"/>
              </a:spcAft>
              <a:defRPr sz="1100" b="1">
                <a:solidFill>
                  <a:srgbClr val="38BDF8"/>
                </a:solidFill>
                <a:latin typeface="Consolas"/>
              </a:defRPr>
            </a:pPr>
            <a:r>
              <a:t>$ docker ps</a:t>
            </a:r>
          </a:p>
          <a:p>
            <a:pPr>
              <a:spcAft>
                <a:spcPts val="200"/>
              </a:spcAft>
              <a:defRPr sz="1100" b="1">
                <a:solidFill>
                  <a:srgbClr val="38BDF8"/>
                </a:solidFill>
                <a:latin typeface="Consolas"/>
              </a:defRPr>
            </a:pPr>
            <a:r>
              <a:t>$ docker ps -a</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Ver logs en tiempo real (seguimiento continuo)</a:t>
            </a:r>
          </a:p>
          <a:p>
            <a:pPr>
              <a:spcAft>
                <a:spcPts val="200"/>
              </a:spcAft>
              <a:defRPr sz="1100" b="1">
                <a:solidFill>
                  <a:srgbClr val="38BDF8"/>
                </a:solidFill>
                <a:latin typeface="Consolas"/>
              </a:defRPr>
            </a:pPr>
            <a:r>
              <a:t>$ docker logs -f --tail 50 mi-nginx</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Ejecutar un comando interactivo dentro del contenedor</a:t>
            </a:r>
          </a:p>
          <a:p>
            <a:pPr>
              <a:spcAft>
                <a:spcPts val="200"/>
              </a:spcAft>
              <a:defRPr sz="1100" b="1">
                <a:solidFill>
                  <a:srgbClr val="38BDF8"/>
                </a:solidFill>
                <a:latin typeface="Consolas"/>
              </a:defRPr>
            </a:pPr>
            <a:r>
              <a:t>$ docker exec -it mi-nginx bash</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Inspeccionar configuración completa en JSON</a:t>
            </a:r>
          </a:p>
          <a:p>
            <a:pPr>
              <a:spcAft>
                <a:spcPts val="200"/>
              </a:spcAft>
              <a:defRPr sz="1100" b="1">
                <a:solidFill>
                  <a:srgbClr val="38BDF8"/>
                </a:solidFill>
                <a:latin typeface="Consolas"/>
              </a:defRPr>
            </a:pPr>
            <a:r>
              <a:t>$ docker inspect mi-nginx | grep -i IPAddress</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Gestión de Imágenes y Limpieza</a:t>
            </a:r>
          </a:p>
          <a:p>
            <a:pPr>
              <a:spcAft>
                <a:spcPts val="200"/>
              </a:spcAft>
              <a:defRPr sz="1100">
                <a:solidFill>
                  <a:srgbClr val="94A3B8"/>
                </a:solidFill>
                <a:latin typeface="Consolas"/>
              </a:defRPr>
            </a:pPr>
            <a:r>
              <a:t># Descargar una imagen desde Docker Hub</a:t>
            </a:r>
          </a:p>
          <a:p>
            <a:pPr>
              <a:spcAft>
                <a:spcPts val="200"/>
              </a:spcAft>
              <a:defRPr sz="1100" b="1">
                <a:solidFill>
                  <a:srgbClr val="38BDF8"/>
                </a:solidFill>
                <a:latin typeface="Consolas"/>
              </a:defRPr>
            </a:pPr>
            <a:r>
              <a:t>$ docker pull redis:7-alpine</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Listar imágenes locales y su tamaño</a:t>
            </a:r>
          </a:p>
          <a:p>
            <a:pPr>
              <a:spcAft>
                <a:spcPts val="200"/>
              </a:spcAft>
              <a:defRPr sz="1100" b="1">
                <a:solidFill>
                  <a:srgbClr val="38BDF8"/>
                </a:solidFill>
                <a:latin typeface="Consolas"/>
              </a:defRPr>
            </a:pPr>
            <a:r>
              <a:t>$ docker images</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Detener y eliminar un contenedor</a:t>
            </a:r>
          </a:p>
          <a:p>
            <a:pPr>
              <a:spcAft>
                <a:spcPts val="200"/>
              </a:spcAft>
              <a:defRPr sz="1100" b="1">
                <a:solidFill>
                  <a:srgbClr val="38BDF8"/>
                </a:solidFill>
                <a:latin typeface="Consolas"/>
              </a:defRPr>
            </a:pPr>
            <a:r>
              <a:t>$ docker stop mi-nginx</a:t>
            </a:r>
          </a:p>
          <a:p>
            <a:pPr>
              <a:spcAft>
                <a:spcPts val="200"/>
              </a:spcAft>
              <a:defRPr sz="1100" b="1">
                <a:solidFill>
                  <a:srgbClr val="38BDF8"/>
                </a:solidFill>
                <a:latin typeface="Consolas"/>
              </a:defRPr>
            </a:pPr>
            <a:r>
              <a:t>$ docker rm mi-nginx</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Limpieza global del sistema (espacio en disco)</a:t>
            </a:r>
          </a:p>
          <a:p>
            <a:pPr>
              <a:spcAft>
                <a:spcPts val="200"/>
              </a:spcAft>
              <a:defRPr sz="1100" b="1">
                <a:solidFill>
                  <a:srgbClr val="38BDF8"/>
                </a:solidFill>
                <a:latin typeface="Consolas"/>
              </a:defRPr>
            </a:pPr>
            <a:r>
              <a:t>$ docker system df</a:t>
            </a:r>
          </a:p>
          <a:p>
            <a:pPr>
              <a:spcAft>
                <a:spcPts val="200"/>
              </a:spcAft>
              <a:defRPr sz="1100" b="1">
                <a:solidFill>
                  <a:srgbClr val="38BDF8"/>
                </a:solidFill>
                <a:latin typeface="Consolas"/>
              </a:defRPr>
            </a:pPr>
            <a:r>
              <a:t>$ docker system prune -af --volumes</a:t>
            </a:r>
          </a:p>
          <a:p>
            <a:pPr>
              <a:spcAft>
                <a:spcPts val="200"/>
              </a:spcAft>
              <a:defRPr sz="1100">
                <a:solidFill>
                  <a:srgbClr val="94A3B8"/>
                </a:solidFill>
                <a:latin typeface="Consolas"/>
              </a:defRPr>
            </a:pPr>
            <a:r>
              <a:t># Elimina contenedores parados, redes y capas huérfanas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15 / 81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1 • DOCKERFILE</a:t>
            </a:r>
          </a:p>
          <a:p>
            <a:pPr>
              <a:defRPr sz="2800" b="1">
                <a:solidFill>
                  <a:srgbClr val="1E293B"/>
                </a:solidFill>
                <a:latin typeface="Calibri"/>
              </a:defRPr>
            </a:pPr>
            <a:r>
              <a:t>Automatizando la Creación: El Dockerfile</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Infraestructura como Código (IaC)</a:t>
            </a:r>
          </a:p>
          <a:p>
            <a:pPr>
              <a:spcAft>
                <a:spcPts val="800"/>
              </a:spcAft>
              <a:defRPr sz="1400">
                <a:latin typeface="Calibri"/>
              </a:defRPr>
            </a:pPr>
            <a:r>
              <a:rPr b="1">
                <a:solidFill>
                  <a:srgbClr val="1E293B"/>
                </a:solidFill>
              </a:rPr>
              <a:t>• Fichero Declarativo: </a:t>
            </a:r>
            <a:r>
              <a:rPr b="0">
                <a:solidFill>
                  <a:srgbClr val="1E293B"/>
                </a:solidFill>
              </a:rPr>
              <a:t>Archivo de texto plano con instrucciones secuenciales que definen paso a paso cómo construir una imagen.</a:t>
            </a:r>
          </a:p>
          <a:p>
            <a:pPr>
              <a:spcAft>
                <a:spcPts val="800"/>
              </a:spcAft>
              <a:defRPr sz="1400">
                <a:latin typeface="Calibri"/>
              </a:defRPr>
            </a:pPr>
            <a:r>
              <a:rPr b="1">
                <a:solidFill>
                  <a:srgbClr val="1E293B"/>
                </a:solidFill>
              </a:rPr>
              <a:t>• Reproducibilidad Total: </a:t>
            </a:r>
            <a:r>
              <a:rPr b="0">
                <a:solidFill>
                  <a:srgbClr val="1E293B"/>
                </a:solidFill>
              </a:rPr>
              <a:t>El Dockerfile se almacena en Git junto al código fuente de la aplicación, permitiendo auditoría y control de versiones.</a:t>
            </a:r>
          </a:p>
          <a:p>
            <a:pPr>
              <a:spcAft>
                <a:spcPts val="800"/>
              </a:spcAft>
              <a:defRPr sz="1400">
                <a:latin typeface="Calibri"/>
              </a:defRPr>
            </a:pPr>
            <a:r>
              <a:rPr b="1">
                <a:solidFill>
                  <a:srgbClr val="1E293B"/>
                </a:solidFill>
              </a:rPr>
              <a:t>• Construcción Paso a Paso: </a:t>
            </a:r>
            <a:r>
              <a:rPr b="0">
                <a:solidFill>
                  <a:srgbClr val="1E293B"/>
                </a:solidFill>
              </a:rPr>
              <a:t>Cada instrucción (`RUN`, `COPY`, `ADD`) genera una nueva capa intermedia en el sistema de almacenamiento.</a:t>
            </a:r>
          </a:p>
          <a:p>
            <a:pPr>
              <a:spcAft>
                <a:spcPts val="800"/>
              </a:spcAft>
              <a:defRPr sz="1400">
                <a:latin typeface="Calibri"/>
              </a:defRPr>
            </a:pPr>
            <a:r>
              <a:rPr b="1">
                <a:solidFill>
                  <a:srgbClr val="1E293B"/>
                </a:solidFill>
              </a:rPr>
              <a:t>• Motor BuildKit: </a:t>
            </a:r>
            <a:r>
              <a:rPr b="0">
                <a:solidFill>
                  <a:srgbClr val="1E293B"/>
                </a:solidFill>
              </a:rPr>
              <a:t>El compilador moderno de Docker que ejecuta análisis de dependencias y paraleliza capas independientes.</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Estructura de un Dockerfile</a:t>
            </a:r>
          </a:p>
          <a:p>
            <a:pPr>
              <a:spcAft>
                <a:spcPts val="200"/>
              </a:spcAft>
              <a:defRPr sz="1100">
                <a:solidFill>
                  <a:srgbClr val="94A3B8"/>
                </a:solidFill>
                <a:latin typeface="Consolas"/>
              </a:defRPr>
            </a:pPr>
            <a:r>
              <a:t># Dockerfile de ejemplo para aplicación Node.js</a:t>
            </a:r>
          </a:p>
          <a:p>
            <a:pPr>
              <a:spcAft>
                <a:spcPts val="200"/>
              </a:spcAft>
              <a:defRPr sz="1100">
                <a:solidFill>
                  <a:srgbClr val="FFFFFF"/>
                </a:solidFill>
                <a:latin typeface="Consolas"/>
              </a:defRPr>
            </a:pPr>
            <a:r>
              <a:t>FROM node:20-alpine</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Definir directorio de trabajo en el contenedor</a:t>
            </a:r>
          </a:p>
          <a:p>
            <a:pPr>
              <a:spcAft>
                <a:spcPts val="200"/>
              </a:spcAft>
              <a:defRPr sz="1100">
                <a:solidFill>
                  <a:srgbClr val="FFFFFF"/>
                </a:solidFill>
                <a:latin typeface="Consolas"/>
              </a:defRPr>
            </a:pPr>
            <a:r>
              <a:t>WORKDIR /usr/src/app</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Copiar dependencias y compilar</a:t>
            </a:r>
          </a:p>
          <a:p>
            <a:pPr>
              <a:spcAft>
                <a:spcPts val="200"/>
              </a:spcAft>
              <a:defRPr sz="1100">
                <a:solidFill>
                  <a:srgbClr val="FFFFFF"/>
                </a:solidFill>
                <a:latin typeface="Consolas"/>
              </a:defRPr>
            </a:pPr>
            <a:r>
              <a:t>COPY package*.json ./</a:t>
            </a:r>
          </a:p>
          <a:p>
            <a:pPr>
              <a:spcAft>
                <a:spcPts val="200"/>
              </a:spcAft>
              <a:defRPr sz="1100">
                <a:solidFill>
                  <a:srgbClr val="FFFFFF"/>
                </a:solidFill>
                <a:latin typeface="Consolas"/>
              </a:defRPr>
            </a:pPr>
            <a:r>
              <a:t>RUN npm ci --only=production</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Copiar código fuente</a:t>
            </a:r>
          </a:p>
          <a:p>
            <a:pPr>
              <a:spcAft>
                <a:spcPts val="200"/>
              </a:spcAft>
              <a:defRPr sz="1100">
                <a:solidFill>
                  <a:srgbClr val="FFFFFF"/>
                </a:solidFill>
                <a:latin typeface="Consolas"/>
              </a:defRPr>
            </a:pPr>
            <a:r>
              <a:t>COPY . .</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Exponer puerto y usuario sin privilegios</a:t>
            </a:r>
          </a:p>
          <a:p>
            <a:pPr>
              <a:spcAft>
                <a:spcPts val="200"/>
              </a:spcAft>
              <a:defRPr sz="1100">
                <a:solidFill>
                  <a:srgbClr val="FFFFFF"/>
                </a:solidFill>
                <a:latin typeface="Consolas"/>
              </a:defRPr>
            </a:pPr>
            <a:r>
              <a:t>USER node</a:t>
            </a:r>
          </a:p>
          <a:p>
            <a:pPr>
              <a:spcAft>
                <a:spcPts val="200"/>
              </a:spcAft>
              <a:defRPr sz="1100">
                <a:solidFill>
                  <a:srgbClr val="FFFFFF"/>
                </a:solidFill>
                <a:latin typeface="Consolas"/>
              </a:defRPr>
            </a:pPr>
            <a:r>
              <a:t>EXPOSE 3000</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Comando de arranque</a:t>
            </a:r>
          </a:p>
          <a:p>
            <a:pPr>
              <a:spcAft>
                <a:spcPts val="200"/>
              </a:spcAft>
              <a:defRPr sz="1100">
                <a:solidFill>
                  <a:srgbClr val="FFFFFF"/>
                </a:solidFill>
                <a:latin typeface="Consolas"/>
              </a:defRPr>
            </a:pPr>
            <a:r>
              <a:t>CMD ["node", "server.js"]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16 / 81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1 • DOCKERFILE</a:t>
            </a:r>
          </a:p>
          <a:p>
            <a:pPr>
              <a:defRPr sz="2800" b="1">
                <a:solidFill>
                  <a:srgbClr val="1E293B"/>
                </a:solidFill>
                <a:latin typeface="Calibri"/>
              </a:defRPr>
            </a:pPr>
            <a:r>
              <a:t>Directivas Fundamentales de Dockerfile</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Directivas de Entorno y Sistema</a:t>
            </a:r>
          </a:p>
          <a:p>
            <a:pPr>
              <a:spcAft>
                <a:spcPts val="800"/>
              </a:spcAft>
              <a:defRPr sz="1400">
                <a:latin typeface="Calibri"/>
              </a:defRPr>
            </a:pPr>
            <a:r>
              <a:rPr b="1">
                <a:solidFill>
                  <a:srgbClr val="1E293B"/>
                </a:solidFill>
              </a:rPr>
              <a:t>• `FROM &lt;imagen&gt;: </a:t>
            </a:r>
            <a:r>
              <a:rPr b="0">
                <a:solidFill>
                  <a:srgbClr val="1E293B"/>
                </a:solidFill>
              </a:rPr>
              <a:t>&lt;tag&gt;`: Establece la imagen base. Debe ser la primera instrucción obligatoria.</a:t>
            </a:r>
          </a:p>
          <a:p>
            <a:pPr>
              <a:spcAft>
                <a:spcPts val="800"/>
              </a:spcAft>
              <a:defRPr sz="1400">
                <a:latin typeface="Calibri"/>
              </a:defRPr>
            </a:pPr>
            <a:r>
              <a:rPr b="1">
                <a:solidFill>
                  <a:srgbClr val="1E293B"/>
                </a:solidFill>
              </a:rPr>
              <a:t>• `WORKDIR /ruta`: </a:t>
            </a:r>
            <a:r>
              <a:rPr b="0">
                <a:solidFill>
                  <a:srgbClr val="1E293B"/>
                </a:solidFill>
              </a:rPr>
              <a:t>Establece el directorio de trabajo para todas las instrucciones siguientes (evita usar múltiples `cd`).</a:t>
            </a:r>
          </a:p>
          <a:p>
            <a:pPr>
              <a:spcAft>
                <a:spcPts val="800"/>
              </a:spcAft>
              <a:defRPr sz="1400">
                <a:latin typeface="Calibri"/>
              </a:defRPr>
            </a:pPr>
            <a:r>
              <a:rPr b="1">
                <a:solidFill>
                  <a:srgbClr val="1E293B"/>
                </a:solidFill>
              </a:rPr>
              <a:t>• `COPY &lt;origen&gt; &lt;destino&gt;`: </a:t>
            </a:r>
            <a:r>
              <a:rPr b="0">
                <a:solidFill>
                  <a:srgbClr val="1E293B"/>
                </a:solidFill>
              </a:rPr>
              <a:t>Copia archivos y carpetas locales del host al sistema de archivos de la imagen.</a:t>
            </a:r>
          </a:p>
          <a:p>
            <a:pPr>
              <a:spcAft>
                <a:spcPts val="800"/>
              </a:spcAft>
              <a:defRPr sz="1400">
                <a:latin typeface="Calibri"/>
              </a:defRPr>
            </a:pPr>
            <a:r>
              <a:rPr b="1">
                <a:solidFill>
                  <a:srgbClr val="1E293B"/>
                </a:solidFill>
              </a:rPr>
              <a:t>• `ENV CLAVE=VALOR`: </a:t>
            </a:r>
            <a:r>
              <a:rPr b="0">
                <a:solidFill>
                  <a:srgbClr val="1E293B"/>
                </a:solidFill>
              </a:rPr>
              <a:t>Define variables de entorno que persisten tanto durante el build como al arrancar el contenedor.</a:t>
            </a:r>
          </a:p>
          <a:p>
            <a:pPr>
              <a:spcAft>
                <a:spcPts val="800"/>
              </a:spcAft>
              <a:defRPr sz="1400">
                <a:latin typeface="Calibri"/>
              </a:defRPr>
            </a:pPr>
            <a:r>
              <a:rPr b="1">
                <a:solidFill>
                  <a:srgbClr val="1E293B"/>
                </a:solidFill>
              </a:rPr>
              <a:t>• `EXPOSE &lt;puerto&gt;`: </a:t>
            </a:r>
            <a:r>
              <a:rPr b="0">
                <a:solidFill>
                  <a:srgbClr val="1E293B"/>
                </a:solidFill>
              </a:rPr>
              <a:t>Documenta qué puerto escucha el servicio (metadato informativo, no abre el puerto en el host).</a:t>
            </a:r>
          </a:p>
        </p:txBody>
      </p:sp>
      <p:sp>
        <p:nvSpPr>
          <p:cNvPr id="5" name="Rounded Rectangle 4"/>
          <p:cNvSpPr/>
          <p:nvPr/>
        </p:nvSpPr>
        <p:spPr>
          <a:xfrm>
            <a:off x="6217920" y="1645920"/>
            <a:ext cx="52120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CMD vs ENTRYPOINT</a:t>
            </a:r>
          </a:p>
          <a:p>
            <a:pPr>
              <a:spcAft>
                <a:spcPts val="800"/>
              </a:spcAft>
              <a:defRPr sz="1400">
                <a:latin typeface="Calibri"/>
              </a:defRPr>
            </a:pPr>
            <a:r>
              <a:rPr b="1">
                <a:solidFill>
                  <a:srgbClr val="1E293B"/>
                </a:solidFill>
              </a:rPr>
              <a:t>• `RUN &lt;comando&gt;`: </a:t>
            </a:r>
            <a:r>
              <a:rPr b="0">
                <a:solidFill>
                  <a:srgbClr val="1E293B"/>
                </a:solidFill>
              </a:rPr>
              <a:t>Ejecuta comandos durante la fase de construcción (ej. `apt-get install`) y crea una nueva capa.</a:t>
            </a:r>
          </a:p>
          <a:p>
            <a:pPr>
              <a:spcAft>
                <a:spcPts val="800"/>
              </a:spcAft>
              <a:defRPr sz="1400">
                <a:latin typeface="Calibri"/>
              </a:defRPr>
            </a:pPr>
            <a:r>
              <a:rPr b="1">
                <a:solidFill>
                  <a:srgbClr val="1E293B"/>
                </a:solidFill>
              </a:rPr>
              <a:t>• `ENTRYPOINT ["ejecutable"]`: </a:t>
            </a:r>
            <a:r>
              <a:rPr b="0">
                <a:solidFill>
                  <a:srgbClr val="1E293B"/>
                </a:solidFill>
              </a:rPr>
              <a:t>Define el comando fijo inamovible que siempre se ejecutará al iniciar el contenedor.</a:t>
            </a:r>
          </a:p>
          <a:p>
            <a:pPr>
              <a:spcAft>
                <a:spcPts val="800"/>
              </a:spcAft>
              <a:defRPr sz="1400">
                <a:latin typeface="Calibri"/>
              </a:defRPr>
            </a:pPr>
            <a:r>
              <a:rPr b="1">
                <a:solidFill>
                  <a:srgbClr val="1E293B"/>
                </a:solidFill>
              </a:rPr>
              <a:t>• `CMD ["param1", "param2"]`: </a:t>
            </a:r>
            <a:r>
              <a:rPr b="0">
                <a:solidFill>
                  <a:srgbClr val="1E293B"/>
                </a:solidFill>
              </a:rPr>
              <a:t>Parámetros por defecto que se pasan a ENTRYPOINT o comando por defecto anulable.</a:t>
            </a:r>
          </a:p>
          <a:p>
            <a:pPr>
              <a:spcAft>
                <a:spcPts val="800"/>
              </a:spcAft>
              <a:defRPr sz="1400">
                <a:latin typeface="Calibri"/>
              </a:defRPr>
            </a:pPr>
            <a:r>
              <a:rPr b="1">
                <a:solidFill>
                  <a:srgbClr val="1E293B"/>
                </a:solidFill>
              </a:rPr>
              <a:t>• Sintaxis Exec (Recomendada): </a:t>
            </a:r>
            <a:r>
              <a:rPr b="0">
                <a:solidFill>
                  <a:srgbClr val="1E293B"/>
                </a:solidFill>
              </a:rPr>
              <a:t>Siempre usar corchetes y comillas dobles `["prog", "arg"]` para que se ejecute directamente como PID 1 sin invocar una subshell `/bin/sh -c`.</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17 / 81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1 • OPTIMIZACIÓN</a:t>
            </a:r>
          </a:p>
          <a:p>
            <a:pPr>
              <a:defRPr sz="2800" b="1">
                <a:solidFill>
                  <a:srgbClr val="1E293B"/>
                </a:solidFill>
                <a:latin typeface="Calibri"/>
              </a:defRPr>
            </a:pPr>
            <a:r>
              <a:t>Buenas Prácticas: Optimización de Capas y Caché</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Aprovechamiento de la Caché de Build</a:t>
            </a:r>
          </a:p>
          <a:p>
            <a:pPr>
              <a:spcAft>
                <a:spcPts val="800"/>
              </a:spcAft>
              <a:defRPr sz="1400">
                <a:latin typeface="Calibri"/>
              </a:defRPr>
            </a:pPr>
            <a:r>
              <a:rPr b="1">
                <a:solidFill>
                  <a:srgbClr val="1E293B"/>
                </a:solidFill>
              </a:rPr>
              <a:t>• De lo Menos Cambiante a lo Más Frecuente: </a:t>
            </a:r>
            <a:r>
              <a:rPr b="0">
                <a:solidFill>
                  <a:srgbClr val="1E293B"/>
                </a:solidFill>
              </a:rPr>
              <a:t>Colocar las instrucciones que rara vez cambian (OS, runtimes, dependencias) al inicio del Dockerfile.</a:t>
            </a:r>
          </a:p>
          <a:p>
            <a:pPr>
              <a:spcAft>
                <a:spcPts val="800"/>
              </a:spcAft>
              <a:defRPr sz="1400">
                <a:latin typeface="Calibri"/>
              </a:defRPr>
            </a:pPr>
            <a:r>
              <a:rPr b="1">
                <a:solidFill>
                  <a:srgbClr val="1E293B"/>
                </a:solidFill>
              </a:rPr>
              <a:t>• Invalidación en Cascada: </a:t>
            </a:r>
            <a:r>
              <a:rPr b="0">
                <a:solidFill>
                  <a:srgbClr val="1E293B"/>
                </a:solidFill>
              </a:rPr>
              <a:t>En cuanto una capa cambia (ej. un `COPY . .`), todas las capas posteriores invalidan su caché y se reconstruyen.</a:t>
            </a:r>
          </a:p>
          <a:p>
            <a:pPr>
              <a:spcAft>
                <a:spcPts val="800"/>
              </a:spcAft>
              <a:defRPr sz="1400">
                <a:latin typeface="Calibri"/>
              </a:defRPr>
            </a:pPr>
            <a:r>
              <a:rPr b="1">
                <a:solidFill>
                  <a:srgbClr val="1E293B"/>
                </a:solidFill>
              </a:rPr>
              <a:t>• Uso de `.dockerignore`: </a:t>
            </a:r>
            <a:r>
              <a:rPr b="0">
                <a:solidFill>
                  <a:srgbClr val="1E293B"/>
                </a:solidFill>
              </a:rPr>
              <a:t>Excluir carpetas pesadas (`node_modules`, `.git`, temporales) para no inflar el build context ni invalidar caché accidentalmente.</a:t>
            </a:r>
          </a:p>
          <a:p>
            <a:pPr>
              <a:spcAft>
                <a:spcPts val="800"/>
              </a:spcAft>
              <a:defRPr sz="1400">
                <a:latin typeface="Calibri"/>
              </a:defRPr>
            </a:pPr>
            <a:r>
              <a:rPr b="1">
                <a:solidFill>
                  <a:srgbClr val="1E293B"/>
                </a:solidFill>
              </a:rPr>
              <a:t>• Encadenar Comandos RUN: </a:t>
            </a:r>
            <a:r>
              <a:rPr b="0">
                <a:solidFill>
                  <a:srgbClr val="1E293B"/>
                </a:solidFill>
              </a:rPr>
              <a:t>Concatenar `RUN apt-get update &amp;&amp; apt-get install -y ... &amp;&amp; rm -rf /var/lib/apt/lists/*` en una única capa para no almacenar caché de paquetes.</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Comparativa de Patrones</a:t>
            </a:r>
          </a:p>
          <a:p>
            <a:pPr>
              <a:spcAft>
                <a:spcPts val="200"/>
              </a:spcAft>
              <a:defRPr sz="1100">
                <a:solidFill>
                  <a:srgbClr val="94A3B8"/>
                </a:solidFill>
                <a:latin typeface="Consolas"/>
              </a:defRPr>
            </a:pPr>
            <a:r>
              <a:t># ANTIPATRÓN (Invalida caché en cada cambio de código):</a:t>
            </a:r>
          </a:p>
          <a:p>
            <a:pPr>
              <a:spcAft>
                <a:spcPts val="200"/>
              </a:spcAft>
              <a:defRPr sz="1100">
                <a:solidFill>
                  <a:srgbClr val="FFFFFF"/>
                </a:solidFill>
                <a:latin typeface="Consolas"/>
              </a:defRPr>
            </a:pPr>
            <a:r>
              <a:t>COPY . .</a:t>
            </a:r>
          </a:p>
          <a:p>
            <a:pPr>
              <a:spcAft>
                <a:spcPts val="200"/>
              </a:spcAft>
              <a:defRPr sz="1100">
                <a:solidFill>
                  <a:srgbClr val="FFFFFF"/>
                </a:solidFill>
                <a:latin typeface="Consolas"/>
              </a:defRPr>
            </a:pPr>
            <a:r>
              <a:t>RUN npm install  # ¡Se ejecuta siempre, muy lento!</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BUENA PRÁCTICA (Aprovecha caché de dependencias):</a:t>
            </a:r>
          </a:p>
          <a:p>
            <a:pPr>
              <a:spcAft>
                <a:spcPts val="200"/>
              </a:spcAft>
              <a:defRPr sz="1100">
                <a:solidFill>
                  <a:srgbClr val="FFFFFF"/>
                </a:solidFill>
                <a:latin typeface="Consolas"/>
              </a:defRPr>
            </a:pPr>
            <a:r>
              <a:t>COPY package*.json ./</a:t>
            </a:r>
          </a:p>
          <a:p>
            <a:pPr>
              <a:spcAft>
                <a:spcPts val="200"/>
              </a:spcAft>
              <a:defRPr sz="1100">
                <a:solidFill>
                  <a:srgbClr val="FFFFFF"/>
                </a:solidFill>
                <a:latin typeface="Consolas"/>
              </a:defRPr>
            </a:pPr>
            <a:r>
              <a:t>RUN npm ci       # Solo se ejecuta si cambia package.json</a:t>
            </a:r>
          </a:p>
          <a:p>
            <a:pPr>
              <a:spcAft>
                <a:spcPts val="200"/>
              </a:spcAft>
              <a:defRPr sz="1100">
                <a:solidFill>
                  <a:srgbClr val="FFFFFF"/>
                </a:solidFill>
                <a:latin typeface="Consolas"/>
              </a:defRPr>
            </a:pPr>
            <a:r>
              <a:t>COPY . .         # Si solo cambia el código, usa caché previa</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Ejemplo de limpieza de paquetes en una sola capa:</a:t>
            </a:r>
          </a:p>
          <a:p>
            <a:pPr>
              <a:spcAft>
                <a:spcPts val="200"/>
              </a:spcAft>
              <a:defRPr sz="1100">
                <a:solidFill>
                  <a:srgbClr val="FFFFFF"/>
                </a:solidFill>
                <a:latin typeface="Consolas"/>
              </a:defRPr>
            </a:pPr>
            <a:r>
              <a:t>RUN apt-get update &amp;&amp; apt-get install -y --no-install-recommends \</a:t>
            </a:r>
          </a:p>
          <a:p>
            <a:pPr>
              <a:spcAft>
                <a:spcPts val="200"/>
              </a:spcAft>
              <a:defRPr sz="1100">
                <a:solidFill>
                  <a:srgbClr val="FFFFFF"/>
                </a:solidFill>
                <a:latin typeface="Consolas"/>
              </a:defRPr>
            </a:pPr>
            <a:r>
              <a:t>    curl \</a:t>
            </a:r>
          </a:p>
          <a:p>
            <a:pPr>
              <a:spcAft>
                <a:spcPts val="200"/>
              </a:spcAft>
              <a:defRPr sz="1100">
                <a:solidFill>
                  <a:srgbClr val="FFFFFF"/>
                </a:solidFill>
                <a:latin typeface="Consolas"/>
              </a:defRPr>
            </a:pPr>
            <a:r>
              <a:t>    ca-certificates \</a:t>
            </a:r>
          </a:p>
          <a:p>
            <a:pPr>
              <a:spcAft>
                <a:spcPts val="200"/>
              </a:spcAft>
              <a:defRPr sz="1100">
                <a:solidFill>
                  <a:srgbClr val="FFFFFF"/>
                </a:solidFill>
                <a:latin typeface="Consolas"/>
              </a:defRPr>
            </a:pPr>
            <a:r>
              <a:t> &amp;&amp; rm -rf /var/lib/apt/lists/*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18 / 81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1 • OPTIMIZACIÓN</a:t>
            </a:r>
          </a:p>
          <a:p>
            <a:pPr>
              <a:defRPr sz="2800" b="1">
                <a:solidFill>
                  <a:srgbClr val="1E293B"/>
                </a:solidFill>
                <a:latin typeface="Calibri"/>
              </a:defRPr>
            </a:pPr>
            <a:r>
              <a:t>Multi-Stage Builds: Seguridad y Mínimo Tamaño</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¿Por qué Multi-Stage?</a:t>
            </a:r>
          </a:p>
          <a:p>
            <a:pPr>
              <a:spcAft>
                <a:spcPts val="800"/>
              </a:spcAft>
              <a:defRPr sz="1400">
                <a:latin typeface="Calibri"/>
              </a:defRPr>
            </a:pPr>
            <a:r>
              <a:rPr b="1">
                <a:solidFill>
                  <a:srgbClr val="1E293B"/>
                </a:solidFill>
              </a:rPr>
              <a:t>• Separar Compilación de Ejecución: </a:t>
            </a:r>
            <a:r>
              <a:rPr b="0">
                <a:solidFill>
                  <a:srgbClr val="1E293B"/>
                </a:solidFill>
              </a:rPr>
              <a:t>Un entorno de build necesita compiladores (gcc, go, maven, npm, SDKs completos) que pesan gigabytes.</a:t>
            </a:r>
          </a:p>
          <a:p>
            <a:pPr>
              <a:spcAft>
                <a:spcPts val="800"/>
              </a:spcAft>
              <a:defRPr sz="1400">
                <a:latin typeface="Calibri"/>
              </a:defRPr>
            </a:pPr>
            <a:r>
              <a:rPr b="1">
                <a:solidFill>
                  <a:srgbClr val="1E293B"/>
                </a:solidFill>
              </a:rPr>
              <a:t>• Producción Limpia: </a:t>
            </a:r>
            <a:r>
              <a:rPr b="0">
                <a:solidFill>
                  <a:srgbClr val="1E293B"/>
                </a:solidFill>
              </a:rPr>
              <a:t>En producción solo necesitamos el artefacto binario y el runtime mínimo indispensable.</a:t>
            </a:r>
          </a:p>
          <a:p>
            <a:pPr>
              <a:spcAft>
                <a:spcPts val="800"/>
              </a:spcAft>
              <a:defRPr sz="1400">
                <a:latin typeface="Calibri"/>
              </a:defRPr>
            </a:pPr>
            <a:r>
              <a:rPr b="1">
                <a:solidFill>
                  <a:srgbClr val="1E293B"/>
                </a:solidFill>
              </a:rPr>
              <a:t>• Reducción Drástica de Vulnerabilidades: </a:t>
            </a:r>
            <a:r>
              <a:rPr b="0">
                <a:solidFill>
                  <a:srgbClr val="1E293B"/>
                </a:solidFill>
              </a:rPr>
              <a:t>Al no incluir compiladores ni herramientas de build en la imagen final, reducimos los CVEs al mínimo.</a:t>
            </a:r>
          </a:p>
          <a:p>
            <a:pPr>
              <a:spcAft>
                <a:spcPts val="800"/>
              </a:spcAft>
              <a:defRPr sz="1400">
                <a:latin typeface="Calibri"/>
              </a:defRPr>
            </a:pPr>
            <a:r>
              <a:rPr b="1">
                <a:solidFill>
                  <a:srgbClr val="1E293B"/>
                </a:solidFill>
              </a:rPr>
              <a:t>• Imágenes Distroless y Alpine: </a:t>
            </a:r>
            <a:r>
              <a:rPr b="0">
                <a:solidFill>
                  <a:srgbClr val="1E293B"/>
                </a:solidFill>
              </a:rPr>
              <a:t>Crear imágenes finales con tamaños de 5MB a 30MB en lugar de 1.5GB.</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Ejemplo Multi-Stage</a:t>
            </a:r>
          </a:p>
          <a:p>
            <a:pPr>
              <a:spcAft>
                <a:spcPts val="200"/>
              </a:spcAft>
              <a:defRPr sz="1100">
                <a:solidFill>
                  <a:srgbClr val="94A3B8"/>
                </a:solidFill>
                <a:latin typeface="Consolas"/>
              </a:defRPr>
            </a:pPr>
            <a:r>
              <a:t># ETAPA 1: Compilación (Builder)</a:t>
            </a:r>
          </a:p>
          <a:p>
            <a:pPr>
              <a:spcAft>
                <a:spcPts val="200"/>
              </a:spcAft>
              <a:defRPr sz="1100">
                <a:solidFill>
                  <a:srgbClr val="FFFFFF"/>
                </a:solidFill>
                <a:latin typeface="Consolas"/>
              </a:defRPr>
            </a:pPr>
            <a:r>
              <a:t>FROM golang:1.22-alpine AS builder</a:t>
            </a:r>
          </a:p>
          <a:p>
            <a:pPr>
              <a:spcAft>
                <a:spcPts val="200"/>
              </a:spcAft>
              <a:defRPr sz="1100">
                <a:solidFill>
                  <a:srgbClr val="FFFFFF"/>
                </a:solidFill>
                <a:latin typeface="Consolas"/>
              </a:defRPr>
            </a:pPr>
            <a:r>
              <a:t>WORKDIR /app</a:t>
            </a:r>
          </a:p>
          <a:p>
            <a:pPr>
              <a:spcAft>
                <a:spcPts val="200"/>
              </a:spcAft>
              <a:defRPr sz="1100">
                <a:solidFill>
                  <a:srgbClr val="FFFFFF"/>
                </a:solidFill>
                <a:latin typeface="Consolas"/>
              </a:defRPr>
            </a:pPr>
            <a:r>
              <a:t>COPY . .</a:t>
            </a:r>
          </a:p>
          <a:p>
            <a:pPr>
              <a:spcAft>
                <a:spcPts val="200"/>
              </a:spcAft>
              <a:defRPr sz="1100">
                <a:solidFill>
                  <a:srgbClr val="FFFFFF"/>
                </a:solidFill>
                <a:latin typeface="Consolas"/>
              </a:defRPr>
            </a:pPr>
            <a:r>
              <a:t>RUN CGO_ENABLED=0 go build -ldflags="-s -w" -o mi-app</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ETAPA 2: Runtime de Producción (Final)</a:t>
            </a:r>
          </a:p>
          <a:p>
            <a:pPr>
              <a:spcAft>
                <a:spcPts val="200"/>
              </a:spcAft>
              <a:defRPr sz="1100">
                <a:solidFill>
                  <a:srgbClr val="FFFFFF"/>
                </a:solidFill>
                <a:latin typeface="Consolas"/>
              </a:defRPr>
            </a:pPr>
            <a:r>
              <a:t>FROM alpine:3.19</a:t>
            </a:r>
          </a:p>
          <a:p>
            <a:pPr>
              <a:spcAft>
                <a:spcPts val="200"/>
              </a:spcAft>
              <a:defRPr sz="1100">
                <a:solidFill>
                  <a:srgbClr val="FFFFFF"/>
                </a:solidFill>
                <a:latin typeface="Consolas"/>
              </a:defRPr>
            </a:pPr>
            <a:r>
              <a:t>WORKDIR /app</a:t>
            </a:r>
          </a:p>
          <a:p>
            <a:pPr>
              <a:spcAft>
                <a:spcPts val="200"/>
              </a:spcAft>
              <a:defRPr sz="1100">
                <a:solidFill>
                  <a:srgbClr val="94A3B8"/>
                </a:solidFill>
                <a:latin typeface="Consolas"/>
              </a:defRPr>
            </a:pPr>
            <a:r>
              <a:t># Copiar ÚNICAMENTE el binario de la etapa anterior</a:t>
            </a:r>
          </a:p>
          <a:p>
            <a:pPr>
              <a:spcAft>
                <a:spcPts val="200"/>
              </a:spcAft>
              <a:defRPr sz="1100">
                <a:solidFill>
                  <a:srgbClr val="FFFFFF"/>
                </a:solidFill>
                <a:latin typeface="Consolas"/>
              </a:defRPr>
            </a:pPr>
            <a:r>
              <a:t>COPY --from=builder /app/mi-app .</a:t>
            </a:r>
          </a:p>
          <a:p>
            <a:pPr>
              <a:spcAft>
                <a:spcPts val="200"/>
              </a:spcAft>
              <a:defRPr sz="1100">
                <a:solidFill>
                  <a:srgbClr val="FFFFFF"/>
                </a:solidFill>
                <a:latin typeface="Consolas"/>
              </a:defRPr>
            </a:pPr>
            <a:r>
              <a:t>USER guest</a:t>
            </a:r>
          </a:p>
          <a:p>
            <a:pPr>
              <a:spcAft>
                <a:spcPts val="200"/>
              </a:spcAft>
              <a:defRPr sz="1100">
                <a:solidFill>
                  <a:srgbClr val="FFFFFF"/>
                </a:solidFill>
                <a:latin typeface="Consolas"/>
              </a:defRPr>
            </a:pPr>
            <a:r>
              <a:t>EXPOSE 8080</a:t>
            </a:r>
          </a:p>
          <a:p>
            <a:pPr>
              <a:spcAft>
                <a:spcPts val="200"/>
              </a:spcAft>
              <a:defRPr sz="1100">
                <a:solidFill>
                  <a:srgbClr val="FFFFFF"/>
                </a:solidFill>
                <a:latin typeface="Consolas"/>
              </a:defRPr>
            </a:pPr>
            <a:r>
              <a:t>CMD ["./mi-app"]</a:t>
            </a:r>
          </a:p>
          <a:p>
            <a:pPr>
              <a:spcAft>
                <a:spcPts val="200"/>
              </a:spcAft>
              <a:defRPr sz="1100">
                <a:solidFill>
                  <a:srgbClr val="94A3B8"/>
                </a:solidFill>
                <a:latin typeface="Consolas"/>
              </a:defRPr>
            </a:pPr>
            <a:r>
              <a:t># Resultado: De una imagen de 800MB a una de solo 12MB</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19 / 81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1 • ARQUITECTURA</a:t>
            </a:r>
          </a:p>
          <a:p>
            <a:pPr>
              <a:defRPr sz="2800" b="1">
                <a:solidFill>
                  <a:srgbClr val="1E293B"/>
                </a:solidFill>
                <a:latin typeface="Calibri"/>
              </a:defRPr>
            </a:pPr>
            <a:r>
              <a:t>Docker y la Arquitectura de Microservicios</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La Regla de Oro: Un Proceso por Contenedor</a:t>
            </a:r>
          </a:p>
          <a:p>
            <a:pPr>
              <a:spcAft>
                <a:spcPts val="800"/>
              </a:spcAft>
              <a:defRPr sz="1400">
                <a:latin typeface="Calibri"/>
              </a:defRPr>
            </a:pPr>
            <a:r>
              <a:rPr b="1">
                <a:solidFill>
                  <a:srgbClr val="1E293B"/>
                </a:solidFill>
              </a:rPr>
              <a:t>• Desacoplamiento Funcional: </a:t>
            </a:r>
            <a:r>
              <a:rPr b="0">
                <a:solidFill>
                  <a:srgbClr val="1E293B"/>
                </a:solidFill>
              </a:rPr>
              <a:t>No intentar meter Apache, PHP y MySQL en el mismo contenedor como si fuera un servidor VPS tradicional.</a:t>
            </a:r>
          </a:p>
          <a:p>
            <a:pPr>
              <a:spcAft>
                <a:spcPts val="800"/>
              </a:spcAft>
              <a:defRPr sz="1400">
                <a:latin typeface="Calibri"/>
              </a:defRPr>
            </a:pPr>
            <a:r>
              <a:rPr b="1">
                <a:solidFill>
                  <a:srgbClr val="1E293B"/>
                </a:solidFill>
              </a:rPr>
              <a:t>• Ciclos de Vida Independientes: </a:t>
            </a:r>
            <a:r>
              <a:rPr b="0">
                <a:solidFill>
                  <a:srgbClr val="1E293B"/>
                </a:solidFill>
              </a:rPr>
              <a:t>Cada microservicio debe poder escalarse, actualizarse o reiniciarse sin afectar al resto.</a:t>
            </a:r>
          </a:p>
          <a:p>
            <a:pPr>
              <a:spcAft>
                <a:spcPts val="800"/>
              </a:spcAft>
              <a:defRPr sz="1400">
                <a:latin typeface="Calibri"/>
              </a:defRPr>
            </a:pPr>
            <a:r>
              <a:rPr b="1">
                <a:solidFill>
                  <a:srgbClr val="1E293B"/>
                </a:solidFill>
              </a:rPr>
              <a:t>• Facilidad de Diagnóstico: </a:t>
            </a:r>
            <a:r>
              <a:rPr b="0">
                <a:solidFill>
                  <a:srgbClr val="1E293B"/>
                </a:solidFill>
              </a:rPr>
              <a:t>Cuando un contenedor falla, sus logs (`docker logs`) reflejan únicamente la salida de ese servicio específico.</a:t>
            </a:r>
          </a:p>
          <a:p>
            <a:pPr>
              <a:spcAft>
                <a:spcPts val="800"/>
              </a:spcAft>
              <a:defRPr sz="1400">
                <a:latin typeface="Calibri"/>
              </a:defRPr>
            </a:pPr>
            <a:r>
              <a:rPr b="1">
                <a:solidFill>
                  <a:srgbClr val="1E293B"/>
                </a:solidFill>
              </a:rPr>
              <a:t>• Superficie de Fallo Acotada: </a:t>
            </a:r>
            <a:r>
              <a:rPr b="0">
                <a:solidFill>
                  <a:srgbClr val="1E293B"/>
                </a:solidFill>
              </a:rPr>
              <a:t>Si el microservicio de pagos tiene un memory leak, el microservicio de catálogo de productos continúa funcionando intacto.</a:t>
            </a:r>
          </a:p>
        </p:txBody>
      </p:sp>
      <p:sp>
        <p:nvSpPr>
          <p:cNvPr id="5" name="Rounded Rectangle 4"/>
          <p:cNvSpPr/>
          <p:nvPr/>
        </p:nvSpPr>
        <p:spPr>
          <a:xfrm>
            <a:off x="6217920" y="1645920"/>
            <a:ext cx="52120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Retos Emergentes</a:t>
            </a:r>
          </a:p>
          <a:p>
            <a:pPr>
              <a:spcAft>
                <a:spcPts val="800"/>
              </a:spcAft>
              <a:defRPr sz="1400">
                <a:latin typeface="Calibri"/>
              </a:defRPr>
            </a:pPr>
            <a:r>
              <a:rPr b="1">
                <a:solidFill>
                  <a:srgbClr val="1E293B"/>
                </a:solidFill>
              </a:rPr>
              <a:t>• Comunicación entre Servicios: </a:t>
            </a:r>
            <a:r>
              <a:rPr b="0">
                <a:solidFill>
                  <a:srgbClr val="1E293B"/>
                </a:solidFill>
              </a:rPr>
              <a:t>¿Cómo hablan entre sí los microservicios sin acoplar direcciones IP fijas? (Respuesta: Redes en Módulo 2).</a:t>
            </a:r>
          </a:p>
          <a:p>
            <a:pPr>
              <a:spcAft>
                <a:spcPts val="800"/>
              </a:spcAft>
              <a:defRPr sz="1400">
                <a:latin typeface="Calibri"/>
              </a:defRPr>
            </a:pPr>
            <a:r>
              <a:rPr b="1">
                <a:solidFill>
                  <a:srgbClr val="1E293B"/>
                </a:solidFill>
              </a:rPr>
              <a:t>• Persistencia de Datos: </a:t>
            </a:r>
            <a:r>
              <a:rPr b="0">
                <a:solidFill>
                  <a:srgbClr val="1E293B"/>
                </a:solidFill>
              </a:rPr>
              <a:t>Si los contenedores son efímeros, ¿dónde guardamos los datos de base de datos? (Respuesta: Volúmenes en Módulo 3).</a:t>
            </a:r>
          </a:p>
          <a:p>
            <a:pPr>
              <a:spcAft>
                <a:spcPts val="800"/>
              </a:spcAft>
              <a:defRPr sz="1400">
                <a:latin typeface="Calibri"/>
              </a:defRPr>
            </a:pPr>
            <a:r>
              <a:rPr b="1">
                <a:solidFill>
                  <a:srgbClr val="1E293B"/>
                </a:solidFill>
              </a:rPr>
              <a:t>• Despliegue Multi-Contenedor: </a:t>
            </a:r>
            <a:r>
              <a:rPr b="0">
                <a:solidFill>
                  <a:srgbClr val="1E293B"/>
                </a:solidFill>
              </a:rPr>
              <a:t>Arrancar 15 servicios con `docker run` individual es inviable. Se requiere orquestación (Docker Compose y Kubernetes en Módulo 5).</a:t>
            </a:r>
          </a:p>
          <a:p>
            <a:pPr>
              <a:spcAft>
                <a:spcPts val="800"/>
              </a:spcAft>
              <a:defRPr sz="1400">
                <a:latin typeface="Calibri"/>
              </a:defRPr>
            </a:pPr>
            <a:r>
              <a:rPr b="1">
                <a:solidFill>
                  <a:srgbClr val="1E293B"/>
                </a:solidFill>
              </a:rPr>
              <a:t>• Observabilidad: </a:t>
            </a:r>
            <a:r>
              <a:rPr b="0">
                <a:solidFill>
                  <a:srgbClr val="1E293B"/>
                </a:solidFill>
              </a:rPr>
              <a:t>Monitorización centralizada de logs, métricas y trazas distribuidas.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20 / 81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DÍA 1 • PRÁCTICA</a:t>
            </a:r>
          </a:p>
          <a:p>
            <a:pPr>
              <a:defRPr sz="2800" b="1">
                <a:solidFill>
                  <a:srgbClr val="1E293B"/>
                </a:solidFill>
                <a:latin typeface="Calibri"/>
              </a:defRPr>
            </a:pPr>
            <a:r>
              <a:t>Laboratorio 1: Ciclo de Vida y Creación de Imágenes</a:t>
            </a:r>
          </a:p>
        </p:txBody>
      </p:sp>
      <p:sp>
        <p:nvSpPr>
          <p:cNvPr id="4" name="Rounded Rectangle 3"/>
          <p:cNvSpPr/>
          <p:nvPr/>
        </p:nvSpPr>
        <p:spPr>
          <a:xfrm>
            <a:off x="731520" y="1645920"/>
            <a:ext cx="106984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Objetivos y Pasos del Ejercicio Práctico</a:t>
            </a:r>
          </a:p>
          <a:p>
            <a:pPr>
              <a:spcAft>
                <a:spcPts val="1000"/>
              </a:spcAft>
              <a:defRPr sz="1400">
                <a:latin typeface="Calibri"/>
              </a:defRPr>
            </a:pPr>
            <a:r>
              <a:rPr b="1">
                <a:solidFill>
                  <a:srgbClr val="1E293B"/>
                </a:solidFill>
              </a:rPr>
              <a:t>• Paso 1: </a:t>
            </a:r>
            <a:r>
              <a:rPr b="0">
                <a:solidFill>
                  <a:srgbClr val="1E293B"/>
                </a:solidFill>
              </a:rPr>
              <a:t>Verificar el entorno local y versiones (`docker version`, `docker info`).</a:t>
            </a:r>
          </a:p>
          <a:p>
            <a:pPr>
              <a:spcAft>
                <a:spcPts val="1000"/>
              </a:spcAft>
              <a:defRPr sz="1400">
                <a:latin typeface="Calibri"/>
              </a:defRPr>
            </a:pPr>
            <a:r>
              <a:rPr b="1">
                <a:solidFill>
                  <a:srgbClr val="1E293B"/>
                </a:solidFill>
              </a:rPr>
              <a:t>• Paso 2: </a:t>
            </a:r>
            <a:r>
              <a:rPr b="0">
                <a:solidFill>
                  <a:srgbClr val="1E293B"/>
                </a:solidFill>
              </a:rPr>
              <a:t>Descargar e interactuar con imágenes base (`docker run -it alpine sh`, explorar `uname -a` y procesos).</a:t>
            </a:r>
          </a:p>
          <a:p>
            <a:pPr>
              <a:spcAft>
                <a:spcPts val="1000"/>
              </a:spcAft>
              <a:defRPr sz="1400">
                <a:latin typeface="Calibri"/>
              </a:defRPr>
            </a:pPr>
            <a:r>
              <a:rPr b="1">
                <a:solidFill>
                  <a:srgbClr val="1E293B"/>
                </a:solidFill>
              </a:rPr>
              <a:t>• Paso 3: </a:t>
            </a:r>
            <a:r>
              <a:rPr b="0">
                <a:solidFill>
                  <a:srgbClr val="1E293B"/>
                </a:solidFill>
              </a:rPr>
              <a:t>Crear una aplicación web sencilla en Python/Flask o Node.js y redactar su `Dockerfile` optimizado.</a:t>
            </a:r>
          </a:p>
          <a:p>
            <a:pPr>
              <a:spcAft>
                <a:spcPts val="1000"/>
              </a:spcAft>
              <a:defRPr sz="1400">
                <a:latin typeface="Calibri"/>
              </a:defRPr>
            </a:pPr>
            <a:r>
              <a:rPr b="1">
                <a:solidFill>
                  <a:srgbClr val="1E293B"/>
                </a:solidFill>
              </a:rPr>
              <a:t>• Paso 4: </a:t>
            </a:r>
            <a:r>
              <a:rPr b="0">
                <a:solidFill>
                  <a:srgbClr val="1E293B"/>
                </a:solidFill>
              </a:rPr>
              <a:t>Construir la imagen con tag semántico (`docker build -t mi-app:1.0 .`).</a:t>
            </a:r>
          </a:p>
          <a:p>
            <a:pPr>
              <a:spcAft>
                <a:spcPts val="1000"/>
              </a:spcAft>
              <a:defRPr sz="1400">
                <a:latin typeface="Calibri"/>
              </a:defRPr>
            </a:pPr>
            <a:r>
              <a:rPr b="1">
                <a:solidFill>
                  <a:srgbClr val="1E293B"/>
                </a:solidFill>
              </a:rPr>
              <a:t>• Paso 5: </a:t>
            </a:r>
            <a:r>
              <a:rPr b="0">
                <a:solidFill>
                  <a:srgbClr val="1E293B"/>
                </a:solidFill>
              </a:rPr>
              <a:t>Arrancar el contenedor publicando el puerto hacia el host (`docker run -d -p 8080:5000 --name web mi-app:1.0`).</a:t>
            </a:r>
          </a:p>
          <a:p>
            <a:pPr>
              <a:spcAft>
                <a:spcPts val="1000"/>
              </a:spcAft>
              <a:defRPr sz="1400">
                <a:latin typeface="Calibri"/>
              </a:defRPr>
            </a:pPr>
            <a:r>
              <a:rPr b="1">
                <a:solidFill>
                  <a:srgbClr val="1E293B"/>
                </a:solidFill>
              </a:rPr>
              <a:t>• Paso 6: </a:t>
            </a:r>
            <a:r>
              <a:rPr b="0">
                <a:solidFill>
                  <a:srgbClr val="1E293B"/>
                </a:solidFill>
              </a:rPr>
              <a:t>Probar la aplicación con `curl http://localhost:8080`, inspeccionar logs con `docker logs -f` y comprobar el consumo de recursos con `docker stats`.</a:t>
            </a:r>
          </a:p>
          <a:p>
            <a:pPr>
              <a:spcAft>
                <a:spcPts val="1000"/>
              </a:spcAft>
              <a:defRPr sz="1400">
                <a:latin typeface="Calibri"/>
              </a:defRPr>
            </a:pPr>
            <a:r>
              <a:rPr b="1">
                <a:solidFill>
                  <a:srgbClr val="1E293B"/>
                </a:solidFill>
              </a:rPr>
              <a:t>• Paso 7: </a:t>
            </a:r>
            <a:r>
              <a:rPr b="0">
                <a:solidFill>
                  <a:srgbClr val="1E293B"/>
                </a:solidFill>
              </a:rPr>
              <a:t>Detener y limpiar recursos (`docker stop`, `docker rm`).</a:t>
            </a:r>
          </a:p>
        </p:txBody>
      </p:sp>
      <p:sp>
        <p:nvSpPr>
          <p:cNvPr id="5" name="TextBox 4"/>
          <p:cNvSpPr txBox="1"/>
          <p:nvPr/>
        </p:nvSpPr>
        <p:spPr>
          <a:xfrm>
            <a:off x="10332720" y="6446520"/>
            <a:ext cx="1645920" cy="320040"/>
          </a:xfrm>
          <a:prstGeom prst="rect">
            <a:avLst/>
          </a:prstGeom>
          <a:noFill/>
        </p:spPr>
        <p:txBody>
          <a:bodyPr wrap="none" lIns="0" tIns="0" rIns="0" bIns="0">
            <a:spAutoFit/>
          </a:bodyPr>
          <a:lstStyle/>
          <a:p>
            <a:pPr algn="r">
              <a:defRPr sz="900">
                <a:solidFill>
                  <a:srgbClr val="0DB7ED"/>
                </a:solidFill>
                <a:latin typeface="Calibri"/>
              </a:defRPr>
            </a:pPr>
            <a:r>
              <a:t>21 / 81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D3A"/>
          </a:solidFill>
          <a:ln>
            <a:solidFill>
              <a:srgbClr val="0B1D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32720" cy="457200"/>
          </a:xfrm>
          <a:prstGeom prst="rect">
            <a:avLst/>
          </a:prstGeom>
          <a:noFill/>
        </p:spPr>
        <p:txBody>
          <a:bodyPr wrap="square">
            <a:spAutoFit/>
          </a:bodyPr>
          <a:lstStyle/>
          <a:p>
            <a:pPr>
              <a:defRPr sz="1300" b="1">
                <a:solidFill>
                  <a:srgbClr val="0DB7ED"/>
                </a:solidFill>
                <a:latin typeface="Calibri"/>
              </a:defRPr>
            </a:pPr>
            <a:r>
              <a:t>DÍA 1 • CONCLUSIÓN</a:t>
            </a:r>
          </a:p>
        </p:txBody>
      </p:sp>
      <p:sp>
        <p:nvSpPr>
          <p:cNvPr id="4" name="TextBox 3"/>
          <p:cNvSpPr txBox="1"/>
          <p:nvPr/>
        </p:nvSpPr>
        <p:spPr>
          <a:xfrm>
            <a:off x="914400" y="1828800"/>
            <a:ext cx="10332720" cy="2194560"/>
          </a:xfrm>
          <a:prstGeom prst="rect">
            <a:avLst/>
          </a:prstGeom>
          <a:noFill/>
        </p:spPr>
        <p:txBody>
          <a:bodyPr wrap="square">
            <a:spAutoFit/>
          </a:bodyPr>
          <a:lstStyle/>
          <a:p>
            <a:pPr>
              <a:defRPr sz="4000" b="1">
                <a:solidFill>
                  <a:srgbClr val="FFFFFF"/>
                </a:solidFill>
                <a:latin typeface="Calibri"/>
              </a:defRPr>
            </a:pPr>
            <a:r>
              <a:t>RESUMEN DE LA JORNADA 1</a:t>
            </a:r>
          </a:p>
        </p:txBody>
      </p:sp>
      <p:sp>
        <p:nvSpPr>
          <p:cNvPr id="5" name="TextBox 4"/>
          <p:cNvSpPr txBox="1"/>
          <p:nvPr/>
        </p:nvSpPr>
        <p:spPr>
          <a:xfrm>
            <a:off x="914400" y="4114800"/>
            <a:ext cx="10332720" cy="1645920"/>
          </a:xfrm>
          <a:prstGeom prst="rect">
            <a:avLst/>
          </a:prstGeom>
          <a:noFill/>
        </p:spPr>
        <p:txBody>
          <a:bodyPr wrap="square">
            <a:spAutoFit/>
          </a:bodyPr>
          <a:lstStyle/>
          <a:p>
            <a:pPr>
              <a:defRPr sz="2000">
                <a:solidFill>
                  <a:srgbClr val="64748B"/>
                </a:solidFill>
                <a:latin typeface="Calibri"/>
              </a:defRPr>
            </a:pPr>
            <a:r>
              <a:t>Conceptos consolidados: Kernel de Linux, Namespaces, Cgroups, Imágenes OCI, Dockerfile y Ciclo de Vida.</a:t>
            </a:r>
            <a:br/>
            <a:r>
              <a:t>Próxima Jornada: Módulo 2 (Redes a fondo) y Módulo 3 (Persistencia y Volúmenes).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22 / 81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D3A"/>
          </a:solidFill>
          <a:ln>
            <a:solidFill>
              <a:srgbClr val="0B1D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32720" cy="457200"/>
          </a:xfrm>
          <a:prstGeom prst="rect">
            <a:avLst/>
          </a:prstGeom>
          <a:noFill/>
        </p:spPr>
        <p:txBody>
          <a:bodyPr wrap="square">
            <a:spAutoFit/>
          </a:bodyPr>
          <a:lstStyle/>
          <a:p>
            <a:pPr>
              <a:defRPr sz="1300" b="1">
                <a:solidFill>
                  <a:srgbClr val="0DB7ED"/>
                </a:solidFill>
                <a:latin typeface="Calibri"/>
              </a:defRPr>
            </a:pPr>
            <a:r>
              <a:t>DÍA 2 • COMUNICACIÓN Y ALMACENAMIENTO</a:t>
            </a:r>
          </a:p>
        </p:txBody>
      </p:sp>
      <p:sp>
        <p:nvSpPr>
          <p:cNvPr id="4" name="TextBox 3"/>
          <p:cNvSpPr txBox="1"/>
          <p:nvPr/>
        </p:nvSpPr>
        <p:spPr>
          <a:xfrm>
            <a:off x="914400" y="1828800"/>
            <a:ext cx="10332720" cy="2194560"/>
          </a:xfrm>
          <a:prstGeom prst="rect">
            <a:avLst/>
          </a:prstGeom>
          <a:noFill/>
        </p:spPr>
        <p:txBody>
          <a:bodyPr wrap="square">
            <a:spAutoFit/>
          </a:bodyPr>
          <a:lstStyle/>
          <a:p>
            <a:pPr>
              <a:defRPr sz="4000" b="1">
                <a:solidFill>
                  <a:srgbClr val="FFFFFF"/>
                </a:solidFill>
                <a:latin typeface="Calibri"/>
              </a:defRPr>
            </a:pPr>
            <a:r>
              <a:t>REDES Y PERSISTENCIA</a:t>
            </a:r>
          </a:p>
        </p:txBody>
      </p:sp>
      <p:sp>
        <p:nvSpPr>
          <p:cNvPr id="5" name="TextBox 4"/>
          <p:cNvSpPr txBox="1"/>
          <p:nvPr/>
        </p:nvSpPr>
        <p:spPr>
          <a:xfrm>
            <a:off x="914400" y="4114800"/>
            <a:ext cx="10332720" cy="1645920"/>
          </a:xfrm>
          <a:prstGeom prst="rect">
            <a:avLst/>
          </a:prstGeom>
          <a:noFill/>
        </p:spPr>
        <p:txBody>
          <a:bodyPr wrap="square">
            <a:spAutoFit/>
          </a:bodyPr>
          <a:lstStyle/>
          <a:p>
            <a:pPr>
              <a:defRPr sz="2000">
                <a:solidFill>
                  <a:srgbClr val="64748B"/>
                </a:solidFill>
                <a:latin typeface="Calibri"/>
              </a:defRPr>
            </a:pPr>
            <a:r>
              <a:t>Módulo 2: Redes en Docker • Módulo 3: Volúmenes y Persistencia</a:t>
            </a:r>
            <a:br/>
            <a:r>
              <a:t>Jornada 2 de 4 (5 Horas Lectivas)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23 / 81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2 • REDES</a:t>
            </a:r>
          </a:p>
          <a:p>
            <a:pPr>
              <a:defRPr sz="2800" b="1">
                <a:solidFill>
                  <a:srgbClr val="1E293B"/>
                </a:solidFill>
                <a:latin typeface="Calibri"/>
              </a:defRPr>
            </a:pPr>
            <a:r>
              <a:t>Anatomía de la Red en Docker: veth pairs y Linux Bridge</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El Puente Virtual y los Pares Veth</a:t>
            </a:r>
          </a:p>
          <a:p>
            <a:pPr>
              <a:spcAft>
                <a:spcPts val="800"/>
              </a:spcAft>
              <a:defRPr sz="1400">
                <a:latin typeface="Calibri"/>
              </a:defRPr>
            </a:pPr>
            <a:r>
              <a:rPr b="1">
                <a:solidFill>
                  <a:srgbClr val="1E293B"/>
                </a:solidFill>
              </a:rPr>
              <a:t>• Aislamiento de Red: </a:t>
            </a:r>
            <a:r>
              <a:rPr b="0">
                <a:solidFill>
                  <a:srgbClr val="1E293B"/>
                </a:solidFill>
              </a:rPr>
              <a:t>Cada contenedor tiene su propia pila de red (su propia loopback `127.0.0.1`, interfaces y tabla de rutas).</a:t>
            </a:r>
          </a:p>
          <a:p>
            <a:pPr>
              <a:spcAft>
                <a:spcPts val="800"/>
              </a:spcAft>
              <a:defRPr sz="1400">
                <a:latin typeface="Calibri"/>
              </a:defRPr>
            </a:pPr>
            <a:r>
              <a:rPr b="1">
                <a:solidFill>
                  <a:srgbClr val="1E293B"/>
                </a:solidFill>
              </a:rPr>
              <a:t>• Pares de Interfaces Virtuales (`veth`): </a:t>
            </a:r>
            <a:r>
              <a:rPr b="0">
                <a:solidFill>
                  <a:srgbClr val="1E293B"/>
                </a:solidFill>
              </a:rPr>
              <a:t>Docker crea un par de interfaces conectadas entre sí como si fueran un cable Ethernet virtual.</a:t>
            </a:r>
          </a:p>
          <a:p>
            <a:pPr>
              <a:spcAft>
                <a:spcPts val="800"/>
              </a:spcAft>
              <a:defRPr sz="1400">
                <a:latin typeface="Calibri"/>
              </a:defRPr>
            </a:pPr>
            <a:r>
              <a:rPr b="1">
                <a:solidFill>
                  <a:srgbClr val="1E293B"/>
                </a:solidFill>
              </a:rPr>
              <a:t>• Extremo A (Contenedor): </a:t>
            </a:r>
            <a:r>
              <a:rPr b="0">
                <a:solidFill>
                  <a:srgbClr val="1E293B"/>
                </a:solidFill>
              </a:rPr>
              <a:t>Reside dentro del Network Namespace del contenedor y se renombra a `eth0`.</a:t>
            </a:r>
          </a:p>
          <a:p>
            <a:pPr>
              <a:spcAft>
                <a:spcPts val="800"/>
              </a:spcAft>
              <a:defRPr sz="1400">
                <a:latin typeface="Calibri"/>
              </a:defRPr>
            </a:pPr>
            <a:r>
              <a:rPr b="1">
                <a:solidFill>
                  <a:srgbClr val="1E293B"/>
                </a:solidFill>
              </a:rPr>
              <a:t>• Extremo B (Host): </a:t>
            </a:r>
            <a:r>
              <a:rPr b="0">
                <a:solidFill>
                  <a:srgbClr val="1E293B"/>
                </a:solidFill>
              </a:rPr>
              <a:t>Reside en el host (ej. `veth4a91...`) y se conecta al conmutador virtual bridge (`docker0`).</a:t>
            </a:r>
          </a:p>
          <a:p>
            <a:pPr>
              <a:spcAft>
                <a:spcPts val="800"/>
              </a:spcAft>
              <a:defRPr sz="1400">
                <a:latin typeface="Calibri"/>
              </a:defRPr>
            </a:pPr>
            <a:r>
              <a:rPr b="1">
                <a:solidFill>
                  <a:srgbClr val="1E293B"/>
                </a:solidFill>
              </a:rPr>
              <a:t>• Puente `docker0`: </a:t>
            </a:r>
            <a:r>
              <a:rPr b="0">
                <a:solidFill>
                  <a:srgbClr val="1E293B"/>
                </a:solidFill>
              </a:rPr>
              <a:t>Actúa como un switch Ethernet de nivel 2 (L2) que reenvía tramas entre contenedores del mismo host.</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Inspección de Interfaces de Red</a:t>
            </a:r>
          </a:p>
          <a:p>
            <a:pPr>
              <a:spcAft>
                <a:spcPts val="200"/>
              </a:spcAft>
              <a:defRPr sz="1100">
                <a:solidFill>
                  <a:srgbClr val="94A3B8"/>
                </a:solidFill>
                <a:latin typeface="Consolas"/>
              </a:defRPr>
            </a:pPr>
            <a:r>
              <a:t># Comprobar el switch virtual docker0 en el host</a:t>
            </a:r>
          </a:p>
          <a:p>
            <a:pPr>
              <a:spcAft>
                <a:spcPts val="200"/>
              </a:spcAft>
              <a:defRPr sz="1100" b="1">
                <a:solidFill>
                  <a:srgbClr val="38BDF8"/>
                </a:solidFill>
                <a:latin typeface="Consolas"/>
              </a:defRPr>
            </a:pPr>
            <a:r>
              <a:t>$ ip addr show docker0</a:t>
            </a:r>
          </a:p>
          <a:p>
            <a:pPr>
              <a:spcAft>
                <a:spcPts val="200"/>
              </a:spcAft>
              <a:defRPr sz="1100">
                <a:solidFill>
                  <a:srgbClr val="FFFFFF"/>
                </a:solidFill>
                <a:latin typeface="Consolas"/>
              </a:defRPr>
            </a:pPr>
            <a:r>
              <a:t>inet 172.17.0.1/16 scope global docker0</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Arrancar un contenedor e inspeccionar su veth</a:t>
            </a:r>
          </a:p>
          <a:p>
            <a:pPr>
              <a:spcAft>
                <a:spcPts val="200"/>
              </a:spcAft>
              <a:defRPr sz="1100" b="1">
                <a:solidFill>
                  <a:srgbClr val="38BDF8"/>
                </a:solidFill>
                <a:latin typeface="Consolas"/>
              </a:defRPr>
            </a:pPr>
            <a:r>
              <a:t>$ docker run -d --name test-net nginx:alpine</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Listar los enlaces veth conectados al bridge</a:t>
            </a:r>
          </a:p>
          <a:p>
            <a:pPr>
              <a:spcAft>
                <a:spcPts val="200"/>
              </a:spcAft>
              <a:defRPr sz="1100" b="1">
                <a:solidFill>
                  <a:srgbClr val="38BDF8"/>
                </a:solidFill>
                <a:latin typeface="Consolas"/>
              </a:defRPr>
            </a:pPr>
            <a:r>
              <a:t>$ ip link show type veth</a:t>
            </a:r>
          </a:p>
          <a:p>
            <a:pPr>
              <a:spcAft>
                <a:spcPts val="200"/>
              </a:spcAft>
              <a:defRPr sz="1100">
                <a:solidFill>
                  <a:srgbClr val="FFFFFF"/>
                </a:solidFill>
                <a:latin typeface="Consolas"/>
              </a:defRPr>
            </a:pPr>
            <a:r>
              <a:t>veth7a21@if8: &lt;BROADCAST,MULTICAST,UP,LOWER_UP&gt; ...</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Ver la IP privada asignada al contenedor</a:t>
            </a:r>
          </a:p>
          <a:p>
            <a:pPr>
              <a:spcAft>
                <a:spcPts val="200"/>
              </a:spcAft>
              <a:defRPr sz="1100" b="1">
                <a:solidFill>
                  <a:srgbClr val="38BDF8"/>
                </a:solidFill>
                <a:latin typeface="Consolas"/>
              </a:defRPr>
            </a:pPr>
            <a:r>
              <a:t>$ docker inspect -f '{{.NetworkSettings.IPAddress}}' test-net</a:t>
            </a:r>
          </a:p>
          <a:p>
            <a:pPr>
              <a:spcAft>
                <a:spcPts val="200"/>
              </a:spcAft>
              <a:defRPr sz="1100">
                <a:solidFill>
                  <a:srgbClr val="FFFFFF"/>
                </a:solidFill>
                <a:latin typeface="Consolas"/>
              </a:defRPr>
            </a:pPr>
            <a:r>
              <a:t>172.17.0.2</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24 / 81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2 • REDES</a:t>
            </a:r>
          </a:p>
          <a:p>
            <a:pPr>
              <a:defRPr sz="2800" b="1">
                <a:solidFill>
                  <a:srgbClr val="1E293B"/>
                </a:solidFill>
                <a:latin typeface="Calibri"/>
              </a:defRPr>
            </a:pPr>
            <a:r>
              <a:t>La Red Bridge por Defecto y sus Limitaciones</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Características del Bridge por Defecto</a:t>
            </a:r>
          </a:p>
          <a:p>
            <a:pPr>
              <a:spcAft>
                <a:spcPts val="800"/>
              </a:spcAft>
              <a:defRPr sz="1400">
                <a:latin typeface="Calibri"/>
              </a:defRPr>
            </a:pPr>
            <a:r>
              <a:rPr b="1">
                <a:solidFill>
                  <a:srgbClr val="1E293B"/>
                </a:solidFill>
              </a:rPr>
              <a:t>• Comportamiento Out-of-the-Box: </a:t>
            </a:r>
            <a:r>
              <a:rPr b="0">
                <a:solidFill>
                  <a:srgbClr val="1E293B"/>
                </a:solidFill>
              </a:rPr>
              <a:t>Si no se especifica `--network`, los contenedores se conectan a `bridge`.</a:t>
            </a:r>
          </a:p>
          <a:p>
            <a:pPr>
              <a:spcAft>
                <a:spcPts val="800"/>
              </a:spcAft>
              <a:defRPr sz="1400">
                <a:latin typeface="Calibri"/>
              </a:defRPr>
            </a:pPr>
            <a:r>
              <a:rPr b="1">
                <a:solidFill>
                  <a:srgbClr val="1E293B"/>
                </a:solidFill>
              </a:rPr>
              <a:t>• Subred Típica: </a:t>
            </a:r>
            <a:r>
              <a:rPr b="0">
                <a:solidFill>
                  <a:srgbClr val="1E293B"/>
                </a:solidFill>
              </a:rPr>
              <a:t>Habitualmente `172.17.0.0/16`. El host toma la IP `172.17.0.1` como gateway predeterminado.</a:t>
            </a:r>
          </a:p>
          <a:p>
            <a:pPr>
              <a:spcAft>
                <a:spcPts val="800"/>
              </a:spcAft>
              <a:defRPr sz="1400">
                <a:latin typeface="Calibri"/>
              </a:defRPr>
            </a:pPr>
            <a:r>
              <a:rPr b="1">
                <a:solidFill>
                  <a:srgbClr val="1E293B"/>
                </a:solidFill>
              </a:rPr>
              <a:t>• Acceso a Internet Saliente: </a:t>
            </a:r>
            <a:r>
              <a:rPr b="0">
                <a:solidFill>
                  <a:srgbClr val="1E293B"/>
                </a:solidFill>
              </a:rPr>
              <a:t>Docker configura reglas `iptables MASQUERADE` (NAT) para que los contenedores puedan salir a Internet a través de la tarjeta física del host.</a:t>
            </a:r>
          </a:p>
          <a:p>
            <a:pPr>
              <a:spcAft>
                <a:spcPts val="800"/>
              </a:spcAft>
              <a:defRPr sz="1400">
                <a:latin typeface="Calibri"/>
              </a:defRPr>
            </a:pPr>
            <a:r>
              <a:rPr b="1">
                <a:solidFill>
                  <a:srgbClr val="1E293B"/>
                </a:solidFill>
              </a:rPr>
              <a:t>• Asignación DHCP Interna: </a:t>
            </a:r>
            <a:r>
              <a:rPr b="0">
                <a:solidFill>
                  <a:srgbClr val="1E293B"/>
                </a:solidFill>
              </a:rPr>
              <a:t>Docker gestiona internamente la asignación secuencial de IPs dentro del rango.</a:t>
            </a:r>
          </a:p>
        </p:txBody>
      </p:sp>
      <p:sp>
        <p:nvSpPr>
          <p:cNvPr id="5" name="Rounded Rectangle 4"/>
          <p:cNvSpPr/>
          <p:nvPr/>
        </p:nvSpPr>
        <p:spPr>
          <a:xfrm>
            <a:off x="6217920" y="1645920"/>
            <a:ext cx="5212080" cy="4572000"/>
          </a:xfrm>
          <a:prstGeom prst="roundRect">
            <a:avLst/>
          </a:prstGeom>
          <a:solidFill>
            <a:srgbClr val="FEF2F2"/>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La Gran Limitación: Sin Resolución DNS</a:t>
            </a:r>
          </a:p>
          <a:p>
            <a:pPr>
              <a:spcAft>
                <a:spcPts val="800"/>
              </a:spcAft>
              <a:defRPr sz="1400">
                <a:latin typeface="Calibri"/>
              </a:defRPr>
            </a:pPr>
            <a:r>
              <a:rPr b="1">
                <a:solidFill>
                  <a:srgbClr val="1E293B"/>
                </a:solidFill>
              </a:rPr>
              <a:t>• ¡No hay DNS Integrado!: </a:t>
            </a:r>
            <a:r>
              <a:rPr b="0">
                <a:solidFill>
                  <a:srgbClr val="1E293B"/>
                </a:solidFill>
              </a:rPr>
              <a:t>En la red bridge por defecto, dos contenedores NO pueden resolverse por su nombre (ej. `ping backend` fallará).</a:t>
            </a:r>
          </a:p>
          <a:p>
            <a:pPr>
              <a:spcAft>
                <a:spcPts val="800"/>
              </a:spcAft>
              <a:defRPr sz="1400">
                <a:latin typeface="Calibri"/>
              </a:defRPr>
            </a:pPr>
            <a:r>
              <a:rPr b="1">
                <a:solidFill>
                  <a:srgbClr val="1E293B"/>
                </a:solidFill>
              </a:rPr>
              <a:t>• Dependencia Frágil de IPs: </a:t>
            </a:r>
            <a:r>
              <a:rPr b="0">
                <a:solidFill>
                  <a:srgbClr val="1E293B"/>
                </a:solidFill>
              </a:rPr>
              <a:t>Si un contenedor se reinicia y cambia de `172.17.0.2` a `172.17.0.3`, la aplicación se rompe.</a:t>
            </a:r>
          </a:p>
          <a:p>
            <a:pPr>
              <a:spcAft>
                <a:spcPts val="800"/>
              </a:spcAft>
              <a:defRPr sz="1400">
                <a:latin typeface="Calibri"/>
              </a:defRPr>
            </a:pPr>
            <a:r>
              <a:rPr b="1">
                <a:solidFill>
                  <a:srgbClr val="1E293B"/>
                </a:solidFill>
              </a:rPr>
              <a:t>• Legacy Links (`--link`): </a:t>
            </a:r>
            <a:r>
              <a:rPr b="0">
                <a:solidFill>
                  <a:srgbClr val="1E293B"/>
                </a:solidFill>
              </a:rPr>
              <a:t>El mecanismo antiguo de inyectar variables en `/etc/hosts` está formalmente marcado como DEPRECATED.</a:t>
            </a:r>
          </a:p>
          <a:p>
            <a:pPr>
              <a:spcAft>
                <a:spcPts val="800"/>
              </a:spcAft>
              <a:defRPr sz="1400">
                <a:latin typeface="Calibri"/>
              </a:defRPr>
            </a:pPr>
            <a:r>
              <a:rPr b="1">
                <a:solidFill>
                  <a:srgbClr val="1E293B"/>
                </a:solidFill>
              </a:rPr>
              <a:t>• Solución Obligatoria: </a:t>
            </a:r>
            <a:r>
              <a:rPr b="0">
                <a:solidFill>
                  <a:srgbClr val="1E293B"/>
                </a:solidFill>
              </a:rPr>
              <a:t>Crear redes personalizadas (*User-Defined Bridges*).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25 / 81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2 • REDES</a:t>
            </a:r>
          </a:p>
          <a:p>
            <a:pPr>
              <a:defRPr sz="2800" b="1">
                <a:solidFill>
                  <a:srgbClr val="1E293B"/>
                </a:solidFill>
                <a:latin typeface="Calibri"/>
              </a:defRPr>
            </a:pPr>
            <a:r>
              <a:t>Redes Personalizadas: Resolución DNS Automática</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Beneficios de User-Defined Bridges</a:t>
            </a:r>
          </a:p>
          <a:p>
            <a:pPr>
              <a:spcAft>
                <a:spcPts val="800"/>
              </a:spcAft>
              <a:defRPr sz="1400">
                <a:latin typeface="Calibri"/>
              </a:defRPr>
            </a:pPr>
            <a:r>
              <a:rPr b="1">
                <a:solidFill>
                  <a:srgbClr val="1E293B"/>
                </a:solidFill>
              </a:rPr>
              <a:t>• Servidor DNS Embebido (`127.0.0.11`): </a:t>
            </a:r>
            <a:r>
              <a:rPr b="0">
                <a:solidFill>
                  <a:srgbClr val="1E293B"/>
                </a:solidFill>
              </a:rPr>
              <a:t>Docker levanta un daemon DNS interno que resuelve automáticamente el nombre del contenedor a su IP actual.</a:t>
            </a:r>
          </a:p>
          <a:p>
            <a:pPr>
              <a:spcAft>
                <a:spcPts val="800"/>
              </a:spcAft>
              <a:defRPr sz="1400">
                <a:latin typeface="Calibri"/>
              </a:defRPr>
            </a:pPr>
            <a:r>
              <a:rPr b="1">
                <a:solidFill>
                  <a:srgbClr val="1E293B"/>
                </a:solidFill>
              </a:rPr>
              <a:t>• Aislamiento por Diseño: </a:t>
            </a:r>
            <a:r>
              <a:rPr b="0">
                <a:solidFill>
                  <a:srgbClr val="1E293B"/>
                </a:solidFill>
              </a:rPr>
              <a:t>Contenedores en redes distintas no pueden comunicarse entre sí, incrementando la seguridad.</a:t>
            </a:r>
          </a:p>
          <a:p>
            <a:pPr>
              <a:spcAft>
                <a:spcPts val="800"/>
              </a:spcAft>
              <a:defRPr sz="1400">
                <a:latin typeface="Calibri"/>
              </a:defRPr>
            </a:pPr>
            <a:r>
              <a:rPr b="1">
                <a:solidFill>
                  <a:srgbClr val="1E293B"/>
                </a:solidFill>
              </a:rPr>
              <a:t>• Conexión en Caliente: </a:t>
            </a:r>
            <a:r>
              <a:rPr b="0">
                <a:solidFill>
                  <a:srgbClr val="1E293B"/>
                </a:solidFill>
              </a:rPr>
              <a:t>Posibilidad de conectar o desconectar contenedores de una red en tiempo de ejecución sin reiniciarlos (`docker network connect`).</a:t>
            </a:r>
          </a:p>
          <a:p>
            <a:pPr>
              <a:spcAft>
                <a:spcPts val="800"/>
              </a:spcAft>
              <a:defRPr sz="1400">
                <a:latin typeface="Calibri"/>
              </a:defRPr>
            </a:pPr>
            <a:r>
              <a:rPr b="1">
                <a:solidFill>
                  <a:srgbClr val="1E293B"/>
                </a:solidFill>
              </a:rPr>
              <a:t>• Alias de Red: </a:t>
            </a:r>
            <a:r>
              <a:rPr b="0">
                <a:solidFill>
                  <a:srgbClr val="1E293B"/>
                </a:solidFill>
              </a:rPr>
              <a:t>Posibilidad de asignar nombres secundarios a un contenedor (ej. `--network-alias db-principal`).</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Ejemplo de DNS Automático</a:t>
            </a:r>
          </a:p>
          <a:p>
            <a:pPr>
              <a:spcAft>
                <a:spcPts val="200"/>
              </a:spcAft>
              <a:defRPr sz="1100">
                <a:solidFill>
                  <a:srgbClr val="94A3B8"/>
                </a:solidFill>
                <a:latin typeface="Consolas"/>
              </a:defRPr>
            </a:pPr>
            <a:r>
              <a:t># 1. Crear red personalizada para la aplicación</a:t>
            </a:r>
          </a:p>
          <a:p>
            <a:pPr>
              <a:spcAft>
                <a:spcPts val="200"/>
              </a:spcAft>
              <a:defRPr sz="1100" b="1">
                <a:solidFill>
                  <a:srgbClr val="38BDF8"/>
                </a:solidFill>
                <a:latin typeface="Consolas"/>
              </a:defRPr>
            </a:pPr>
            <a:r>
              <a:t>$ docker network create red-interna</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2. Arrancar base de datos en dicha red</a:t>
            </a:r>
          </a:p>
          <a:p>
            <a:pPr>
              <a:spcAft>
                <a:spcPts val="200"/>
              </a:spcAft>
              <a:defRPr sz="1100" b="1">
                <a:solidFill>
                  <a:srgbClr val="38BDF8"/>
                </a:solidFill>
                <a:latin typeface="Consolas"/>
              </a:defRPr>
            </a:pPr>
            <a:r>
              <a:t>$ docker run -d --name mi-postgres \</a:t>
            </a:r>
          </a:p>
          <a:p>
            <a:pPr>
              <a:spcAft>
                <a:spcPts val="200"/>
              </a:spcAft>
              <a:defRPr sz="1100">
                <a:solidFill>
                  <a:srgbClr val="FFFFFF"/>
                </a:solidFill>
                <a:latin typeface="Consolas"/>
              </a:defRPr>
            </a:pPr>
            <a:r>
              <a:t>    --network red-interna \</a:t>
            </a:r>
          </a:p>
          <a:p>
            <a:pPr>
              <a:spcAft>
                <a:spcPts val="200"/>
              </a:spcAft>
              <a:defRPr sz="1100">
                <a:solidFill>
                  <a:srgbClr val="FFFFFF"/>
                </a:solidFill>
                <a:latin typeface="Consolas"/>
              </a:defRPr>
            </a:pPr>
            <a:r>
              <a:t>    -e POSTGRES_PASSWORD=secreto postgres:alpine</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3. Arrancar API en la misma red y resolver por nombre</a:t>
            </a:r>
          </a:p>
          <a:p>
            <a:pPr>
              <a:spcAft>
                <a:spcPts val="200"/>
              </a:spcAft>
              <a:defRPr sz="1100" b="1">
                <a:solidFill>
                  <a:srgbClr val="38BDF8"/>
                </a:solidFill>
                <a:latin typeface="Consolas"/>
              </a:defRPr>
            </a:pPr>
            <a:r>
              <a:t>$ docker run --rm --network red-interna alpine \</a:t>
            </a:r>
          </a:p>
          <a:p>
            <a:pPr>
              <a:spcAft>
                <a:spcPts val="200"/>
              </a:spcAft>
              <a:defRPr sz="1100">
                <a:solidFill>
                  <a:srgbClr val="FFFFFF"/>
                </a:solidFill>
                <a:latin typeface="Consolas"/>
              </a:defRPr>
            </a:pPr>
            <a:r>
              <a:t>    ping -c 2 mi-postgres</a:t>
            </a:r>
          </a:p>
          <a:p>
            <a:pPr>
              <a:spcAft>
                <a:spcPts val="200"/>
              </a:spcAft>
              <a:defRPr sz="1100">
                <a:solidFill>
                  <a:srgbClr val="FFFFFF"/>
                </a:solidFill>
                <a:latin typeface="Consolas"/>
              </a:defRPr>
            </a:pPr>
            <a:r>
              <a:t>PING mi-postgres (172.19.0.2): 56 data bytes</a:t>
            </a:r>
          </a:p>
          <a:p>
            <a:pPr>
              <a:spcAft>
                <a:spcPts val="200"/>
              </a:spcAft>
              <a:defRPr sz="1100">
                <a:solidFill>
                  <a:srgbClr val="FFFFFF"/>
                </a:solidFill>
                <a:latin typeface="Consolas"/>
              </a:defRPr>
            </a:pPr>
            <a:r>
              <a:t>64 bytes from 172.19.0.2: seq=0 ttl=64 time=0.082 ms</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¡Resolución DNS automática funcionando!</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26 / 81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2 • REDES</a:t>
            </a:r>
          </a:p>
          <a:p>
            <a:pPr>
              <a:defRPr sz="2800" b="1">
                <a:solidFill>
                  <a:srgbClr val="1E293B"/>
                </a:solidFill>
                <a:latin typeface="Calibri"/>
              </a:defRPr>
            </a:pPr>
            <a:r>
              <a:t>Mapeo de Puertos: Abriendo el Contenedor al Mundo</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La Diferencia entre -p y -P</a:t>
            </a:r>
          </a:p>
          <a:p>
            <a:pPr>
              <a:spcAft>
                <a:spcPts val="800"/>
              </a:spcAft>
              <a:defRPr sz="1400">
                <a:latin typeface="Calibri"/>
              </a:defRPr>
            </a:pPr>
            <a:r>
              <a:rPr b="1">
                <a:solidFill>
                  <a:srgbClr val="1E293B"/>
                </a:solidFill>
              </a:rPr>
              <a:t>• Mapeo Explícito (`-p [host_port]: </a:t>
            </a:r>
            <a:r>
              <a:rPr b="0">
                <a:solidFill>
                  <a:srgbClr val="1E293B"/>
                </a:solidFill>
              </a:rPr>
              <a:t>[container_port]`): Vincula un puerto específico del host a un puerto del contenedor (ej. `-p 80:80` o `-p 127.0.0.1:8080:80`).</a:t>
            </a:r>
          </a:p>
          <a:p>
            <a:pPr>
              <a:spcAft>
                <a:spcPts val="800"/>
              </a:spcAft>
              <a:defRPr sz="1400">
                <a:latin typeface="Calibri"/>
              </a:defRPr>
            </a:pPr>
            <a:r>
              <a:rPr b="1">
                <a:solidFill>
                  <a:srgbClr val="1E293B"/>
                </a:solidFill>
              </a:rPr>
              <a:t>• Mapeo Efímero (`-P` mayúscula): </a:t>
            </a:r>
            <a:r>
              <a:rPr b="0">
                <a:solidFill>
                  <a:srgbClr val="1E293B"/>
                </a:solidFill>
              </a:rPr>
              <a:t>Mapea todos los puertos definidos en las directivas `EXPOSE` del Dockerfile a puertos aleatorios del host (rango 32768-60999).</a:t>
            </a:r>
          </a:p>
          <a:p>
            <a:pPr>
              <a:spcAft>
                <a:spcPts val="800"/>
              </a:spcAft>
              <a:defRPr sz="1400">
                <a:latin typeface="Calibri"/>
              </a:defRPr>
            </a:pPr>
            <a:r>
              <a:rPr b="1">
                <a:solidFill>
                  <a:srgbClr val="1E293B"/>
                </a:solidFill>
              </a:rPr>
              <a:t>• Seguridad: </a:t>
            </a:r>
            <a:r>
              <a:rPr b="0">
                <a:solidFill>
                  <a:srgbClr val="1E293B"/>
                </a:solidFill>
              </a:rPr>
              <a:t>Si omites la IP del host (`-p 8080:80`), Docker escuchará en `0.0.0.0` (todas las interfaces, incluyendo Internet público). Para entornos de desarrollo local, fijar `-p 127.0.0.1:8080:80`.</a:t>
            </a:r>
          </a:p>
          <a:p>
            <a:pPr>
              <a:spcAft>
                <a:spcPts val="800"/>
              </a:spcAft>
              <a:defRPr sz="1400">
                <a:latin typeface="Calibri"/>
              </a:defRPr>
            </a:pPr>
            <a:r>
              <a:rPr b="1">
                <a:solidFill>
                  <a:srgbClr val="1E293B"/>
                </a:solidFill>
              </a:rPr>
              <a:t>• Mapeo de Protocolos: </a:t>
            </a:r>
            <a:r>
              <a:rPr b="0">
                <a:solidFill>
                  <a:srgbClr val="1E293B"/>
                </a:solidFill>
              </a:rPr>
              <a:t>Por defecto mapea TCP. Para UDP se debe especificar explícitamente `-p 53:53/udp`.</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Mecanismo Interno: iptables DNAT</a:t>
            </a:r>
          </a:p>
          <a:p>
            <a:pPr>
              <a:spcAft>
                <a:spcPts val="200"/>
              </a:spcAft>
              <a:defRPr sz="1100">
                <a:solidFill>
                  <a:srgbClr val="94A3B8"/>
                </a:solidFill>
                <a:latin typeface="Consolas"/>
              </a:defRPr>
            </a:pPr>
            <a:r>
              <a:t># ¿Cómo implementa Docker el mapeo en Linux?</a:t>
            </a:r>
          </a:p>
          <a:p>
            <a:pPr>
              <a:spcAft>
                <a:spcPts val="200"/>
              </a:spcAft>
              <a:defRPr sz="1100">
                <a:solidFill>
                  <a:srgbClr val="94A3B8"/>
                </a:solidFill>
                <a:latin typeface="Consolas"/>
              </a:defRPr>
            </a:pPr>
            <a:r>
              <a:t># Inserta reglas en la tabla NAT de iptables:</a:t>
            </a:r>
          </a:p>
          <a:p>
            <a:pPr>
              <a:spcAft>
                <a:spcPts val="200"/>
              </a:spcAft>
              <a:defRPr sz="1100" b="1">
                <a:solidFill>
                  <a:srgbClr val="38BDF8"/>
                </a:solidFill>
                <a:latin typeface="Consolas"/>
              </a:defRPr>
            </a:pPr>
            <a:r>
              <a:t>$ iptables -t nat -L DOCKER -n -v</a:t>
            </a:r>
          </a:p>
          <a:p>
            <a:pPr>
              <a:spcAft>
                <a:spcPts val="200"/>
              </a:spcAft>
              <a:defRPr sz="1100">
                <a:solidFill>
                  <a:srgbClr val="FFFFFF"/>
                </a:solidFill>
                <a:latin typeface="Consolas"/>
              </a:defRPr>
            </a:pPr>
          </a:p>
          <a:p>
            <a:pPr>
              <a:spcAft>
                <a:spcPts val="200"/>
              </a:spcAft>
              <a:defRPr sz="1100">
                <a:solidFill>
                  <a:srgbClr val="FFFFFF"/>
                </a:solidFill>
                <a:latin typeface="Consolas"/>
              </a:defRPr>
            </a:pPr>
            <a:r>
              <a:t>Chain DOCKER (2 references)</a:t>
            </a:r>
          </a:p>
          <a:p>
            <a:pPr>
              <a:spcAft>
                <a:spcPts val="200"/>
              </a:spcAft>
              <a:defRPr sz="1100">
                <a:solidFill>
                  <a:srgbClr val="FFFFFF"/>
                </a:solidFill>
                <a:latin typeface="Consolas"/>
              </a:defRPr>
            </a:pPr>
            <a:r>
              <a:t>pkts bytes target  prot opt in  out  source   destination</a:t>
            </a:r>
          </a:p>
          <a:p>
            <a:pPr>
              <a:spcAft>
                <a:spcPts val="200"/>
              </a:spcAft>
              <a:defRPr sz="1100">
                <a:solidFill>
                  <a:srgbClr val="FFFFFF"/>
                </a:solidFill>
                <a:latin typeface="Consolas"/>
              </a:defRPr>
            </a:pPr>
            <a:r>
              <a:t>  15   900 DNAT    tcp  --  *   *    0.0.0.0  0.0.0.0 \</a:t>
            </a:r>
          </a:p>
          <a:p>
            <a:pPr>
              <a:spcAft>
                <a:spcPts val="200"/>
              </a:spcAft>
              <a:defRPr sz="1100">
                <a:solidFill>
                  <a:srgbClr val="FFFFFF"/>
                </a:solidFill>
                <a:latin typeface="Consolas"/>
              </a:defRPr>
            </a:pPr>
            <a:r>
              <a:t>  tcp dpt:8080 to:172.18.0.2:80</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Demonio docker-proxy:</a:t>
            </a:r>
          </a:p>
          <a:p>
            <a:pPr>
              <a:spcAft>
                <a:spcPts val="200"/>
              </a:spcAft>
              <a:defRPr sz="1100">
                <a:solidFill>
                  <a:srgbClr val="94A3B8"/>
                </a:solidFill>
                <a:latin typeface="Consolas"/>
              </a:defRPr>
            </a:pPr>
            <a:r>
              <a:t># Para tráfico loopback, Docker utiliza un proceso</a:t>
            </a:r>
          </a:p>
          <a:p>
            <a:pPr>
              <a:spcAft>
                <a:spcPts val="200"/>
              </a:spcAft>
              <a:defRPr sz="1100">
                <a:solidFill>
                  <a:srgbClr val="94A3B8"/>
                </a:solidFill>
                <a:latin typeface="Consolas"/>
              </a:defRPr>
            </a:pPr>
            <a:r>
              <a:t># llamado docker-proxy para reenviar conexiones TCP.</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27 / 81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2 • REDES</a:t>
            </a:r>
          </a:p>
          <a:p>
            <a:pPr>
              <a:defRPr sz="2800" b="1">
                <a:solidFill>
                  <a:srgbClr val="1E293B"/>
                </a:solidFill>
                <a:latin typeface="Calibri"/>
              </a:defRPr>
            </a:pPr>
            <a:r>
              <a:t>Modo de Red Host: Rendimiento Máximo sin Aislamiento</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Características de `--network host`</a:t>
            </a:r>
          </a:p>
          <a:p>
            <a:pPr>
              <a:spcAft>
                <a:spcPts val="800"/>
              </a:spcAft>
              <a:defRPr sz="1400">
                <a:latin typeface="Calibri"/>
              </a:defRPr>
            </a:pPr>
            <a:r>
              <a:rPr b="1">
                <a:solidFill>
                  <a:srgbClr val="1E293B"/>
                </a:solidFill>
              </a:rPr>
              <a:t>• Sin Network Namespace: </a:t>
            </a:r>
            <a:r>
              <a:rPr b="0">
                <a:solidFill>
                  <a:srgbClr val="1E293B"/>
                </a:solidFill>
              </a:rPr>
              <a:t>El contenedor comparte directamente la pila de red del sistema operativo anfitrión.</a:t>
            </a:r>
          </a:p>
          <a:p>
            <a:pPr>
              <a:spcAft>
                <a:spcPts val="800"/>
              </a:spcAft>
              <a:defRPr sz="1400">
                <a:latin typeface="Calibri"/>
              </a:defRPr>
            </a:pPr>
            <a:r>
              <a:rPr b="1">
                <a:solidFill>
                  <a:srgbClr val="1E293B"/>
                </a:solidFill>
              </a:rPr>
              <a:t>• Cero Penalización de NAT: </a:t>
            </a:r>
            <a:r>
              <a:rPr b="0">
                <a:solidFill>
                  <a:srgbClr val="1E293B"/>
                </a:solidFill>
              </a:rPr>
              <a:t>No hay `veth`, no hay puente `docker0` ni reglas de `iptables`. Máximo throughput y menor latencia posible.</a:t>
            </a:r>
          </a:p>
          <a:p>
            <a:pPr>
              <a:spcAft>
                <a:spcPts val="800"/>
              </a:spcAft>
              <a:defRPr sz="1400">
                <a:latin typeface="Calibri"/>
              </a:defRPr>
            </a:pPr>
            <a:r>
              <a:rPr b="1">
                <a:solidFill>
                  <a:srgbClr val="1E293B"/>
                </a:solidFill>
              </a:rPr>
              <a:t>• Mapeo Innecesario: </a:t>
            </a:r>
            <a:r>
              <a:rPr b="0">
                <a:solidFill>
                  <a:srgbClr val="1E293B"/>
                </a:solidFill>
              </a:rPr>
              <a:t>Los flags `-p` y `-P` se ignoran. Si la aplicación escucha en el puerto 80, estará escuchando directamente en el puerto 80 del host.</a:t>
            </a:r>
          </a:p>
          <a:p>
            <a:pPr>
              <a:spcAft>
                <a:spcPts val="800"/>
              </a:spcAft>
              <a:defRPr sz="1400">
                <a:latin typeface="Calibri"/>
              </a:defRPr>
            </a:pPr>
            <a:r>
              <a:rPr b="1">
                <a:solidFill>
                  <a:srgbClr val="1E293B"/>
                </a:solidFill>
              </a:rPr>
              <a:t>• Limitación Crítica en Docker Desktop: </a:t>
            </a:r>
            <a:r>
              <a:rPr b="0">
                <a:solidFill>
                  <a:srgbClr val="1E293B"/>
                </a:solidFill>
              </a:rPr>
              <a:t>En Windows y macOS, `--network host` se conecta a la máquina virtual oculta de Linux, no al Windows/macOS real.</a:t>
            </a:r>
          </a:p>
        </p:txBody>
      </p:sp>
      <p:sp>
        <p:nvSpPr>
          <p:cNvPr id="5" name="Rounded Rectangle 4"/>
          <p:cNvSpPr/>
          <p:nvPr/>
        </p:nvSpPr>
        <p:spPr>
          <a:xfrm>
            <a:off x="6217920" y="1645920"/>
            <a:ext cx="5212080" cy="4572000"/>
          </a:xfrm>
          <a:prstGeom prst="roundRect">
            <a:avLst/>
          </a:prstGeom>
          <a:solidFill>
            <a:srgbClr val="FEF2F2"/>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Riesgos y Casos de Uso</a:t>
            </a:r>
          </a:p>
          <a:p>
            <a:pPr>
              <a:spcAft>
                <a:spcPts val="800"/>
              </a:spcAft>
              <a:defRPr sz="1400">
                <a:latin typeface="Calibri"/>
              </a:defRPr>
            </a:pPr>
            <a:r>
              <a:rPr b="1">
                <a:solidFill>
                  <a:srgbClr val="1E293B"/>
                </a:solidFill>
              </a:rPr>
              <a:t>• Colisión de Puertos: </a:t>
            </a:r>
            <a:r>
              <a:rPr b="0">
                <a:solidFill>
                  <a:srgbClr val="1E293B"/>
                </a:solidFill>
              </a:rPr>
              <a:t>No es posible ejecutar dos contenedores en modo host escuchando en el mismo puerto (el segundo fallará con `Address already in use`).</a:t>
            </a:r>
          </a:p>
          <a:p>
            <a:pPr>
              <a:spcAft>
                <a:spcPts val="800"/>
              </a:spcAft>
              <a:defRPr sz="1400">
                <a:latin typeface="Calibri"/>
              </a:defRPr>
            </a:pPr>
            <a:r>
              <a:rPr b="1">
                <a:solidFill>
                  <a:srgbClr val="1E293B"/>
                </a:solidFill>
              </a:rPr>
              <a:t>• Pérdida de Aislamiento: </a:t>
            </a:r>
            <a:r>
              <a:rPr b="0">
                <a:solidFill>
                  <a:srgbClr val="1E293B"/>
                </a:solidFill>
              </a:rPr>
              <a:t>El contenedor tiene acceso a todas las interfaces locales, incluyendo `localhost` del host y servicios sensibles.</a:t>
            </a:r>
          </a:p>
          <a:p>
            <a:pPr>
              <a:spcAft>
                <a:spcPts val="800"/>
              </a:spcAft>
              <a:defRPr sz="1400">
                <a:latin typeface="Calibri"/>
              </a:defRPr>
            </a:pPr>
            <a:r>
              <a:rPr b="1">
                <a:solidFill>
                  <a:srgbClr val="1E293B"/>
                </a:solidFill>
              </a:rPr>
              <a:t>• Casos de Uso Válidos: </a:t>
            </a:r>
            <a:r>
              <a:rPr b="0">
                <a:solidFill>
                  <a:srgbClr val="1E293B"/>
                </a:solidFill>
              </a:rPr>
              <a:t>Sistemas de monitorización de red (Prometheus node-exporter), proxies de altísima concurrencia, transmisiones multimedia RTP/WebRTC en tiempo real.</a:t>
            </a:r>
          </a:p>
          <a:p>
            <a:pPr>
              <a:spcAft>
                <a:spcPts val="800"/>
              </a:spcAft>
              <a:defRPr sz="1400">
                <a:latin typeface="Calibri"/>
              </a:defRPr>
            </a:pPr>
            <a:r>
              <a:rPr b="1">
                <a:solidFill>
                  <a:srgbClr val="1E293B"/>
                </a:solidFill>
              </a:rPr>
              <a:t>• Recomendación General: </a:t>
            </a:r>
            <a:r>
              <a:rPr b="0">
                <a:solidFill>
                  <a:srgbClr val="1E293B"/>
                </a:solidFill>
              </a:rPr>
              <a:t>Evitar en producción ordinaria salvo necesidad estricta de rendimiento extremo.</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28 / 81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2 • REDES</a:t>
            </a:r>
          </a:p>
          <a:p>
            <a:pPr>
              <a:defRPr sz="2800" b="1">
                <a:solidFill>
                  <a:srgbClr val="1E293B"/>
                </a:solidFill>
                <a:latin typeface="Calibri"/>
              </a:defRPr>
            </a:pPr>
            <a:r>
              <a:t>Modo de Red None: Aislamiento Total Offline</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Aislamiento Estricto (`--network none`)</a:t>
            </a:r>
          </a:p>
          <a:p>
            <a:pPr>
              <a:spcAft>
                <a:spcPts val="800"/>
              </a:spcAft>
              <a:defRPr sz="1400">
                <a:latin typeface="Calibri"/>
              </a:defRPr>
            </a:pPr>
            <a:r>
              <a:rPr b="1">
                <a:solidFill>
                  <a:srgbClr val="1E293B"/>
                </a:solidFill>
              </a:rPr>
              <a:t>• Desconexión Total: </a:t>
            </a:r>
            <a:r>
              <a:rPr b="0">
                <a:solidFill>
                  <a:srgbClr val="1E293B"/>
                </a:solidFill>
              </a:rPr>
              <a:t>El contenedor dispone de su propio Network Namespace, pero únicamente se configura la interfaz de bucle invertido (`lo` / `127.0.0.1`).</a:t>
            </a:r>
          </a:p>
          <a:p>
            <a:pPr>
              <a:spcAft>
                <a:spcPts val="800"/>
              </a:spcAft>
              <a:defRPr sz="1400">
                <a:latin typeface="Calibri"/>
              </a:defRPr>
            </a:pPr>
            <a:r>
              <a:rPr b="1">
                <a:solidFill>
                  <a:srgbClr val="1E293B"/>
                </a:solidFill>
              </a:rPr>
              <a:t>• Sin Puertos Externos: </a:t>
            </a:r>
            <a:r>
              <a:rPr b="0">
                <a:solidFill>
                  <a:srgbClr val="1E293B"/>
                </a:solidFill>
              </a:rPr>
              <a:t>Imposible enviar o recibir paquetes fuera del contenedor; sin acceso a Internet ni a otros contenedores.</a:t>
            </a:r>
          </a:p>
          <a:p>
            <a:pPr>
              <a:spcAft>
                <a:spcPts val="800"/>
              </a:spcAft>
              <a:defRPr sz="1400">
                <a:latin typeface="Calibri"/>
              </a:defRPr>
            </a:pPr>
            <a:r>
              <a:rPr b="1">
                <a:solidFill>
                  <a:srgbClr val="1E293B"/>
                </a:solidFill>
              </a:rPr>
              <a:t>• Seguridad Máxima contra Filtraciones: </a:t>
            </a:r>
            <a:r>
              <a:rPr b="0">
                <a:solidFill>
                  <a:srgbClr val="1E293B"/>
                </a:solidFill>
              </a:rPr>
              <a:t>Si el código es malicioso o vulnerable, no puede descargar payloads externos ni exfiltrar secretos por red.</a:t>
            </a:r>
          </a:p>
          <a:p>
            <a:pPr>
              <a:spcAft>
                <a:spcPts val="800"/>
              </a:spcAft>
              <a:defRPr sz="1400">
                <a:latin typeface="Calibri"/>
              </a:defRPr>
            </a:pPr>
            <a:r>
              <a:rPr b="1">
                <a:solidFill>
                  <a:srgbClr val="1E293B"/>
                </a:solidFill>
              </a:rPr>
              <a:t>• Configuración Manual Avanzada: </a:t>
            </a:r>
            <a:r>
              <a:rPr b="0">
                <a:solidFill>
                  <a:srgbClr val="1E293B"/>
                </a:solidFill>
              </a:rPr>
              <a:t>Permite a herramientas externas de orquestación inyectar interfaces de red personalizadas a posteriori.</a:t>
            </a:r>
          </a:p>
        </p:txBody>
      </p:sp>
      <p:sp>
        <p:nvSpPr>
          <p:cNvPr id="5" name="Rounded Rectangle 4"/>
          <p:cNvSpPr/>
          <p:nvPr/>
        </p:nvSpPr>
        <p:spPr>
          <a:xfrm>
            <a:off x="6217920" y="1645920"/>
            <a:ext cx="52120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Casos de Uso Típicos</a:t>
            </a:r>
          </a:p>
          <a:p>
            <a:pPr>
              <a:spcAft>
                <a:spcPts val="800"/>
              </a:spcAft>
              <a:defRPr sz="1400">
                <a:latin typeface="Calibri"/>
              </a:defRPr>
            </a:pPr>
            <a:r>
              <a:rPr b="1">
                <a:solidFill>
                  <a:srgbClr val="1E293B"/>
                </a:solidFill>
              </a:rPr>
              <a:t>• Procesamiento Batch Offline: </a:t>
            </a:r>
            <a:r>
              <a:rPr b="0">
                <a:solidFill>
                  <a:srgbClr val="1E293B"/>
                </a:solidFill>
              </a:rPr>
              <a:t>Procesamiento de archivos confidenciales, transcripciones médicas o cálculo numérico sin salida a Internet.</a:t>
            </a:r>
          </a:p>
          <a:p>
            <a:pPr>
              <a:spcAft>
                <a:spcPts val="800"/>
              </a:spcAft>
              <a:defRPr sz="1400">
                <a:latin typeface="Calibri"/>
              </a:defRPr>
            </a:pPr>
            <a:r>
              <a:rPr b="1">
                <a:solidFill>
                  <a:srgbClr val="1E293B"/>
                </a:solidFill>
              </a:rPr>
              <a:t>• Generación y Firma Criptográfica: </a:t>
            </a:r>
            <a:r>
              <a:rPr b="0">
                <a:solidFill>
                  <a:srgbClr val="1E293B"/>
                </a:solidFill>
              </a:rPr>
              <a:t>Módulos HSM de software, generación de claves PGP o carteras frías (air-gapped containers).</a:t>
            </a:r>
          </a:p>
          <a:p>
            <a:pPr>
              <a:spcAft>
                <a:spcPts val="800"/>
              </a:spcAft>
              <a:defRPr sz="1400">
                <a:latin typeface="Calibri"/>
              </a:defRPr>
            </a:pPr>
            <a:r>
              <a:rPr b="1">
                <a:solidFill>
                  <a:srgbClr val="1E293B"/>
                </a:solidFill>
              </a:rPr>
              <a:t>• Ejecución de Código No Confiable: </a:t>
            </a:r>
            <a:r>
              <a:rPr b="0">
                <a:solidFill>
                  <a:srgbClr val="1E293B"/>
                </a:solidFill>
              </a:rPr>
              <a:t>Sandboxing de scripts subidos por usuarios finales sin riesgo de ataques hacia la infraestructura interna.</a:t>
            </a:r>
          </a:p>
          <a:p>
            <a:pPr>
              <a:spcAft>
                <a:spcPts val="800"/>
              </a:spcAft>
              <a:defRPr sz="1400">
                <a:latin typeface="Calibri"/>
              </a:defRPr>
            </a:pPr>
            <a:r>
              <a:rPr b="1">
                <a:solidFill>
                  <a:srgbClr val="1E293B"/>
                </a:solidFill>
              </a:rPr>
              <a:t>• Inspección Forense: </a:t>
            </a:r>
            <a:r>
              <a:rPr b="0">
                <a:solidFill>
                  <a:srgbClr val="1E293B"/>
                </a:solidFill>
              </a:rPr>
              <a:t>Análisis de imágenes sospechosas sin permitir comunicación con centros de comando y control (C2).</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29 / 81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2 • REDES</a:t>
            </a:r>
          </a:p>
          <a:p>
            <a:pPr>
              <a:defRPr sz="2800" b="1">
                <a:solidFill>
                  <a:srgbClr val="1E293B"/>
                </a:solidFill>
                <a:latin typeface="Calibri"/>
              </a:defRPr>
            </a:pPr>
            <a:r>
              <a:t>Redes Overlay: Conectando Contenedores en Varios Hosts</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Superposición sobre Redes Físicas (VXLAN)</a:t>
            </a:r>
          </a:p>
          <a:p>
            <a:pPr>
              <a:spcAft>
                <a:spcPts val="800"/>
              </a:spcAft>
              <a:defRPr sz="1400">
                <a:latin typeface="Calibri"/>
              </a:defRPr>
            </a:pPr>
            <a:r>
              <a:rPr b="1">
                <a:solidFill>
                  <a:srgbClr val="1E293B"/>
                </a:solidFill>
              </a:rPr>
              <a:t>• El Reto Multi-Host: </a:t>
            </a:r>
            <a:r>
              <a:rPr b="0">
                <a:solidFill>
                  <a:srgbClr val="1E293B"/>
                </a:solidFill>
              </a:rPr>
              <a:t>La red bridge solo funciona en un único servidor. ¿Cómo comunicamos contenedores en servidores físicos diferentes?</a:t>
            </a:r>
          </a:p>
          <a:p>
            <a:pPr>
              <a:spcAft>
                <a:spcPts val="800"/>
              </a:spcAft>
              <a:defRPr sz="1400">
                <a:latin typeface="Calibri"/>
              </a:defRPr>
            </a:pPr>
            <a:r>
              <a:rPr b="1">
                <a:solidFill>
                  <a:srgbClr val="1E293B"/>
                </a:solidFill>
              </a:rPr>
              <a:t>• Encapsulación VXLAN: </a:t>
            </a:r>
            <a:r>
              <a:rPr b="0">
                <a:solidFill>
                  <a:srgbClr val="1E293B"/>
                </a:solidFill>
              </a:rPr>
              <a:t>La red overlay encapsula las tramas Ethernet L2 de los contenedores dentro de paquetes UDP estándar (puerto 4789).</a:t>
            </a:r>
          </a:p>
          <a:p>
            <a:pPr>
              <a:spcAft>
                <a:spcPts val="800"/>
              </a:spcAft>
              <a:defRPr sz="1400">
                <a:latin typeface="Calibri"/>
              </a:defRPr>
            </a:pPr>
            <a:r>
              <a:rPr b="1">
                <a:solidFill>
                  <a:srgbClr val="1E293B"/>
                </a:solidFill>
              </a:rPr>
              <a:t>• Criptografía Opcional: </a:t>
            </a:r>
            <a:r>
              <a:rPr b="0">
                <a:solidFill>
                  <a:srgbClr val="1E293B"/>
                </a:solidFill>
              </a:rPr>
              <a:t>Soporte nativo para cifrado IPsec en vuelo (`--opt encrypted`), protegiendo el tráfico entre nodos en la nube pública.</a:t>
            </a:r>
          </a:p>
          <a:p>
            <a:pPr>
              <a:spcAft>
                <a:spcPts val="800"/>
              </a:spcAft>
              <a:defRPr sz="1400">
                <a:latin typeface="Calibri"/>
              </a:defRPr>
            </a:pPr>
            <a:r>
              <a:rPr b="1">
                <a:solidFill>
                  <a:srgbClr val="1E293B"/>
                </a:solidFill>
              </a:rPr>
              <a:t>• Descubrimiento Distribuido: </a:t>
            </a:r>
            <a:r>
              <a:rPr b="0">
                <a:solidFill>
                  <a:srgbClr val="1E293B"/>
                </a:solidFill>
              </a:rPr>
              <a:t>Docker propaga la tabla de enrutamiento y nombres de contenedores entre todos los nodos del clúster.</a:t>
            </a:r>
          </a:p>
        </p:txBody>
      </p:sp>
      <p:sp>
        <p:nvSpPr>
          <p:cNvPr id="5" name="Rounded Rectangle 4"/>
          <p:cNvSpPr/>
          <p:nvPr/>
        </p:nvSpPr>
        <p:spPr>
          <a:xfrm>
            <a:off x="6217920" y="1645920"/>
            <a:ext cx="52120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Ámbitos de Aplicación</a:t>
            </a:r>
          </a:p>
          <a:p>
            <a:pPr>
              <a:spcAft>
                <a:spcPts val="800"/>
              </a:spcAft>
              <a:defRPr sz="1400">
                <a:latin typeface="Calibri"/>
              </a:defRPr>
            </a:pPr>
            <a:r>
              <a:rPr b="1">
                <a:solidFill>
                  <a:srgbClr val="1E293B"/>
                </a:solidFill>
              </a:rPr>
              <a:t>• Docker Swarm: </a:t>
            </a:r>
            <a:r>
              <a:rPr b="0">
                <a:solidFill>
                  <a:srgbClr val="1E293B"/>
                </a:solidFill>
              </a:rPr>
              <a:t>El driver `overlay` es el controlador nativo y estándar para desplegar servicios multi-nodo en Swarm.</a:t>
            </a:r>
          </a:p>
          <a:p>
            <a:pPr>
              <a:spcAft>
                <a:spcPts val="800"/>
              </a:spcAft>
              <a:defRPr sz="1400">
                <a:latin typeface="Calibri"/>
              </a:defRPr>
            </a:pPr>
            <a:r>
              <a:rPr b="1">
                <a:solidFill>
                  <a:srgbClr val="1E293B"/>
                </a:solidFill>
              </a:rPr>
              <a:t>• Kubernetes (K8s): </a:t>
            </a:r>
            <a:r>
              <a:rPr b="0">
                <a:solidFill>
                  <a:srgbClr val="1E293B"/>
                </a:solidFill>
              </a:rPr>
              <a:t>Utiliza plugins CNI basados en tecnologías de overlay similares (Calico, Flannel VXLAN, Cilium con eBPF).</a:t>
            </a:r>
          </a:p>
          <a:p>
            <a:pPr>
              <a:spcAft>
                <a:spcPts val="800"/>
              </a:spcAft>
              <a:defRPr sz="1400">
                <a:latin typeface="Calibri"/>
              </a:defRPr>
            </a:pPr>
            <a:r>
              <a:rPr b="1">
                <a:solidFill>
                  <a:srgbClr val="1E293B"/>
                </a:solidFill>
              </a:rPr>
              <a:t>• Independencia de la Infraestructura: </a:t>
            </a:r>
            <a:r>
              <a:rPr b="0">
                <a:solidFill>
                  <a:srgbClr val="1E293B"/>
                </a:solidFill>
              </a:rPr>
              <a:t>Los contenedores se comunican en una subred privada virtual (ej. `10.0.0.0/24`) con total abstracción de los switches físicos.</a:t>
            </a:r>
          </a:p>
          <a:p>
            <a:pPr>
              <a:spcAft>
                <a:spcPts val="800"/>
              </a:spcAft>
              <a:defRPr sz="1400">
                <a:latin typeface="Calibri"/>
              </a:defRPr>
            </a:pPr>
            <a:r>
              <a:rPr b="1">
                <a:solidFill>
                  <a:srgbClr val="1E293B"/>
                </a:solidFill>
              </a:rPr>
              <a:t>• Plan de Control Distribuido: </a:t>
            </a:r>
            <a:r>
              <a:rPr b="0">
                <a:solidFill>
                  <a:srgbClr val="1E293B"/>
                </a:solidFill>
              </a:rPr>
              <a:t>Utiliza protocolos gossip y consensus (Raft) para sincronizar IPs y estado entre los servidores.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30 / 81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2 • REDES</a:t>
            </a:r>
          </a:p>
          <a:p>
            <a:pPr>
              <a:defRPr sz="2800" b="1">
                <a:solidFill>
                  <a:srgbClr val="1E293B"/>
                </a:solidFill>
                <a:latin typeface="Calibri"/>
              </a:defRPr>
            </a:pPr>
            <a:r>
              <a:t>Macvlan y Complementos de Red (Network Plugins)</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Driver Macvlan: IP en la LAN Física</a:t>
            </a:r>
          </a:p>
          <a:p>
            <a:pPr>
              <a:spcAft>
                <a:spcPts val="800"/>
              </a:spcAft>
              <a:defRPr sz="1400">
                <a:latin typeface="Calibri"/>
              </a:defRPr>
            </a:pPr>
            <a:r>
              <a:rPr b="1">
                <a:solidFill>
                  <a:srgbClr val="1E293B"/>
                </a:solidFill>
              </a:rPr>
              <a:t>• Presencia Física Directa: </a:t>
            </a:r>
            <a:r>
              <a:rPr b="0">
                <a:solidFill>
                  <a:srgbClr val="1E293B"/>
                </a:solidFill>
              </a:rPr>
              <a:t>Cada contenedor obtiene una dirección MAC única e independiente y una IP asignada directamente por el router físico de la empresa.</a:t>
            </a:r>
          </a:p>
          <a:p>
            <a:pPr>
              <a:spcAft>
                <a:spcPts val="800"/>
              </a:spcAft>
              <a:defRPr sz="1400">
                <a:latin typeface="Calibri"/>
              </a:defRPr>
            </a:pPr>
            <a:r>
              <a:rPr b="1">
                <a:solidFill>
                  <a:srgbClr val="1E293B"/>
                </a:solidFill>
              </a:rPr>
              <a:t>• Sin NAT ni Port Mapping: </a:t>
            </a:r>
            <a:r>
              <a:rPr b="0">
                <a:solidFill>
                  <a:srgbClr val="1E293B"/>
                </a:solidFill>
              </a:rPr>
              <a:t>El contenedor aparece como un servidor físico más conectado al switch de la red de la oficina o del centro de datos.</a:t>
            </a:r>
          </a:p>
          <a:p>
            <a:pPr>
              <a:spcAft>
                <a:spcPts val="800"/>
              </a:spcAft>
              <a:defRPr sz="1400">
                <a:latin typeface="Calibri"/>
              </a:defRPr>
            </a:pPr>
            <a:r>
              <a:rPr b="1">
                <a:solidFill>
                  <a:srgbClr val="1E293B"/>
                </a:solidFill>
              </a:rPr>
              <a:t>• Migración de Aplicaciones Legacy: </a:t>
            </a:r>
            <a:r>
              <a:rPr b="0">
                <a:solidFill>
                  <a:srgbClr val="1E293B"/>
                </a:solidFill>
              </a:rPr>
              <a:t>Ideal para software antiguo que requiere comunicarse en subredes L2 específicas o que rechaza NAT.</a:t>
            </a:r>
          </a:p>
          <a:p>
            <a:pPr>
              <a:spcAft>
                <a:spcPts val="800"/>
              </a:spcAft>
              <a:defRPr sz="1400">
                <a:latin typeface="Calibri"/>
              </a:defRPr>
            </a:pPr>
            <a:r>
              <a:rPr b="1">
                <a:solidFill>
                  <a:srgbClr val="1E293B"/>
                </a:solidFill>
              </a:rPr>
              <a:t>• Requisito Modo Promiscuo: </a:t>
            </a:r>
            <a:r>
              <a:rPr b="0">
                <a:solidFill>
                  <a:srgbClr val="1E293B"/>
                </a:solidFill>
              </a:rPr>
              <a:t>La tarjeta física del host debe soportar modo promiscuo para aceptar múltiples direcciones MAC.</a:t>
            </a:r>
          </a:p>
        </p:txBody>
      </p:sp>
      <p:sp>
        <p:nvSpPr>
          <p:cNvPr id="5" name="Rounded Rectangle 4"/>
          <p:cNvSpPr/>
          <p:nvPr/>
        </p:nvSpPr>
        <p:spPr>
          <a:xfrm>
            <a:off x="6217920" y="1645920"/>
            <a:ext cx="52120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Complementos de Red y CNI</a:t>
            </a:r>
          </a:p>
          <a:p>
            <a:pPr>
              <a:spcAft>
                <a:spcPts val="800"/>
              </a:spcAft>
              <a:defRPr sz="1400">
                <a:latin typeface="Calibri"/>
              </a:defRPr>
            </a:pPr>
            <a:r>
              <a:rPr b="1">
                <a:solidFill>
                  <a:srgbClr val="1E293B"/>
                </a:solidFill>
              </a:rPr>
              <a:t>• Ecosistema Extensible: </a:t>
            </a:r>
            <a:r>
              <a:rPr b="0">
                <a:solidFill>
                  <a:srgbClr val="1E293B"/>
                </a:solidFill>
              </a:rPr>
              <a:t>Docker permite instalar plugins de terceros vía `docker plugin install`.</a:t>
            </a:r>
          </a:p>
          <a:p>
            <a:pPr>
              <a:spcAft>
                <a:spcPts val="800"/>
              </a:spcAft>
              <a:defRPr sz="1400">
                <a:latin typeface="Calibri"/>
              </a:defRPr>
            </a:pPr>
            <a:r>
              <a:rPr b="1">
                <a:solidFill>
                  <a:srgbClr val="1E293B"/>
                </a:solidFill>
              </a:rPr>
              <a:t>• Drivers CNI (Container Network Interface): </a:t>
            </a:r>
            <a:r>
              <a:rPr b="0">
                <a:solidFill>
                  <a:srgbClr val="1E293B"/>
                </a:solidFill>
              </a:rPr>
              <a:t>Estándar agnóstico de la CNCF para configurar interfaces de red en contenedores.</a:t>
            </a:r>
          </a:p>
          <a:p>
            <a:pPr>
              <a:spcAft>
                <a:spcPts val="800"/>
              </a:spcAft>
              <a:defRPr sz="1400">
                <a:latin typeface="Calibri"/>
              </a:defRPr>
            </a:pPr>
            <a:r>
              <a:rPr b="1">
                <a:solidFill>
                  <a:srgbClr val="1E293B"/>
                </a:solidFill>
              </a:rPr>
              <a:t>• Calico / Cilium: </a:t>
            </a:r>
            <a:r>
              <a:rPr b="0">
                <a:solidFill>
                  <a:srgbClr val="1E293B"/>
                </a:solidFill>
              </a:rPr>
              <a:t>Plugins avanzados que incorporan políticas de seguridad por software (Network Policies), cifrado WireGuard y enrutamiento BGP.</a:t>
            </a:r>
          </a:p>
          <a:p>
            <a:pPr>
              <a:spcAft>
                <a:spcPts val="800"/>
              </a:spcAft>
              <a:defRPr sz="1400">
                <a:latin typeface="Calibri"/>
              </a:defRPr>
            </a:pPr>
            <a:r>
              <a:rPr b="1">
                <a:solidFill>
                  <a:srgbClr val="1E293B"/>
                </a:solidFill>
              </a:rPr>
              <a:t>• Weave Net / Flannel: </a:t>
            </a:r>
            <a:r>
              <a:rPr b="0">
                <a:solidFill>
                  <a:srgbClr val="1E293B"/>
                </a:solidFill>
              </a:rPr>
              <a:t>Redes overlay de configuración rápida para entornos distribuidos.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31 / 81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DÍA 2 • PRÁCTICA</a:t>
            </a:r>
          </a:p>
          <a:p>
            <a:pPr>
              <a:defRPr sz="2800" b="1">
                <a:solidFill>
                  <a:srgbClr val="1E293B"/>
                </a:solidFill>
                <a:latin typeface="Calibri"/>
              </a:defRPr>
            </a:pPr>
            <a:r>
              <a:t>Laboratorio 2: Redes Personalizadas y DNS Embebido</a:t>
            </a:r>
          </a:p>
        </p:txBody>
      </p:sp>
      <p:sp>
        <p:nvSpPr>
          <p:cNvPr id="4" name="Rounded Rectangle 3"/>
          <p:cNvSpPr/>
          <p:nvPr/>
        </p:nvSpPr>
        <p:spPr>
          <a:xfrm>
            <a:off x="731520" y="1645920"/>
            <a:ext cx="106984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Objetivos y Pasos del Ejercicio Práctico</a:t>
            </a:r>
          </a:p>
          <a:p>
            <a:pPr>
              <a:spcAft>
                <a:spcPts val="1000"/>
              </a:spcAft>
              <a:defRPr sz="1400">
                <a:latin typeface="Calibri"/>
              </a:defRPr>
            </a:pPr>
            <a:r>
              <a:rPr b="1">
                <a:solidFill>
                  <a:srgbClr val="1E293B"/>
                </a:solidFill>
              </a:rPr>
              <a:t>• Paso 1: </a:t>
            </a:r>
            <a:r>
              <a:rPr b="0">
                <a:solidFill>
                  <a:srgbClr val="1E293B"/>
                </a:solidFill>
              </a:rPr>
              <a:t>Inspeccionar la red bridge por defecto (`docker network inspect bridge`) y comprobar que no resuelve nombres.</a:t>
            </a:r>
          </a:p>
          <a:p>
            <a:pPr>
              <a:spcAft>
                <a:spcPts val="1000"/>
              </a:spcAft>
              <a:defRPr sz="1400">
                <a:latin typeface="Calibri"/>
              </a:defRPr>
            </a:pPr>
            <a:r>
              <a:rPr b="1">
                <a:solidFill>
                  <a:srgbClr val="1E293B"/>
                </a:solidFill>
              </a:rPr>
              <a:t>• Paso 2: </a:t>
            </a:r>
            <a:r>
              <a:rPr b="0">
                <a:solidFill>
                  <a:srgbClr val="1E293B"/>
                </a:solidFill>
              </a:rPr>
              <a:t>Crear una red personalizada llamada `mi-red-app` (`docker network create --driver bridge mi-red-app`).</a:t>
            </a:r>
          </a:p>
          <a:p>
            <a:pPr>
              <a:spcAft>
                <a:spcPts val="1000"/>
              </a:spcAft>
              <a:defRPr sz="1400">
                <a:latin typeface="Calibri"/>
              </a:defRPr>
            </a:pPr>
            <a:r>
              <a:rPr b="1">
                <a:solidFill>
                  <a:srgbClr val="1E293B"/>
                </a:solidFill>
              </a:rPr>
              <a:t>• Paso 3: </a:t>
            </a:r>
            <a:r>
              <a:rPr b="0">
                <a:solidFill>
                  <a:srgbClr val="1E293B"/>
                </a:solidFill>
              </a:rPr>
              <a:t>Levantar un contenedor de base de datos Redis en `mi-red-app` (`docker run -d --name cache-redis --network mi-red-app redis:alpine`).</a:t>
            </a:r>
          </a:p>
          <a:p>
            <a:pPr>
              <a:spcAft>
                <a:spcPts val="1000"/>
              </a:spcAft>
              <a:defRPr sz="1400">
                <a:latin typeface="Calibri"/>
              </a:defRPr>
            </a:pPr>
            <a:r>
              <a:rPr b="1">
                <a:solidFill>
                  <a:srgbClr val="1E293B"/>
                </a:solidFill>
              </a:rPr>
              <a:t>• Paso 4: </a:t>
            </a:r>
            <a:r>
              <a:rPr b="0">
                <a:solidFill>
                  <a:srgbClr val="1E293B"/>
                </a:solidFill>
              </a:rPr>
              <a:t>Levantar un contenedor cliente en la misma red y comprobar la resolución de nombres DNS (`docker run --rm --network mi-red-app alpine ping -c 2 cache-redis`).</a:t>
            </a:r>
          </a:p>
          <a:p>
            <a:pPr>
              <a:spcAft>
                <a:spcPts val="1000"/>
              </a:spcAft>
              <a:defRPr sz="1400">
                <a:latin typeface="Calibri"/>
              </a:defRPr>
            </a:pPr>
            <a:r>
              <a:rPr b="1">
                <a:solidFill>
                  <a:srgbClr val="1E293B"/>
                </a:solidFill>
              </a:rPr>
              <a:t>• Paso 5: </a:t>
            </a:r>
            <a:r>
              <a:rPr b="0">
                <a:solidFill>
                  <a:srgbClr val="1E293B"/>
                </a:solidFill>
              </a:rPr>
              <a:t>Crear una segunda red `red-aislada` y verificar que los contenedores no pueden comunicarse entre redes distintas.</a:t>
            </a:r>
          </a:p>
          <a:p>
            <a:pPr>
              <a:spcAft>
                <a:spcPts val="1000"/>
              </a:spcAft>
              <a:defRPr sz="1400">
                <a:latin typeface="Calibri"/>
              </a:defRPr>
            </a:pPr>
            <a:r>
              <a:rPr b="1">
                <a:solidFill>
                  <a:srgbClr val="1E293B"/>
                </a:solidFill>
              </a:rPr>
              <a:t>• Paso 6: </a:t>
            </a:r>
            <a:r>
              <a:rPr b="0">
                <a:solidFill>
                  <a:srgbClr val="1E293B"/>
                </a:solidFill>
              </a:rPr>
              <a:t>Conectar en caliente un contenedor a dos redes mediante `docker network connect` y verificar la doble conectividad.</a:t>
            </a:r>
          </a:p>
          <a:p>
            <a:pPr>
              <a:spcAft>
                <a:spcPts val="1000"/>
              </a:spcAft>
              <a:defRPr sz="1400">
                <a:latin typeface="Calibri"/>
              </a:defRPr>
            </a:pPr>
            <a:r>
              <a:rPr b="1">
                <a:solidFill>
                  <a:srgbClr val="1E293B"/>
                </a:solidFill>
              </a:rPr>
              <a:t>• Paso 7: </a:t>
            </a:r>
            <a:r>
              <a:rPr b="0">
                <a:solidFill>
                  <a:srgbClr val="1E293B"/>
                </a:solidFill>
              </a:rPr>
              <a:t>Limpieza de redes y contenedores (`docker rm -f`, `docker network rm`).</a:t>
            </a:r>
          </a:p>
        </p:txBody>
      </p:sp>
      <p:sp>
        <p:nvSpPr>
          <p:cNvPr id="5" name="TextBox 4"/>
          <p:cNvSpPr txBox="1"/>
          <p:nvPr/>
        </p:nvSpPr>
        <p:spPr>
          <a:xfrm>
            <a:off x="10332720" y="6446520"/>
            <a:ext cx="1645920" cy="320040"/>
          </a:xfrm>
          <a:prstGeom prst="rect">
            <a:avLst/>
          </a:prstGeom>
          <a:noFill/>
        </p:spPr>
        <p:txBody>
          <a:bodyPr wrap="none" lIns="0" tIns="0" rIns="0" bIns="0">
            <a:spAutoFit/>
          </a:bodyPr>
          <a:lstStyle/>
          <a:p>
            <a:pPr algn="r">
              <a:defRPr sz="900">
                <a:solidFill>
                  <a:srgbClr val="0DB7ED"/>
                </a:solidFill>
                <a:latin typeface="Calibri"/>
              </a:defRPr>
            </a:pPr>
            <a:r>
              <a:t>32 / 81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D3A"/>
          </a:solidFill>
          <a:ln>
            <a:solidFill>
              <a:srgbClr val="0B1D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32720" cy="457200"/>
          </a:xfrm>
          <a:prstGeom prst="rect">
            <a:avLst/>
          </a:prstGeom>
          <a:noFill/>
        </p:spPr>
        <p:txBody>
          <a:bodyPr wrap="square">
            <a:spAutoFit/>
          </a:bodyPr>
          <a:lstStyle/>
          <a:p>
            <a:pPr>
              <a:defRPr sz="1300" b="1">
                <a:solidFill>
                  <a:srgbClr val="0DB7ED"/>
                </a:solidFill>
                <a:latin typeface="Calibri"/>
              </a:defRPr>
            </a:pPr>
            <a:r>
              <a:t>MÓDULO 3 • ALMACENAMIENTO</a:t>
            </a:r>
          </a:p>
        </p:txBody>
      </p:sp>
      <p:sp>
        <p:nvSpPr>
          <p:cNvPr id="4" name="TextBox 3"/>
          <p:cNvSpPr txBox="1"/>
          <p:nvPr/>
        </p:nvSpPr>
        <p:spPr>
          <a:xfrm>
            <a:off x="914400" y="1828800"/>
            <a:ext cx="10332720" cy="2194560"/>
          </a:xfrm>
          <a:prstGeom prst="rect">
            <a:avLst/>
          </a:prstGeom>
          <a:noFill/>
        </p:spPr>
        <p:txBody>
          <a:bodyPr wrap="square">
            <a:spAutoFit/>
          </a:bodyPr>
          <a:lstStyle/>
          <a:p>
            <a:pPr>
              <a:defRPr sz="4000" b="1">
                <a:solidFill>
                  <a:srgbClr val="FFFFFF"/>
                </a:solidFill>
                <a:latin typeface="Calibri"/>
              </a:defRPr>
            </a:pPr>
            <a:r>
              <a:t>MÓDULO 3: PERSISTENCIA Y VOLÚMENES</a:t>
            </a:r>
          </a:p>
        </p:txBody>
      </p:sp>
      <p:sp>
        <p:nvSpPr>
          <p:cNvPr id="5" name="TextBox 4"/>
          <p:cNvSpPr txBox="1"/>
          <p:nvPr/>
        </p:nvSpPr>
        <p:spPr>
          <a:xfrm>
            <a:off x="914400" y="4114800"/>
            <a:ext cx="10332720" cy="1645920"/>
          </a:xfrm>
          <a:prstGeom prst="rect">
            <a:avLst/>
          </a:prstGeom>
          <a:noFill/>
        </p:spPr>
        <p:txBody>
          <a:bodyPr wrap="square">
            <a:spAutoFit/>
          </a:bodyPr>
          <a:lstStyle/>
          <a:p>
            <a:pPr>
              <a:defRPr sz="2000">
                <a:solidFill>
                  <a:srgbClr val="64748B"/>
                </a:solidFill>
                <a:latin typeface="Calibri"/>
              </a:defRPr>
            </a:pPr>
            <a:r>
              <a:t>Mecanismos de Persistencia: Storage Drivers (Overlay2), Bind Mounts, Named Volumes y Tmpfs</a:t>
            </a:r>
            <a:br/>
            <a:r>
              <a:t>Segunda mitad del Día 2 (2.5 Horas)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33 / 81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3 • ALMACENAMIENTO</a:t>
            </a:r>
          </a:p>
          <a:p>
            <a:pPr>
              <a:defRPr sz="2800" b="1">
                <a:solidFill>
                  <a:srgbClr val="1E293B"/>
                </a:solidFill>
                <a:latin typeface="Calibri"/>
              </a:defRPr>
            </a:pPr>
            <a:r>
              <a:t>El Reto de los Datos: Efímero vs Persistente</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La Naturaleza Efímera del Contenedor</a:t>
            </a:r>
          </a:p>
          <a:p>
            <a:pPr>
              <a:spcAft>
                <a:spcPts val="800"/>
              </a:spcAft>
              <a:defRPr sz="1400">
                <a:latin typeface="Calibri"/>
              </a:defRPr>
            </a:pPr>
            <a:r>
              <a:rPr b="1">
                <a:solidFill>
                  <a:srgbClr val="1E293B"/>
                </a:solidFill>
              </a:rPr>
              <a:t>• Contenedores Desechables: </a:t>
            </a:r>
            <a:r>
              <a:rPr b="0">
                <a:solidFill>
                  <a:srgbClr val="1E293B"/>
                </a:solidFill>
              </a:rPr>
              <a:t>Los contenedores deben poder pararse, destruirse y recrearse sin temor a perder información valiosa.</a:t>
            </a:r>
          </a:p>
          <a:p>
            <a:pPr>
              <a:spcAft>
                <a:spcPts val="800"/>
              </a:spcAft>
              <a:defRPr sz="1400">
                <a:latin typeface="Calibri"/>
              </a:defRPr>
            </a:pPr>
            <a:r>
              <a:rPr b="1">
                <a:solidFill>
                  <a:srgbClr val="1E293B"/>
                </a:solidFill>
              </a:rPr>
              <a:t>• La Capa R/W no es para Datos Críticos: </a:t>
            </a:r>
            <a:r>
              <a:rPr b="0">
                <a:solidFill>
                  <a:srgbClr val="1E293B"/>
                </a:solidFill>
              </a:rPr>
              <a:t>La capa de escritura del contenedor añade sobrecarga de rendimiento por el mecanismo Copy-on-Write.</a:t>
            </a:r>
          </a:p>
          <a:p>
            <a:pPr>
              <a:spcAft>
                <a:spcPts val="800"/>
              </a:spcAft>
              <a:defRPr sz="1400">
                <a:latin typeface="Calibri"/>
              </a:defRPr>
            </a:pPr>
            <a:r>
              <a:rPr b="1">
                <a:solidFill>
                  <a:srgbClr val="1E293B"/>
                </a:solidFill>
              </a:rPr>
              <a:t>• Riesgo de Pérdida Accidental: </a:t>
            </a:r>
            <a:r>
              <a:rPr b="0">
                <a:solidFill>
                  <a:srgbClr val="1E293B"/>
                </a:solidFill>
              </a:rPr>
              <a:t>Ejecutar `docker rm -f` elimina la capa R/W para siempre sin opción a recuperación.</a:t>
            </a:r>
          </a:p>
          <a:p>
            <a:pPr>
              <a:spcAft>
                <a:spcPts val="800"/>
              </a:spcAft>
              <a:defRPr sz="1400">
                <a:latin typeface="Calibri"/>
              </a:defRPr>
            </a:pPr>
            <a:r>
              <a:rPr b="1">
                <a:solidFill>
                  <a:srgbClr val="1E293B"/>
                </a:solidFill>
              </a:rPr>
              <a:t>• Dificultad de Backup: </a:t>
            </a:r>
            <a:r>
              <a:rPr b="0">
                <a:solidFill>
                  <a:srgbClr val="1E293B"/>
                </a:solidFill>
              </a:rPr>
              <a:t>Es complejo extraer datos masivos desde las capas internas de un storage driver en producción.</a:t>
            </a:r>
          </a:p>
        </p:txBody>
      </p:sp>
      <p:sp>
        <p:nvSpPr>
          <p:cNvPr id="5" name="Rounded Rectangle 4"/>
          <p:cNvSpPr/>
          <p:nvPr/>
        </p:nvSpPr>
        <p:spPr>
          <a:xfrm>
            <a:off x="6217920" y="1645920"/>
            <a:ext cx="52120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La Solución: Datos Fuera del Ciclo de Vida</a:t>
            </a:r>
          </a:p>
          <a:p>
            <a:pPr>
              <a:spcAft>
                <a:spcPts val="800"/>
              </a:spcAft>
              <a:defRPr sz="1400">
                <a:latin typeface="Calibri"/>
              </a:defRPr>
            </a:pPr>
            <a:r>
              <a:rPr b="1">
                <a:solidFill>
                  <a:srgbClr val="1E293B"/>
                </a:solidFill>
              </a:rPr>
              <a:t>• Desacoplamiento Almacenamiento-Cómputo: </a:t>
            </a:r>
            <a:r>
              <a:rPr b="0">
                <a:solidFill>
                  <a:srgbClr val="1E293B"/>
                </a:solidFill>
              </a:rPr>
              <a:t>Los datos deben residir en volúmenes independientes del contenedor.</a:t>
            </a:r>
          </a:p>
          <a:p>
            <a:pPr>
              <a:spcAft>
                <a:spcPts val="800"/>
              </a:spcAft>
              <a:defRPr sz="1400">
                <a:latin typeface="Calibri"/>
              </a:defRPr>
            </a:pPr>
            <a:r>
              <a:rPr b="1">
                <a:solidFill>
                  <a:srgbClr val="1E293B"/>
                </a:solidFill>
              </a:rPr>
              <a:t>• Rendimiento de E/S Nativo: </a:t>
            </a:r>
            <a:r>
              <a:rPr b="0">
                <a:solidFill>
                  <a:srgbClr val="1E293B"/>
                </a:solidFill>
              </a:rPr>
              <a:t>Los volúmenes omiten el Storage Driver y escriben directamente a la velocidad nativa del disco del host.</a:t>
            </a:r>
          </a:p>
          <a:p>
            <a:pPr>
              <a:spcAft>
                <a:spcPts val="800"/>
              </a:spcAft>
              <a:defRPr sz="1400">
                <a:latin typeface="Calibri"/>
              </a:defRPr>
            </a:pPr>
            <a:r>
              <a:rPr b="1">
                <a:solidFill>
                  <a:srgbClr val="1E293B"/>
                </a:solidFill>
              </a:rPr>
              <a:t>• Compartición de Datos: </a:t>
            </a:r>
            <a:r>
              <a:rPr b="0">
                <a:solidFill>
                  <a:srgbClr val="1E293B"/>
                </a:solidFill>
              </a:rPr>
              <a:t>Varios contenedores pueden montar el mismo volumen de forma simultánea (ej. un contenedor escribe logs y otro los procesa).</a:t>
            </a:r>
          </a:p>
          <a:p>
            <a:pPr>
              <a:spcAft>
                <a:spcPts val="800"/>
              </a:spcAft>
              <a:defRPr sz="1400">
                <a:latin typeface="Calibri"/>
              </a:defRPr>
            </a:pPr>
            <a:r>
              <a:rPr b="1">
                <a:solidFill>
                  <a:srgbClr val="1E293B"/>
                </a:solidFill>
              </a:rPr>
              <a:t>• Persistencia Garantizada: </a:t>
            </a:r>
            <a:r>
              <a:rPr b="0">
                <a:solidFill>
                  <a:srgbClr val="1E293B"/>
                </a:solidFill>
              </a:rPr>
              <a:t>Si el contenedor muere, los datos permanecen intactos en el almacenamiento.</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34 / 81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3 • ALMACENAMIENTO</a:t>
            </a:r>
          </a:p>
          <a:p>
            <a:pPr>
              <a:defRPr sz="2800" b="1">
                <a:solidFill>
                  <a:srgbClr val="1E293B"/>
                </a:solidFill>
                <a:latin typeface="Calibri"/>
              </a:defRPr>
            </a:pPr>
            <a:r>
              <a:t>Overlay2 a Fondo: La Magia del Union File System</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Los 4 Directorios Clave de Overlay2</a:t>
            </a:r>
          </a:p>
          <a:p>
            <a:pPr>
              <a:spcAft>
                <a:spcPts val="800"/>
              </a:spcAft>
              <a:defRPr sz="1400">
                <a:latin typeface="Calibri"/>
              </a:defRPr>
            </a:pPr>
            <a:r>
              <a:rPr b="1">
                <a:solidFill>
                  <a:srgbClr val="1E293B"/>
                </a:solidFill>
              </a:rPr>
              <a:t>• `lowerdir`: </a:t>
            </a:r>
            <a:r>
              <a:rPr b="0">
                <a:solidFill>
                  <a:srgbClr val="1E293B"/>
                </a:solidFill>
              </a:rPr>
              <a:t>Colección de directorios de solo lectura correspondientes a cada una de las capas de la imagen.</a:t>
            </a:r>
          </a:p>
          <a:p>
            <a:pPr>
              <a:spcAft>
                <a:spcPts val="800"/>
              </a:spcAft>
              <a:defRPr sz="1400">
                <a:latin typeface="Calibri"/>
              </a:defRPr>
            </a:pPr>
            <a:r>
              <a:rPr b="1">
                <a:solidFill>
                  <a:srgbClr val="1E293B"/>
                </a:solidFill>
              </a:rPr>
              <a:t>• `upperdir`: </a:t>
            </a:r>
            <a:r>
              <a:rPr b="0">
                <a:solidFill>
                  <a:srgbClr val="1E293B"/>
                </a:solidFill>
              </a:rPr>
              <a:t>Directorio de lectura/escritura propio y exclusivo del contenedor activo.</a:t>
            </a:r>
          </a:p>
          <a:p>
            <a:pPr>
              <a:spcAft>
                <a:spcPts val="800"/>
              </a:spcAft>
              <a:defRPr sz="1400">
                <a:latin typeface="Calibri"/>
              </a:defRPr>
            </a:pPr>
            <a:r>
              <a:rPr b="1">
                <a:solidFill>
                  <a:srgbClr val="1E293B"/>
                </a:solidFill>
              </a:rPr>
              <a:t>• `workdir`: </a:t>
            </a:r>
            <a:r>
              <a:rPr b="0">
                <a:solidFill>
                  <a:srgbClr val="1E293B"/>
                </a:solidFill>
              </a:rPr>
              <a:t>Directorio interno que utiliza Linux para preparar archivos antes de hacer la operación atómica de copia hacia el upperdir.</a:t>
            </a:r>
          </a:p>
          <a:p>
            <a:pPr>
              <a:spcAft>
                <a:spcPts val="800"/>
              </a:spcAft>
              <a:defRPr sz="1400">
                <a:latin typeface="Calibri"/>
              </a:defRPr>
            </a:pPr>
            <a:r>
              <a:rPr b="1">
                <a:solidFill>
                  <a:srgbClr val="1E293B"/>
                </a:solidFill>
              </a:rPr>
              <a:t>• `merged`: </a:t>
            </a:r>
            <a:r>
              <a:rPr b="0">
                <a:solidFill>
                  <a:srgbClr val="1E293B"/>
                </a:solidFill>
              </a:rPr>
              <a:t>El punto de montaje unificado que ve el proceso del contenedor en `/`. Superpone el `upperdir` sobre los `lowerdir`.</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Estructura de Grafos en Disco</a:t>
            </a:r>
          </a:p>
          <a:p>
            <a:pPr>
              <a:spcAft>
                <a:spcPts val="200"/>
              </a:spcAft>
              <a:defRPr sz="1100">
                <a:solidFill>
                  <a:srgbClr val="94A3B8"/>
                </a:solidFill>
                <a:latin typeface="Consolas"/>
              </a:defRPr>
            </a:pPr>
            <a:r>
              <a:t># Inspeccionar los directorios de Overlay2 en un contenedor</a:t>
            </a:r>
          </a:p>
          <a:p>
            <a:pPr>
              <a:spcAft>
                <a:spcPts val="200"/>
              </a:spcAft>
              <a:defRPr sz="1100" b="1">
                <a:solidFill>
                  <a:srgbClr val="38BDF8"/>
                </a:solidFill>
                <a:latin typeface="Consolas"/>
              </a:defRPr>
            </a:pPr>
            <a:r>
              <a:t>$ docker inspect -f '{{json .GraphDriver.Data}}' mi-contenedor</a:t>
            </a:r>
          </a:p>
          <a:p>
            <a:pPr>
              <a:spcAft>
                <a:spcPts val="200"/>
              </a:spcAft>
              <a:defRPr sz="1100">
                <a:solidFill>
                  <a:srgbClr val="FFFFFF"/>
                </a:solidFill>
                <a:latin typeface="Consolas"/>
              </a:defRPr>
            </a:pPr>
            <a:r>
              <a:t>{</a:t>
            </a:r>
          </a:p>
          <a:p>
            <a:pPr>
              <a:spcAft>
                <a:spcPts val="200"/>
              </a:spcAft>
              <a:defRPr sz="1100">
                <a:solidFill>
                  <a:srgbClr val="FFFFFF"/>
                </a:solidFill>
                <a:latin typeface="Consolas"/>
              </a:defRPr>
            </a:pPr>
            <a:r>
              <a:t>  "LowerDir": "/var/lib/docker/overlay2/abc.../diff:...",</a:t>
            </a:r>
          </a:p>
          <a:p>
            <a:pPr>
              <a:spcAft>
                <a:spcPts val="200"/>
              </a:spcAft>
              <a:defRPr sz="1100">
                <a:solidFill>
                  <a:srgbClr val="FFFFFF"/>
                </a:solidFill>
                <a:latin typeface="Consolas"/>
              </a:defRPr>
            </a:pPr>
            <a:r>
              <a:t>  "MergedDir": "/var/lib/docker/overlay2/def.../merged",</a:t>
            </a:r>
          </a:p>
          <a:p>
            <a:pPr>
              <a:spcAft>
                <a:spcPts val="200"/>
              </a:spcAft>
              <a:defRPr sz="1100">
                <a:solidFill>
                  <a:srgbClr val="FFFFFF"/>
                </a:solidFill>
                <a:latin typeface="Consolas"/>
              </a:defRPr>
            </a:pPr>
            <a:r>
              <a:t>  "UpperDir": "/var/lib/docker/overlay2/def.../diff",</a:t>
            </a:r>
          </a:p>
          <a:p>
            <a:pPr>
              <a:spcAft>
                <a:spcPts val="200"/>
              </a:spcAft>
              <a:defRPr sz="1100">
                <a:solidFill>
                  <a:srgbClr val="FFFFFF"/>
                </a:solidFill>
                <a:latin typeface="Consolas"/>
              </a:defRPr>
            </a:pPr>
            <a:r>
              <a:t>  "WorkDir": "/var/lib/docker/overlay2/def.../work"</a:t>
            </a:r>
          </a:p>
          <a:p>
            <a:pPr>
              <a:spcAft>
                <a:spcPts val="200"/>
              </a:spcAft>
              <a:defRPr sz="1100">
                <a:solidFill>
                  <a:srgbClr val="FFFFFF"/>
                </a:solidFill>
                <a:latin typeface="Consolas"/>
              </a:defRPr>
            </a:pPr>
            <a:r>
              <a:t>}</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Cómo funciona la eliminación de un archivo:</a:t>
            </a:r>
          </a:p>
          <a:p>
            <a:pPr>
              <a:spcAft>
                <a:spcPts val="200"/>
              </a:spcAft>
              <a:defRPr sz="1100">
                <a:solidFill>
                  <a:srgbClr val="94A3B8"/>
                </a:solidFill>
                <a:latin typeface="Consolas"/>
              </a:defRPr>
            </a:pPr>
            <a:r>
              <a:t># Si el contenedor borra un archivo de la imagen base,</a:t>
            </a:r>
          </a:p>
          <a:p>
            <a:pPr>
              <a:spcAft>
                <a:spcPts val="200"/>
              </a:spcAft>
              <a:defRPr sz="1100">
                <a:solidFill>
                  <a:srgbClr val="94A3B8"/>
                </a:solidFill>
                <a:latin typeface="Consolas"/>
              </a:defRPr>
            </a:pPr>
            <a:r>
              <a:t># Overlay2 crea un archivo especial 'whiteout' (cdev 0,0)</a:t>
            </a:r>
          </a:p>
          <a:p>
            <a:pPr>
              <a:spcAft>
                <a:spcPts val="200"/>
              </a:spcAft>
              <a:defRPr sz="1100">
                <a:solidFill>
                  <a:srgbClr val="94A3B8"/>
                </a:solidFill>
                <a:latin typeface="Consolas"/>
              </a:defRPr>
            </a:pPr>
            <a:r>
              <a:t># en el upperdir que oculta el archivo del lowerdir.</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35 / 81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3 • ALMACENAMIENTO</a:t>
            </a:r>
          </a:p>
          <a:p>
            <a:pPr>
              <a:defRPr sz="2800" b="1">
                <a:solidFill>
                  <a:srgbClr val="1E293B"/>
                </a:solidFill>
                <a:latin typeface="Calibri"/>
              </a:defRPr>
            </a:pPr>
            <a:r>
              <a:t>Mecanismos de Persistencia: Volumes, Binds y Tmpfs</a:t>
            </a:r>
          </a:p>
        </p:txBody>
      </p:sp>
      <p:sp>
        <p:nvSpPr>
          <p:cNvPr id="4" name="Rounded Rectangle 3"/>
          <p:cNvSpPr/>
          <p:nvPr/>
        </p:nvSpPr>
        <p:spPr>
          <a:xfrm>
            <a:off x="731520" y="1645920"/>
            <a:ext cx="33832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Named Volumes</a:t>
            </a:r>
          </a:p>
          <a:p>
            <a:pPr>
              <a:spcAft>
                <a:spcPts val="800"/>
              </a:spcAft>
              <a:defRPr sz="1300">
                <a:latin typeface="Calibri"/>
              </a:defRPr>
            </a:pPr>
            <a:r>
              <a:rPr b="1">
                <a:solidFill>
                  <a:srgbClr val="1E293B"/>
                </a:solidFill>
              </a:rPr>
              <a:t>• Ubicación: </a:t>
            </a:r>
            <a:r>
              <a:rPr b="0">
                <a:solidFill>
                  <a:srgbClr val="1E293B"/>
                </a:solidFill>
              </a:rPr>
              <a:t>`/var/lib/docker/volumes/`.</a:t>
            </a:r>
          </a:p>
          <a:p>
            <a:pPr>
              <a:spcAft>
                <a:spcPts val="800"/>
              </a:spcAft>
              <a:defRPr sz="1300">
                <a:latin typeface="Calibri"/>
              </a:defRPr>
            </a:pPr>
            <a:r>
              <a:rPr b="1">
                <a:solidFill>
                  <a:srgbClr val="1E293B"/>
                </a:solidFill>
              </a:rPr>
              <a:t>• Gestión: </a:t>
            </a:r>
            <a:r>
              <a:rPr b="0">
                <a:solidFill>
                  <a:srgbClr val="1E293B"/>
                </a:solidFill>
              </a:rPr>
              <a:t>Completamente administrado por Docker.</a:t>
            </a:r>
          </a:p>
          <a:p>
            <a:pPr>
              <a:spcAft>
                <a:spcPts val="800"/>
              </a:spcAft>
              <a:defRPr sz="1300">
                <a:latin typeface="Calibri"/>
              </a:defRPr>
            </a:pPr>
            <a:r>
              <a:rPr b="1">
                <a:solidFill>
                  <a:srgbClr val="1E293B"/>
                </a:solidFill>
              </a:rPr>
              <a:t>• Seguridad: </a:t>
            </a:r>
            <a:r>
              <a:rPr b="0">
                <a:solidFill>
                  <a:srgbClr val="1E293B"/>
                </a:solidFill>
              </a:rPr>
              <a:t>Aislado del acceso directo de usuarios del host.</a:t>
            </a:r>
          </a:p>
          <a:p>
            <a:pPr>
              <a:spcAft>
                <a:spcPts val="800"/>
              </a:spcAft>
              <a:defRPr sz="1300">
                <a:latin typeface="Calibri"/>
              </a:defRPr>
            </a:pPr>
            <a:r>
              <a:rPr b="1">
                <a:solidFill>
                  <a:srgbClr val="1E293B"/>
                </a:solidFill>
              </a:rPr>
              <a:t>• Drivers: </a:t>
            </a:r>
            <a:r>
              <a:rPr b="0">
                <a:solidFill>
                  <a:srgbClr val="1E293B"/>
                </a:solidFill>
              </a:rPr>
              <a:t>Soporta plugins de cloud y almacenamiento en red.</a:t>
            </a:r>
          </a:p>
          <a:p>
            <a:pPr>
              <a:spcAft>
                <a:spcPts val="800"/>
              </a:spcAft>
              <a:defRPr sz="1300">
                <a:latin typeface="Calibri"/>
              </a:defRPr>
            </a:pPr>
            <a:r>
              <a:rPr b="1">
                <a:solidFill>
                  <a:srgbClr val="1E293B"/>
                </a:solidFill>
              </a:rPr>
              <a:t>• Recomendado: </a:t>
            </a:r>
            <a:r>
              <a:rPr b="0">
                <a:solidFill>
                  <a:srgbClr val="1E293B"/>
                </a:solidFill>
              </a:rPr>
              <a:t>Bases de datos y almacenamiento en producción.</a:t>
            </a:r>
          </a:p>
        </p:txBody>
      </p:sp>
      <p:sp>
        <p:nvSpPr>
          <p:cNvPr id="5" name="Rounded Rectangle 4"/>
          <p:cNvSpPr/>
          <p:nvPr/>
        </p:nvSpPr>
        <p:spPr>
          <a:xfrm>
            <a:off x="4389120" y="1645920"/>
            <a:ext cx="33832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Bind Mounts</a:t>
            </a:r>
          </a:p>
          <a:p>
            <a:pPr>
              <a:spcAft>
                <a:spcPts val="800"/>
              </a:spcAft>
              <a:defRPr sz="1300">
                <a:latin typeface="Calibri"/>
              </a:defRPr>
            </a:pPr>
            <a:r>
              <a:rPr b="1">
                <a:solidFill>
                  <a:srgbClr val="1E293B"/>
                </a:solidFill>
              </a:rPr>
              <a:t>• Ubicación: </a:t>
            </a:r>
            <a:r>
              <a:rPr b="0">
                <a:solidFill>
                  <a:srgbClr val="1E293B"/>
                </a:solidFill>
              </a:rPr>
              <a:t>Cualquier ruta del host (ej. `/home/user/app`).</a:t>
            </a:r>
          </a:p>
          <a:p>
            <a:pPr>
              <a:spcAft>
                <a:spcPts val="800"/>
              </a:spcAft>
              <a:defRPr sz="1300">
                <a:latin typeface="Calibri"/>
              </a:defRPr>
            </a:pPr>
            <a:r>
              <a:rPr b="1">
                <a:solidFill>
                  <a:srgbClr val="1E293B"/>
                </a:solidFill>
              </a:rPr>
              <a:t>• Gestión: </a:t>
            </a:r>
            <a:r>
              <a:rPr b="0">
                <a:solidFill>
                  <a:srgbClr val="1E293B"/>
                </a:solidFill>
              </a:rPr>
              <a:t>Dependiente del sistema de archivos del host.</a:t>
            </a:r>
          </a:p>
          <a:p>
            <a:pPr>
              <a:spcAft>
                <a:spcPts val="800"/>
              </a:spcAft>
              <a:defRPr sz="1300">
                <a:latin typeface="Calibri"/>
              </a:defRPr>
            </a:pPr>
            <a:r>
              <a:rPr b="1">
                <a:solidFill>
                  <a:srgbClr val="1E293B"/>
                </a:solidFill>
              </a:rPr>
              <a:t>• Acceso: </a:t>
            </a:r>
            <a:r>
              <a:rPr b="0">
                <a:solidFill>
                  <a:srgbClr val="1E293B"/>
                </a:solidFill>
              </a:rPr>
              <a:t>El host y el contenedor leen y escriben a la vez.</a:t>
            </a:r>
          </a:p>
          <a:p>
            <a:pPr>
              <a:spcAft>
                <a:spcPts val="800"/>
              </a:spcAft>
              <a:defRPr sz="1300">
                <a:latin typeface="Calibri"/>
              </a:defRPr>
            </a:pPr>
            <a:r>
              <a:rPr b="1">
                <a:solidFill>
                  <a:srgbClr val="1E293B"/>
                </a:solidFill>
              </a:rPr>
              <a:t>• Riesgos: </a:t>
            </a:r>
            <a:r>
              <a:rPr b="0">
                <a:solidFill>
                  <a:srgbClr val="1E293B"/>
                </a:solidFill>
              </a:rPr>
              <a:t>Dependencia de rutas fijas y permisos de UID/GID.</a:t>
            </a:r>
          </a:p>
          <a:p>
            <a:pPr>
              <a:spcAft>
                <a:spcPts val="800"/>
              </a:spcAft>
              <a:defRPr sz="1300">
                <a:latin typeface="Calibri"/>
              </a:defRPr>
            </a:pPr>
            <a:r>
              <a:rPr b="1">
                <a:solidFill>
                  <a:srgbClr val="1E293B"/>
                </a:solidFill>
              </a:rPr>
              <a:t>• Recomendado: </a:t>
            </a:r>
            <a:r>
              <a:rPr b="0">
                <a:solidFill>
                  <a:srgbClr val="1E293B"/>
                </a:solidFill>
              </a:rPr>
              <a:t>Desarrollo local con recarga en caliente (hot-reload).</a:t>
            </a:r>
          </a:p>
        </p:txBody>
      </p:sp>
      <p:sp>
        <p:nvSpPr>
          <p:cNvPr id="6" name="Rounded Rectangle 5"/>
          <p:cNvSpPr/>
          <p:nvPr/>
        </p:nvSpPr>
        <p:spPr>
          <a:xfrm>
            <a:off x="8046720" y="1645920"/>
            <a:ext cx="33832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Tmpfs Mounts</a:t>
            </a:r>
          </a:p>
          <a:p>
            <a:pPr>
              <a:spcAft>
                <a:spcPts val="800"/>
              </a:spcAft>
              <a:defRPr sz="1300">
                <a:latin typeface="Calibri"/>
              </a:defRPr>
            </a:pPr>
            <a:r>
              <a:rPr b="1">
                <a:solidFill>
                  <a:srgbClr val="1E293B"/>
                </a:solidFill>
              </a:rPr>
              <a:t>• Ubicación: </a:t>
            </a:r>
            <a:r>
              <a:rPr b="0">
                <a:solidFill>
                  <a:srgbClr val="1E293B"/>
                </a:solidFill>
              </a:rPr>
              <a:t>Memoria RAM del host.</a:t>
            </a:r>
          </a:p>
          <a:p>
            <a:pPr>
              <a:spcAft>
                <a:spcPts val="800"/>
              </a:spcAft>
              <a:defRPr sz="1300">
                <a:latin typeface="Calibri"/>
              </a:defRPr>
            </a:pPr>
            <a:r>
              <a:rPr b="1">
                <a:solidFill>
                  <a:srgbClr val="1E293B"/>
                </a:solidFill>
              </a:rPr>
              <a:t>• Gestión: </a:t>
            </a:r>
            <a:r>
              <a:rPr b="0">
                <a:solidFill>
                  <a:srgbClr val="1E293B"/>
                </a:solidFill>
              </a:rPr>
              <a:t>No escribe jamás en el disco físico.</a:t>
            </a:r>
          </a:p>
          <a:p>
            <a:pPr>
              <a:spcAft>
                <a:spcPts val="800"/>
              </a:spcAft>
              <a:defRPr sz="1300">
                <a:latin typeface="Calibri"/>
              </a:defRPr>
            </a:pPr>
            <a:r>
              <a:rPr b="1">
                <a:solidFill>
                  <a:srgbClr val="1E293B"/>
                </a:solidFill>
              </a:rPr>
              <a:t>• Velocidad: </a:t>
            </a:r>
            <a:r>
              <a:rPr b="0">
                <a:solidFill>
                  <a:srgbClr val="1E293B"/>
                </a:solidFill>
              </a:rPr>
              <a:t>Rendimiento ultrarrápido en lectura/escritura.</a:t>
            </a:r>
          </a:p>
          <a:p>
            <a:pPr>
              <a:spcAft>
                <a:spcPts val="800"/>
              </a:spcAft>
              <a:defRPr sz="1300">
                <a:latin typeface="Calibri"/>
              </a:defRPr>
            </a:pPr>
            <a:r>
              <a:rPr b="1">
                <a:solidFill>
                  <a:srgbClr val="1E293B"/>
                </a:solidFill>
              </a:rPr>
              <a:t>• Volatilidad: </a:t>
            </a:r>
            <a:r>
              <a:rPr b="0">
                <a:solidFill>
                  <a:srgbClr val="1E293B"/>
                </a:solidFill>
              </a:rPr>
              <a:t>Se destruye por completo al parar el contenedor.</a:t>
            </a:r>
          </a:p>
          <a:p>
            <a:pPr>
              <a:spcAft>
                <a:spcPts val="800"/>
              </a:spcAft>
              <a:defRPr sz="1300">
                <a:latin typeface="Calibri"/>
              </a:defRPr>
            </a:pPr>
            <a:r>
              <a:rPr b="1">
                <a:solidFill>
                  <a:srgbClr val="1E293B"/>
                </a:solidFill>
              </a:rPr>
              <a:t>• Recomendado: </a:t>
            </a:r>
            <a:r>
              <a:rPr b="0">
                <a:solidFill>
                  <a:srgbClr val="1E293B"/>
                </a:solidFill>
              </a:rPr>
              <a:t>Datos altamente sensibles, tokens y cachés volátiles.</a:t>
            </a:r>
          </a:p>
        </p:txBody>
      </p:sp>
      <p:sp>
        <p:nvSpPr>
          <p:cNvPr id="7" name="TextBox 6"/>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36 / 81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3 • ALMACENAMIENTO</a:t>
            </a:r>
          </a:p>
          <a:p>
            <a:pPr>
              <a:defRPr sz="2800" b="1">
                <a:solidFill>
                  <a:srgbClr val="1E293B"/>
                </a:solidFill>
                <a:latin typeface="Calibri"/>
              </a:defRPr>
            </a:pPr>
            <a:r>
              <a:t>Volúmenes con Nombre (Named Volumes): Estándar de Producción</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Ciclo de Vida de los Volúmenes</a:t>
            </a:r>
          </a:p>
          <a:p>
            <a:pPr>
              <a:spcAft>
                <a:spcPts val="800"/>
              </a:spcAft>
              <a:defRPr sz="1400">
                <a:latin typeface="Calibri"/>
              </a:defRPr>
            </a:pPr>
            <a:r>
              <a:rPr b="1">
                <a:solidFill>
                  <a:srgbClr val="1E293B"/>
                </a:solidFill>
              </a:rPr>
              <a:t>• Independencia Total: </a:t>
            </a:r>
            <a:r>
              <a:rPr b="0">
                <a:solidFill>
                  <a:srgbClr val="1E293B"/>
                </a:solidFill>
              </a:rPr>
              <a:t>Los volúmenes tienen su propio ciclo de vida; no se borran al eliminar el contenedor que los utilizaba.</a:t>
            </a:r>
          </a:p>
          <a:p>
            <a:pPr>
              <a:spcAft>
                <a:spcPts val="800"/>
              </a:spcAft>
              <a:defRPr sz="1400">
                <a:latin typeface="Calibri"/>
              </a:defRPr>
            </a:pPr>
            <a:r>
              <a:rPr b="1">
                <a:solidFill>
                  <a:srgbClr val="1E293B"/>
                </a:solidFill>
              </a:rPr>
              <a:t>• Inicialización Automática: </a:t>
            </a:r>
            <a:r>
              <a:rPr b="0">
                <a:solidFill>
                  <a:srgbClr val="1E293B"/>
                </a:solidFill>
              </a:rPr>
              <a:t>Si montas un volumen vacío sobre un directorio del contenedor que ya tiene archivos (ej. `/var/lib/mysql`), Docker copia automáticamente esos archivos al volumen.</a:t>
            </a:r>
          </a:p>
          <a:p>
            <a:pPr>
              <a:spcAft>
                <a:spcPts val="800"/>
              </a:spcAft>
              <a:defRPr sz="1400">
                <a:latin typeface="Calibri"/>
              </a:defRPr>
            </a:pPr>
            <a:r>
              <a:rPr b="1">
                <a:solidFill>
                  <a:srgbClr val="1E293B"/>
                </a:solidFill>
              </a:rPr>
              <a:t>• Sintaxis Moderna `--mount`: </a:t>
            </a:r>
            <a:r>
              <a:rPr b="0">
                <a:solidFill>
                  <a:srgbClr val="1E293B"/>
                </a:solidFill>
              </a:rPr>
              <a:t>Recomendada frente al flag clásico `-v` por ser explícita y menos propensa a errores.</a:t>
            </a:r>
          </a:p>
          <a:p>
            <a:pPr>
              <a:spcAft>
                <a:spcPts val="800"/>
              </a:spcAft>
              <a:defRPr sz="1400">
                <a:latin typeface="Calibri"/>
              </a:defRPr>
            </a:pPr>
            <a:r>
              <a:rPr b="1">
                <a:solidFill>
                  <a:srgbClr val="1E293B"/>
                </a:solidFill>
              </a:rPr>
              <a:t>• Limpieza de Volúmenes Huérfanos: </a:t>
            </a:r>
            <a:r>
              <a:rPr b="0">
                <a:solidFill>
                  <a:srgbClr val="1E293B"/>
                </a:solidFill>
              </a:rPr>
              <a:t>`docker volume prune` elimina aquellos volúmenes que no están siendo usados por ningún contenedor.</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Demostración de Persistencia</a:t>
            </a:r>
          </a:p>
          <a:p>
            <a:pPr>
              <a:spcAft>
                <a:spcPts val="200"/>
              </a:spcAft>
              <a:defRPr sz="1100">
                <a:solidFill>
                  <a:srgbClr val="94A3B8"/>
                </a:solidFill>
                <a:latin typeface="Consolas"/>
              </a:defRPr>
            </a:pPr>
            <a:r>
              <a:t># 1. Crear volumen explícito para PostgreSQL</a:t>
            </a:r>
          </a:p>
          <a:p>
            <a:pPr>
              <a:spcAft>
                <a:spcPts val="200"/>
              </a:spcAft>
              <a:defRPr sz="1100" b="1">
                <a:solidFill>
                  <a:srgbClr val="38BDF8"/>
                </a:solidFill>
                <a:latin typeface="Consolas"/>
              </a:defRPr>
            </a:pPr>
            <a:r>
              <a:t>$ docker volume create pgdata</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2. Arrancar PostgreSQL montando el volumen</a:t>
            </a:r>
          </a:p>
          <a:p>
            <a:pPr>
              <a:spcAft>
                <a:spcPts val="200"/>
              </a:spcAft>
              <a:defRPr sz="1100" b="1">
                <a:solidFill>
                  <a:srgbClr val="38BDF8"/>
                </a:solidFill>
                <a:latin typeface="Consolas"/>
              </a:defRPr>
            </a:pPr>
            <a:r>
              <a:t>$ docker run -d --name db-postgres \</a:t>
            </a:r>
          </a:p>
          <a:p>
            <a:pPr>
              <a:spcAft>
                <a:spcPts val="200"/>
              </a:spcAft>
              <a:defRPr sz="1100">
                <a:solidFill>
                  <a:srgbClr val="FFFFFF"/>
                </a:solidFill>
                <a:latin typeface="Consolas"/>
              </a:defRPr>
            </a:pPr>
            <a:r>
              <a:t>    --mount source=pgdata,target=/var/lib/postgresql/data \</a:t>
            </a:r>
          </a:p>
          <a:p>
            <a:pPr>
              <a:spcAft>
                <a:spcPts val="200"/>
              </a:spcAft>
              <a:defRPr sz="1100">
                <a:solidFill>
                  <a:srgbClr val="FFFFFF"/>
                </a:solidFill>
                <a:latin typeface="Consolas"/>
              </a:defRPr>
            </a:pPr>
            <a:r>
              <a:t>    -e POSTGRES_PASSWORD=mi_pass postgres:16-alpine</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3. Destruir el contenedor simulando un desastre</a:t>
            </a:r>
          </a:p>
          <a:p>
            <a:pPr>
              <a:spcAft>
                <a:spcPts val="200"/>
              </a:spcAft>
              <a:defRPr sz="1100" b="1">
                <a:solidFill>
                  <a:srgbClr val="38BDF8"/>
                </a:solidFill>
                <a:latin typeface="Consolas"/>
              </a:defRPr>
            </a:pPr>
            <a:r>
              <a:t>$ docker rm -f db-postgres</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4. Recrear el contenedor con una versión más moderna</a:t>
            </a:r>
          </a:p>
          <a:p>
            <a:pPr>
              <a:spcAft>
                <a:spcPts val="200"/>
              </a:spcAft>
              <a:defRPr sz="1100" b="1">
                <a:solidFill>
                  <a:srgbClr val="38BDF8"/>
                </a:solidFill>
                <a:latin typeface="Consolas"/>
              </a:defRPr>
            </a:pPr>
            <a:r>
              <a:t>$ docker run -d --name db-postgres-nuevo \</a:t>
            </a:r>
          </a:p>
          <a:p>
            <a:pPr>
              <a:spcAft>
                <a:spcPts val="200"/>
              </a:spcAft>
              <a:defRPr sz="1100">
                <a:solidFill>
                  <a:srgbClr val="FFFFFF"/>
                </a:solidFill>
                <a:latin typeface="Consolas"/>
              </a:defRPr>
            </a:pPr>
            <a:r>
              <a:t>    --mount source=pgdata,target=/var/lib/postgresql/data \</a:t>
            </a:r>
          </a:p>
          <a:p>
            <a:pPr>
              <a:spcAft>
                <a:spcPts val="200"/>
              </a:spcAft>
              <a:defRPr sz="1100">
                <a:solidFill>
                  <a:srgbClr val="FFFFFF"/>
                </a:solidFill>
                <a:latin typeface="Consolas"/>
              </a:defRPr>
            </a:pPr>
            <a:r>
              <a:t>    postgres:16-alpine</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¡Todos los registros y tablas siguen intactos!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37 / 81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3 • ALMACENAMIENTO</a:t>
            </a:r>
          </a:p>
          <a:p>
            <a:pPr>
              <a:defRPr sz="2800" b="1">
                <a:solidFill>
                  <a:srgbClr val="1E293B"/>
                </a:solidFill>
                <a:latin typeface="Calibri"/>
              </a:defRPr>
            </a:pPr>
            <a:r>
              <a:t>Bind Mounts: Desarrollo Ágil y Riesgos de Permisos</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La Herramienta del Desarrollador</a:t>
            </a:r>
          </a:p>
          <a:p>
            <a:pPr>
              <a:spcAft>
                <a:spcPts val="800"/>
              </a:spcAft>
              <a:defRPr sz="1400">
                <a:latin typeface="Calibri"/>
              </a:defRPr>
            </a:pPr>
            <a:r>
              <a:rPr b="1">
                <a:solidFill>
                  <a:srgbClr val="1E293B"/>
                </a:solidFill>
              </a:rPr>
              <a:t>• Edición en Vivo (Hot-Reloading): </a:t>
            </a:r>
            <a:r>
              <a:rPr b="0">
                <a:solidFill>
                  <a:srgbClr val="1E293B"/>
                </a:solidFill>
              </a:rPr>
              <a:t>Permite editar el código fuente en VS Code en el host y ver los cambios reflejados al instante dentro del contenedor sin reconstruir la imagen.</a:t>
            </a:r>
          </a:p>
          <a:p>
            <a:pPr>
              <a:spcAft>
                <a:spcPts val="800"/>
              </a:spcAft>
              <a:defRPr sz="1400">
                <a:latin typeface="Calibri"/>
              </a:defRPr>
            </a:pPr>
            <a:r>
              <a:rPr b="1">
                <a:solidFill>
                  <a:srgbClr val="1E293B"/>
                </a:solidFill>
              </a:rPr>
              <a:t>• Sintaxis con Ruta Absoluta: </a:t>
            </a:r>
            <a:r>
              <a:rPr b="0">
                <a:solidFill>
                  <a:srgbClr val="1E293B"/>
                </a:solidFill>
              </a:rPr>
              <a:t>Requiere indicar la ruta completa del host (ej. `$(pwd):/app` o `type=bind,source=$(pwd),target=/app`).</a:t>
            </a:r>
          </a:p>
          <a:p>
            <a:pPr>
              <a:spcAft>
                <a:spcPts val="800"/>
              </a:spcAft>
              <a:defRPr sz="1400">
                <a:latin typeface="Calibri"/>
              </a:defRPr>
            </a:pPr>
            <a:r>
              <a:rPr b="1">
                <a:solidFill>
                  <a:srgbClr val="1E293B"/>
                </a:solidFill>
              </a:rPr>
              <a:t>• Sobrescritura de Directorios: </a:t>
            </a:r>
            <a:r>
              <a:rPr b="0">
                <a:solidFill>
                  <a:srgbClr val="1E293B"/>
                </a:solidFill>
              </a:rPr>
              <a:t>CUIDADO: Montar una carpeta vacía del host sobre una carpeta con archivos del contenedor ocultará los archivos del contenedor.</a:t>
            </a:r>
          </a:p>
          <a:p>
            <a:pPr>
              <a:spcAft>
                <a:spcPts val="800"/>
              </a:spcAft>
              <a:defRPr sz="1400">
                <a:latin typeface="Calibri"/>
              </a:defRPr>
            </a:pPr>
            <a:r>
              <a:rPr b="1">
                <a:solidFill>
                  <a:srgbClr val="1E293B"/>
                </a:solidFill>
              </a:rPr>
              <a:t>• Modo Solo Lectura (`ro`): </a:t>
            </a:r>
            <a:r>
              <a:rPr b="0">
                <a:solidFill>
                  <a:srgbClr val="1E293B"/>
                </a:solidFill>
              </a:rPr>
              <a:t>Excelente práctica de seguridad para archivos de configuración sensibles (`:ro` o `readonly`).</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Uso Seguro de Bind Mounts</a:t>
            </a:r>
          </a:p>
          <a:p>
            <a:pPr>
              <a:spcAft>
                <a:spcPts val="200"/>
              </a:spcAft>
              <a:defRPr sz="1100">
                <a:solidFill>
                  <a:srgbClr val="94A3B8"/>
                </a:solidFill>
                <a:latin typeface="Consolas"/>
              </a:defRPr>
            </a:pPr>
            <a:r>
              <a:t># Montar código local para desarrollo con recarga</a:t>
            </a:r>
          </a:p>
          <a:p>
            <a:pPr>
              <a:spcAft>
                <a:spcPts val="200"/>
              </a:spcAft>
              <a:defRPr sz="1100" b="1">
                <a:solidFill>
                  <a:srgbClr val="38BDF8"/>
                </a:solidFill>
                <a:latin typeface="Consolas"/>
              </a:defRPr>
            </a:pPr>
            <a:r>
              <a:t>$ docker run -d --name web-dev \</a:t>
            </a:r>
          </a:p>
          <a:p>
            <a:pPr>
              <a:spcAft>
                <a:spcPts val="200"/>
              </a:spcAft>
              <a:defRPr sz="1100">
                <a:solidFill>
                  <a:srgbClr val="FFFFFF"/>
                </a:solidFill>
                <a:latin typeface="Consolas"/>
              </a:defRPr>
            </a:pPr>
            <a:r>
              <a:t>    -p 3000:3000 \</a:t>
            </a:r>
          </a:p>
          <a:p>
            <a:pPr>
              <a:spcAft>
                <a:spcPts val="200"/>
              </a:spcAft>
              <a:defRPr sz="1100">
                <a:solidFill>
                  <a:srgbClr val="FFFFFF"/>
                </a:solidFill>
                <a:latin typeface="Consolas"/>
              </a:defRPr>
            </a:pPr>
            <a:r>
              <a:t>    -v "$(pwd)/src:/app/src:ro" \</a:t>
            </a:r>
          </a:p>
          <a:p>
            <a:pPr>
              <a:spcAft>
                <a:spcPts val="200"/>
              </a:spcAft>
              <a:defRPr sz="1100">
                <a:solidFill>
                  <a:srgbClr val="FFFFFF"/>
                </a:solidFill>
                <a:latin typeface="Consolas"/>
              </a:defRPr>
            </a:pPr>
            <a:r>
              <a:t>    node:20-alpine npm run dev</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El Gran Problema de Permisos en Linux:</a:t>
            </a:r>
          </a:p>
          <a:p>
            <a:pPr>
              <a:spcAft>
                <a:spcPts val="200"/>
              </a:spcAft>
              <a:defRPr sz="1100">
                <a:solidFill>
                  <a:srgbClr val="94A3B8"/>
                </a:solidFill>
                <a:latin typeface="Consolas"/>
              </a:defRPr>
            </a:pPr>
            <a:r>
              <a:t># Si el contenedor corre como root (UID 0), creará</a:t>
            </a:r>
          </a:p>
          <a:p>
            <a:pPr>
              <a:spcAft>
                <a:spcPts val="200"/>
              </a:spcAft>
              <a:defRPr sz="1100">
                <a:solidFill>
                  <a:srgbClr val="94A3B8"/>
                </a:solidFill>
                <a:latin typeface="Consolas"/>
              </a:defRPr>
            </a:pPr>
            <a:r>
              <a:t># archivos en tu host propiedad de root.</a:t>
            </a:r>
          </a:p>
          <a:p>
            <a:pPr>
              <a:spcAft>
                <a:spcPts val="200"/>
              </a:spcAft>
              <a:defRPr sz="1100">
                <a:solidFill>
                  <a:srgbClr val="94A3B8"/>
                </a:solidFill>
                <a:latin typeface="Consolas"/>
              </a:defRPr>
            </a:pPr>
            <a:r>
              <a:t># Solución: Pasar el UID del usuario actual:</a:t>
            </a:r>
          </a:p>
          <a:p>
            <a:pPr>
              <a:spcAft>
                <a:spcPts val="200"/>
              </a:spcAft>
              <a:defRPr sz="1100" b="1">
                <a:solidFill>
                  <a:srgbClr val="38BDF8"/>
                </a:solidFill>
                <a:latin typeface="Consolas"/>
              </a:defRPr>
            </a:pPr>
            <a:r>
              <a:t>$ docker run --user "$(id -u):$(id -g)" ...</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Sintaxis moderna explícita con --mount:</a:t>
            </a:r>
          </a:p>
          <a:p>
            <a:pPr>
              <a:spcAft>
                <a:spcPts val="200"/>
              </a:spcAft>
              <a:defRPr sz="1100" b="1">
                <a:solidFill>
                  <a:srgbClr val="38BDF8"/>
                </a:solidFill>
                <a:latin typeface="Consolas"/>
              </a:defRPr>
            </a:pPr>
            <a:r>
              <a:t>$ docker run --mount type=bind,source=/etc/nginx/nginx.conf,\</a:t>
            </a:r>
          </a:p>
          <a:p>
            <a:pPr>
              <a:spcAft>
                <a:spcPts val="200"/>
              </a:spcAft>
              <a:defRPr sz="1100">
                <a:solidFill>
                  <a:srgbClr val="FFFFFF"/>
                </a:solidFill>
                <a:latin typeface="Consolas"/>
              </a:defRPr>
            </a:pPr>
            <a:r>
              <a:t>target=/etc/nginx/nginx.conf,readonly nginx</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38 / 81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3 • ALMACENAMIENTO</a:t>
            </a:r>
          </a:p>
          <a:p>
            <a:pPr>
              <a:defRPr sz="2800" b="1">
                <a:solidFill>
                  <a:srgbClr val="1E293B"/>
                </a:solidFill>
                <a:latin typeface="Calibri"/>
              </a:defRPr>
            </a:pPr>
            <a:r>
              <a:t>Tmpfs Mounts: Almacenamiento en Memoria RAM</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Almacenamiento Volátil de Alto Rendimiento</a:t>
            </a:r>
          </a:p>
          <a:p>
            <a:pPr>
              <a:spcAft>
                <a:spcPts val="800"/>
              </a:spcAft>
              <a:defRPr sz="1400">
                <a:latin typeface="Calibri"/>
              </a:defRPr>
            </a:pPr>
            <a:r>
              <a:rPr b="1">
                <a:solidFill>
                  <a:srgbClr val="1E293B"/>
                </a:solidFill>
              </a:rPr>
              <a:t>• Directo a la Memoria RAM: </a:t>
            </a:r>
            <a:r>
              <a:rPr b="0">
                <a:solidFill>
                  <a:srgbClr val="1E293B"/>
                </a:solidFill>
              </a:rPr>
              <a:t>Los archivos se escriben exclusivamente en la memoria del host; jamás tocan los discos SSD/NVMe.</a:t>
            </a:r>
          </a:p>
          <a:p>
            <a:pPr>
              <a:spcAft>
                <a:spcPts val="800"/>
              </a:spcAft>
              <a:defRPr sz="1400">
                <a:latin typeface="Calibri"/>
              </a:defRPr>
            </a:pPr>
            <a:r>
              <a:rPr b="1">
                <a:solidFill>
                  <a:srgbClr val="1E293B"/>
                </a:solidFill>
              </a:rPr>
              <a:t>• Cero Rastro en Disco: </a:t>
            </a:r>
            <a:r>
              <a:rPr b="0">
                <a:solidFill>
                  <a:srgbClr val="1E293B"/>
                </a:solidFill>
              </a:rPr>
              <a:t>Al detener el contenedor, los datos desaparecen instantáneamente sin dejar fragmentos recuperables en el sistema de archivos.</a:t>
            </a:r>
          </a:p>
          <a:p>
            <a:pPr>
              <a:spcAft>
                <a:spcPts val="800"/>
              </a:spcAft>
              <a:defRPr sz="1400">
                <a:latin typeface="Calibri"/>
              </a:defRPr>
            </a:pPr>
            <a:r>
              <a:rPr b="1">
                <a:solidFill>
                  <a:srgbClr val="1E293B"/>
                </a:solidFill>
              </a:rPr>
              <a:t>• Protección de Secretos en Memoria: </a:t>
            </a:r>
            <a:r>
              <a:rPr b="0">
                <a:solidFill>
                  <a:srgbClr val="1E293B"/>
                </a:solidFill>
              </a:rPr>
              <a:t>Ideal para almacenar certificados temporales, tokens OAuth, llaves criptográficas privadas o credenciales de sesión.</a:t>
            </a:r>
          </a:p>
          <a:p>
            <a:pPr>
              <a:spcAft>
                <a:spcPts val="800"/>
              </a:spcAft>
              <a:defRPr sz="1400">
                <a:latin typeface="Calibri"/>
              </a:defRPr>
            </a:pPr>
            <a:r>
              <a:rPr b="1">
                <a:solidFill>
                  <a:srgbClr val="1E293B"/>
                </a:solidFill>
              </a:rPr>
              <a:t>• Límites de Tamaño (`tmpfs-size`): </a:t>
            </a:r>
            <a:r>
              <a:rPr b="0">
                <a:solidFill>
                  <a:srgbClr val="1E293B"/>
                </a:solidFill>
              </a:rPr>
              <a:t>Es fundamental limitar el tamaño de tmpfs para evitar que un contenedor llene la RAM del host con archivos temporales.</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Montaje Tmpfs en Terminal</a:t>
            </a:r>
          </a:p>
          <a:p>
            <a:pPr>
              <a:spcAft>
                <a:spcPts val="200"/>
              </a:spcAft>
              <a:defRPr sz="1100">
                <a:solidFill>
                  <a:srgbClr val="94A3B8"/>
                </a:solidFill>
                <a:latin typeface="Consolas"/>
              </a:defRPr>
            </a:pPr>
            <a:r>
              <a:t># Montar /tmp en memoria RAM con límite de 64MB</a:t>
            </a:r>
          </a:p>
          <a:p>
            <a:pPr>
              <a:spcAft>
                <a:spcPts val="200"/>
              </a:spcAft>
              <a:defRPr sz="1100" b="1">
                <a:solidFill>
                  <a:srgbClr val="38BDF8"/>
                </a:solidFill>
                <a:latin typeface="Consolas"/>
              </a:defRPr>
            </a:pPr>
            <a:r>
              <a:t>$ docker run -d --name app-segura \</a:t>
            </a:r>
          </a:p>
          <a:p>
            <a:pPr>
              <a:spcAft>
                <a:spcPts val="200"/>
              </a:spcAft>
              <a:defRPr sz="1100">
                <a:solidFill>
                  <a:srgbClr val="FFFFFF"/>
                </a:solidFill>
                <a:latin typeface="Consolas"/>
              </a:defRPr>
            </a:pPr>
            <a:r>
              <a:t>    --tmpfs /app/secrets:rw,noexec,nosuid,size=64m \</a:t>
            </a:r>
          </a:p>
          <a:p>
            <a:pPr>
              <a:spcAft>
                <a:spcPts val="200"/>
              </a:spcAft>
              <a:defRPr sz="1100">
                <a:solidFill>
                  <a:srgbClr val="FFFFFF"/>
                </a:solidFill>
                <a:latin typeface="Consolas"/>
              </a:defRPr>
            </a:pPr>
            <a:r>
              <a:t>    nginx</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Comprobar que está montado como tmpfs</a:t>
            </a:r>
          </a:p>
          <a:p>
            <a:pPr>
              <a:spcAft>
                <a:spcPts val="200"/>
              </a:spcAft>
              <a:defRPr sz="1100" b="1">
                <a:solidFill>
                  <a:srgbClr val="38BDF8"/>
                </a:solidFill>
                <a:latin typeface="Consolas"/>
              </a:defRPr>
            </a:pPr>
            <a:r>
              <a:t>$ docker exec app-segura df -h /app/secrets</a:t>
            </a:r>
          </a:p>
          <a:p>
            <a:pPr>
              <a:spcAft>
                <a:spcPts val="200"/>
              </a:spcAft>
              <a:defRPr sz="1100">
                <a:solidFill>
                  <a:srgbClr val="FFFFFF"/>
                </a:solidFill>
                <a:latin typeface="Consolas"/>
              </a:defRPr>
            </a:pPr>
            <a:r>
              <a:t>Filesystem  Size  Used  Avail  Use%  Mounted on</a:t>
            </a:r>
          </a:p>
          <a:p>
            <a:pPr>
              <a:spcAft>
                <a:spcPts val="200"/>
              </a:spcAft>
              <a:defRPr sz="1100">
                <a:solidFill>
                  <a:srgbClr val="FFFFFF"/>
                </a:solidFill>
                <a:latin typeface="Consolas"/>
              </a:defRPr>
            </a:pPr>
            <a:r>
              <a:t>tmpfs       64M      0    64M    0%  /app/secrets</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Sintaxis con --mount:</a:t>
            </a:r>
          </a:p>
          <a:p>
            <a:pPr>
              <a:spcAft>
                <a:spcPts val="200"/>
              </a:spcAft>
              <a:defRPr sz="1100" b="1">
                <a:solidFill>
                  <a:srgbClr val="38BDF8"/>
                </a:solidFill>
                <a:latin typeface="Consolas"/>
              </a:defRPr>
            </a:pPr>
            <a:r>
              <a:t>$ docker run --mount type=tmpfs,destination=/app/cache,\</a:t>
            </a:r>
          </a:p>
          <a:p>
            <a:pPr>
              <a:spcAft>
                <a:spcPts val="200"/>
              </a:spcAft>
              <a:defRPr sz="1100">
                <a:solidFill>
                  <a:srgbClr val="FFFFFF"/>
                </a:solidFill>
                <a:latin typeface="Consolas"/>
              </a:defRPr>
            </a:pPr>
            <a:r>
              <a:t>    tmpfs-size=128m,tmpfs-mode=1777 mi-app</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39 / 81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3 • ALMACENAMIENTO</a:t>
            </a:r>
          </a:p>
          <a:p>
            <a:pPr>
              <a:defRPr sz="2800" b="1">
                <a:solidFill>
                  <a:srgbClr val="1E293B"/>
                </a:solidFill>
                <a:latin typeface="Calibri"/>
              </a:defRPr>
            </a:pPr>
            <a:r>
              <a:t>Contenedores de Volúmenes de Datos: Perspectiva Histórica</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El Patrón '--volumes-from' (Histórico)</a:t>
            </a:r>
          </a:p>
          <a:p>
            <a:pPr>
              <a:spcAft>
                <a:spcPts val="800"/>
              </a:spcAft>
              <a:defRPr sz="1400">
                <a:latin typeface="Calibri"/>
              </a:defRPr>
            </a:pPr>
            <a:r>
              <a:rPr b="1">
                <a:solidFill>
                  <a:srgbClr val="1E293B"/>
                </a:solidFill>
              </a:rPr>
              <a:t>• El Problema en 2014: </a:t>
            </a:r>
            <a:r>
              <a:rPr b="0">
                <a:solidFill>
                  <a:srgbClr val="1E293B"/>
                </a:solidFill>
              </a:rPr>
              <a:t>En las primeras versiones de Docker no existía el comando `docker volume create` ni existían Named Volumes.</a:t>
            </a:r>
          </a:p>
          <a:p>
            <a:pPr>
              <a:spcAft>
                <a:spcPts val="800"/>
              </a:spcAft>
              <a:defRPr sz="1400">
                <a:latin typeface="Calibri"/>
              </a:defRPr>
            </a:pPr>
            <a:r>
              <a:rPr b="1">
                <a:solidFill>
                  <a:srgbClr val="1E293B"/>
                </a:solidFill>
              </a:rPr>
              <a:t>• La Solución Ingeniosa: </a:t>
            </a:r>
            <a:r>
              <a:rPr b="0">
                <a:solidFill>
                  <a:srgbClr val="1E293B"/>
                </a:solidFill>
              </a:rPr>
              <a:t>Crear un contenedor 'tonto' (Data Volume Container) que definía volúmenes y permanecía detenido (`Exited`).</a:t>
            </a:r>
          </a:p>
          <a:p>
            <a:pPr>
              <a:spcAft>
                <a:spcPts val="800"/>
              </a:spcAft>
              <a:defRPr sz="1400">
                <a:latin typeface="Calibri"/>
              </a:defRPr>
            </a:pPr>
            <a:r>
              <a:rPr b="1">
                <a:solidFill>
                  <a:srgbClr val="1E293B"/>
                </a:solidFill>
              </a:rPr>
              <a:t>• Consumo con `--volumes-from`: </a:t>
            </a:r>
            <a:r>
              <a:rPr b="0">
                <a:solidFill>
                  <a:srgbClr val="1E293B"/>
                </a:solidFill>
              </a:rPr>
              <a:t>Otros contenedores montaban los volúmenes de ese contenedor detenido usando el flag `--volumes-from &lt;nombre&gt;`.</a:t>
            </a:r>
          </a:p>
          <a:p>
            <a:pPr>
              <a:spcAft>
                <a:spcPts val="800"/>
              </a:spcAft>
              <a:defRPr sz="1400">
                <a:latin typeface="Calibri"/>
              </a:defRPr>
            </a:pPr>
            <a:r>
              <a:rPr b="1">
                <a:solidFill>
                  <a:srgbClr val="1E293B"/>
                </a:solidFill>
              </a:rPr>
              <a:t>• Persistencia Compartida: </a:t>
            </a:r>
            <a:r>
              <a:rPr b="0">
                <a:solidFill>
                  <a:srgbClr val="1E293B"/>
                </a:solidFill>
              </a:rPr>
              <a:t>Varios contenedores podían leer y escribir en los mismos datos mientras el contenedor base existiera.</a:t>
            </a:r>
          </a:p>
        </p:txBody>
      </p:sp>
      <p:sp>
        <p:nvSpPr>
          <p:cNvPr id="5" name="Rounded Rectangle 4"/>
          <p:cNvSpPr/>
          <p:nvPr/>
        </p:nvSpPr>
        <p:spPr>
          <a:xfrm>
            <a:off x="6217920" y="1645920"/>
            <a:ext cx="52120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Por Qué Hoy Está en Desuso</a:t>
            </a:r>
          </a:p>
          <a:p>
            <a:pPr>
              <a:spcAft>
                <a:spcPts val="800"/>
              </a:spcAft>
              <a:defRPr sz="1400">
                <a:latin typeface="Calibri"/>
              </a:defRPr>
            </a:pPr>
            <a:r>
              <a:rPr b="1">
                <a:solidFill>
                  <a:srgbClr val="1E293B"/>
                </a:solidFill>
              </a:rPr>
              <a:t>• Llegada de Docker 1.9 (2015): </a:t>
            </a:r>
            <a:r>
              <a:rPr b="0">
                <a:solidFill>
                  <a:srgbClr val="1E293B"/>
                </a:solidFill>
              </a:rPr>
              <a:t>Se introdujo el subsistema completo de gestión de volúmenes (`docker volume`).</a:t>
            </a:r>
          </a:p>
          <a:p>
            <a:pPr>
              <a:spcAft>
                <a:spcPts val="800"/>
              </a:spcAft>
              <a:defRPr sz="1400">
                <a:latin typeface="Calibri"/>
              </a:defRPr>
            </a:pPr>
            <a:r>
              <a:rPr b="1">
                <a:solidFill>
                  <a:srgbClr val="1E293B"/>
                </a:solidFill>
              </a:rPr>
              <a:t>• Mayor Claridad y Desacoplamiento: </a:t>
            </a:r>
            <a:r>
              <a:rPr b="0">
                <a:solidFill>
                  <a:srgbClr val="1E293B"/>
                </a:solidFill>
              </a:rPr>
              <a:t>Los volúmenes son ciudadanos de primera clase con nombre propio, sin necesidad de mantener contenedores fantasmas parados.</a:t>
            </a:r>
          </a:p>
          <a:p>
            <a:pPr>
              <a:spcAft>
                <a:spcPts val="800"/>
              </a:spcAft>
              <a:defRPr sz="1400">
                <a:latin typeface="Calibri"/>
              </a:defRPr>
            </a:pPr>
            <a:r>
              <a:rPr b="1">
                <a:solidFill>
                  <a:srgbClr val="1E293B"/>
                </a:solidFill>
              </a:rPr>
              <a:t>• Plugins de Almacenamiento Modernos: </a:t>
            </a:r>
            <a:r>
              <a:rPr b="0">
                <a:solidFill>
                  <a:srgbClr val="1E293B"/>
                </a:solidFill>
              </a:rPr>
              <a:t>Los Named Volumes admiten drivers externos (NFS, AWS EBS, Azure Disk), algo inviable con el patrón antiguo.</a:t>
            </a:r>
          </a:p>
          <a:p>
            <a:pPr>
              <a:spcAft>
                <a:spcPts val="800"/>
              </a:spcAft>
              <a:defRPr sz="1400">
                <a:latin typeface="Calibri"/>
              </a:defRPr>
            </a:pPr>
            <a:r>
              <a:rPr b="1">
                <a:solidFill>
                  <a:srgbClr val="1E293B"/>
                </a:solidFill>
              </a:rPr>
              <a:t>• Conclusión del Temario: </a:t>
            </a:r>
            <a:r>
              <a:rPr b="0">
                <a:solidFill>
                  <a:srgbClr val="1E293B"/>
                </a:solidFill>
              </a:rPr>
              <a:t>Se estudia para comprender código legacy o configuraciones antiguas, pero hoy se DEBE utilizar `docker volume`.</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40 / 81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3 • ALMACENAMIENTO</a:t>
            </a:r>
          </a:p>
          <a:p>
            <a:pPr>
              <a:defRPr sz="2800" b="1">
                <a:solidFill>
                  <a:srgbClr val="1E293B"/>
                </a:solidFill>
                <a:latin typeface="Calibri"/>
              </a:defRPr>
            </a:pPr>
            <a:r>
              <a:t>Drivers de Almacenamiento Remoto y Red</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Almacenamiento Distribuido (Cloud y NAS)</a:t>
            </a:r>
          </a:p>
          <a:p>
            <a:pPr>
              <a:spcAft>
                <a:spcPts val="800"/>
              </a:spcAft>
              <a:defRPr sz="1400">
                <a:latin typeface="Calibri"/>
              </a:defRPr>
            </a:pPr>
            <a:r>
              <a:rPr b="1">
                <a:solidFill>
                  <a:srgbClr val="1E293B"/>
                </a:solidFill>
              </a:rPr>
              <a:t>• El Límite del Almacenamiento Local: </a:t>
            </a:r>
            <a:r>
              <a:rPr b="0">
                <a:solidFill>
                  <a:srgbClr val="1E293B"/>
                </a:solidFill>
              </a:rPr>
              <a:t>Un Named Volume local está atado al disco del servidor físico donde corre el daemon.</a:t>
            </a:r>
          </a:p>
          <a:p>
            <a:pPr>
              <a:spcAft>
                <a:spcPts val="800"/>
              </a:spcAft>
              <a:defRPr sz="1400">
                <a:latin typeface="Calibri"/>
              </a:defRPr>
            </a:pPr>
            <a:r>
              <a:rPr b="1">
                <a:solidFill>
                  <a:srgbClr val="1E293B"/>
                </a:solidFill>
              </a:rPr>
              <a:t>• Drivers de Volumen (`-d &lt;driver&gt;`): </a:t>
            </a:r>
            <a:r>
              <a:rPr b="0">
                <a:solidFill>
                  <a:srgbClr val="1E293B"/>
                </a:solidFill>
              </a:rPr>
              <a:t>Permiten que Docker monte sistemas de archivos remotos directamente en el contenedor.</a:t>
            </a:r>
          </a:p>
          <a:p>
            <a:pPr>
              <a:spcAft>
                <a:spcPts val="800"/>
              </a:spcAft>
              <a:defRPr sz="1400">
                <a:latin typeface="Calibri"/>
              </a:defRPr>
            </a:pPr>
            <a:r>
              <a:rPr b="1">
                <a:solidFill>
                  <a:srgbClr val="1E293B"/>
                </a:solidFill>
              </a:rPr>
              <a:t>• Almacenamiento NFS / CIFS: </a:t>
            </a:r>
            <a:r>
              <a:rPr b="0">
                <a:solidFill>
                  <a:srgbClr val="1E293B"/>
                </a:solidFill>
              </a:rPr>
              <a:t>Conectar carpetas compartidas de un NAS / SAN corporativo mediante el driver `local` nativo con opciones de red.</a:t>
            </a:r>
          </a:p>
          <a:p>
            <a:pPr>
              <a:spcAft>
                <a:spcPts val="800"/>
              </a:spcAft>
              <a:defRPr sz="1400">
                <a:latin typeface="Calibri"/>
              </a:defRPr>
            </a:pPr>
            <a:r>
              <a:rPr b="1">
                <a:solidFill>
                  <a:srgbClr val="1E293B"/>
                </a:solidFill>
              </a:rPr>
              <a:t>• Almacenamiento en Cloud: </a:t>
            </a:r>
            <a:r>
              <a:rPr b="0">
                <a:solidFill>
                  <a:srgbClr val="1E293B"/>
                </a:solidFill>
              </a:rPr>
              <a:t>Plugins para montar volúmenes elásticos de nube (ej. AWS EBS, Azure Files, Google Cloud Persistent Disk).</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Montaje de Almacenamiento NFS</a:t>
            </a:r>
          </a:p>
          <a:p>
            <a:pPr>
              <a:spcAft>
                <a:spcPts val="200"/>
              </a:spcAft>
              <a:defRPr sz="1100">
                <a:solidFill>
                  <a:srgbClr val="94A3B8"/>
                </a:solidFill>
                <a:latin typeface="Consolas"/>
              </a:defRPr>
            </a:pPr>
            <a:r>
              <a:t># Ejemplo: Crear un volumen Docker respaldado por NFS</a:t>
            </a:r>
          </a:p>
          <a:p>
            <a:pPr>
              <a:spcAft>
                <a:spcPts val="200"/>
              </a:spcAft>
              <a:defRPr sz="1100" b="1">
                <a:solidFill>
                  <a:srgbClr val="38BDF8"/>
                </a:solidFill>
                <a:latin typeface="Consolas"/>
              </a:defRPr>
            </a:pPr>
            <a:r>
              <a:t>$ docker volume create --driver local \</a:t>
            </a:r>
          </a:p>
          <a:p>
            <a:pPr>
              <a:spcAft>
                <a:spcPts val="200"/>
              </a:spcAft>
              <a:defRPr sz="1100">
                <a:solidFill>
                  <a:srgbClr val="FFFFFF"/>
                </a:solidFill>
                <a:latin typeface="Consolas"/>
              </a:defRPr>
            </a:pPr>
            <a:r>
              <a:t>    --opt type=nfs \</a:t>
            </a:r>
          </a:p>
          <a:p>
            <a:pPr>
              <a:spcAft>
                <a:spcPts val="200"/>
              </a:spcAft>
              <a:defRPr sz="1100">
                <a:solidFill>
                  <a:srgbClr val="FFFFFF"/>
                </a:solidFill>
                <a:latin typeface="Consolas"/>
              </a:defRPr>
            </a:pPr>
            <a:r>
              <a:t>    --opt o=addr=192.168.1.100,rw,noatime,rsize=8192 \</a:t>
            </a:r>
          </a:p>
          <a:p>
            <a:pPr>
              <a:spcAft>
                <a:spcPts val="200"/>
              </a:spcAft>
              <a:defRPr sz="1100">
                <a:solidFill>
                  <a:srgbClr val="FFFFFF"/>
                </a:solidFill>
                <a:latin typeface="Consolas"/>
              </a:defRPr>
            </a:pPr>
            <a:r>
              <a:t>    --opt device=:/srv/nfs/datos_compartidos \</a:t>
            </a:r>
          </a:p>
          <a:p>
            <a:pPr>
              <a:spcAft>
                <a:spcPts val="200"/>
              </a:spcAft>
              <a:defRPr sz="1100">
                <a:solidFill>
                  <a:srgbClr val="FFFFFF"/>
                </a:solidFill>
                <a:latin typeface="Consolas"/>
              </a:defRPr>
            </a:pPr>
            <a:r>
              <a:t>    volumen-nfs</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Montar el volumen en cualquier contenedor</a:t>
            </a:r>
          </a:p>
          <a:p>
            <a:pPr>
              <a:spcAft>
                <a:spcPts val="200"/>
              </a:spcAft>
              <a:defRPr sz="1100" b="1">
                <a:solidFill>
                  <a:srgbClr val="38BDF8"/>
                </a:solidFill>
                <a:latin typeface="Consolas"/>
              </a:defRPr>
            </a:pPr>
            <a:r>
              <a:t>$ docker run -d --name app-nfs \</a:t>
            </a:r>
          </a:p>
          <a:p>
            <a:pPr>
              <a:spcAft>
                <a:spcPts val="200"/>
              </a:spcAft>
              <a:defRPr sz="1100">
                <a:solidFill>
                  <a:srgbClr val="FFFFFF"/>
                </a:solidFill>
                <a:latin typeface="Consolas"/>
              </a:defRPr>
            </a:pPr>
            <a:r>
              <a:t>    -v volumen-nfs:/app/storage \</a:t>
            </a:r>
          </a:p>
          <a:p>
            <a:pPr>
              <a:spcAft>
                <a:spcPts val="200"/>
              </a:spcAft>
              <a:defRPr sz="1100">
                <a:solidFill>
                  <a:srgbClr val="FFFFFF"/>
                </a:solidFill>
                <a:latin typeface="Consolas"/>
              </a:defRPr>
            </a:pPr>
            <a:r>
              <a:t>    mi-aplicacion</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Si el contenedor se traslada a otro nodo del clúster,</a:t>
            </a:r>
          </a:p>
          <a:p>
            <a:pPr>
              <a:spcAft>
                <a:spcPts val="200"/>
              </a:spcAft>
              <a:defRPr sz="1100">
                <a:solidFill>
                  <a:srgbClr val="94A3B8"/>
                </a:solidFill>
                <a:latin typeface="Consolas"/>
              </a:defRPr>
            </a:pPr>
            <a:r>
              <a:t># montará el mismo volumen NFS con los mismos datos.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41 / 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3 • ALMACENAMIENTO</a:t>
            </a:r>
          </a:p>
          <a:p>
            <a:pPr>
              <a:defRPr sz="2800" b="1">
                <a:solidFill>
                  <a:srgbClr val="1E293B"/>
                </a:solidFill>
                <a:latin typeface="Calibri"/>
              </a:defRPr>
            </a:pPr>
            <a:r>
              <a:t>Estrategias de Backup y Migración de Volúmenes</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El Patrón Contenedor de Backup</a:t>
            </a:r>
          </a:p>
          <a:p>
            <a:pPr>
              <a:spcAft>
                <a:spcPts val="800"/>
              </a:spcAft>
              <a:defRPr sz="1400">
                <a:latin typeface="Calibri"/>
              </a:defRPr>
            </a:pPr>
            <a:r>
              <a:rPr b="1">
                <a:solidFill>
                  <a:srgbClr val="1E293B"/>
                </a:solidFill>
              </a:rPr>
              <a:t>• Sin Parar el Motor: </a:t>
            </a:r>
            <a:r>
              <a:rPr b="0">
                <a:solidFill>
                  <a:srgbClr val="1E293B"/>
                </a:solidFill>
              </a:rPr>
              <a:t>No es necesario acceder físicamente como root a `/var/lib/docker/volumes` ni detener el daemon.</a:t>
            </a:r>
          </a:p>
          <a:p>
            <a:pPr>
              <a:spcAft>
                <a:spcPts val="800"/>
              </a:spcAft>
              <a:defRPr sz="1400">
                <a:latin typeface="Calibri"/>
              </a:defRPr>
            </a:pPr>
            <a:r>
              <a:rPr b="1">
                <a:solidFill>
                  <a:srgbClr val="1E293B"/>
                </a:solidFill>
              </a:rPr>
              <a:t>• Contenedor Efímero de Backup: </a:t>
            </a:r>
            <a:r>
              <a:rPr b="0">
                <a:solidFill>
                  <a:srgbClr val="1E293B"/>
                </a:solidFill>
              </a:rPr>
              <a:t>Se arranca un contenedor ligero (ej. `alpine`) que monta simultáneamente el Named Volume a respaldar y una carpeta del host donde guardar el `.tar.gz`.</a:t>
            </a:r>
          </a:p>
          <a:p>
            <a:pPr>
              <a:spcAft>
                <a:spcPts val="800"/>
              </a:spcAft>
              <a:defRPr sz="1400">
                <a:latin typeface="Calibri"/>
              </a:defRPr>
            </a:pPr>
            <a:r>
              <a:rPr b="1">
                <a:solidFill>
                  <a:srgbClr val="1E293B"/>
                </a:solidFill>
              </a:rPr>
              <a:t>• Automatización en Cron / CI: </a:t>
            </a:r>
            <a:r>
              <a:rPr b="0">
                <a:solidFill>
                  <a:srgbClr val="1E293B"/>
                </a:solidFill>
              </a:rPr>
              <a:t>El proceso se empaqueta en una única línea de comando reproducible para tareas programadas de madrugada.</a:t>
            </a:r>
          </a:p>
          <a:p>
            <a:pPr>
              <a:spcAft>
                <a:spcPts val="800"/>
              </a:spcAft>
              <a:defRPr sz="1400">
                <a:latin typeface="Calibri"/>
              </a:defRPr>
            </a:pPr>
            <a:r>
              <a:rPr b="1">
                <a:solidFill>
                  <a:srgbClr val="1E293B"/>
                </a:solidFill>
              </a:rPr>
              <a:t>• Restauración Limpia: </a:t>
            </a:r>
            <a:r>
              <a:rPr b="0">
                <a:solidFill>
                  <a:srgbClr val="1E293B"/>
                </a:solidFill>
              </a:rPr>
              <a:t>El proceso inverso descomprime el `.tar.gz` dentro de un volumen nuevo o existente.</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Comandos de Backup y Restore</a:t>
            </a:r>
          </a:p>
          <a:p>
            <a:pPr>
              <a:spcAft>
                <a:spcPts val="200"/>
              </a:spcAft>
              <a:defRPr sz="1100">
                <a:solidFill>
                  <a:srgbClr val="94A3B8"/>
                </a:solidFill>
                <a:latin typeface="Consolas"/>
              </a:defRPr>
            </a:pPr>
            <a:r>
              <a:t># 1. BACKUP: Empaquetar el volumen 'pgdata' en un .tar.gz</a:t>
            </a:r>
          </a:p>
          <a:p>
            <a:pPr>
              <a:spcAft>
                <a:spcPts val="200"/>
              </a:spcAft>
              <a:defRPr sz="1100" b="1">
                <a:solidFill>
                  <a:srgbClr val="38BDF8"/>
                </a:solidFill>
                <a:latin typeface="Consolas"/>
              </a:defRPr>
            </a:pPr>
            <a:r>
              <a:t>$ docker run --rm \</a:t>
            </a:r>
          </a:p>
          <a:p>
            <a:pPr>
              <a:spcAft>
                <a:spcPts val="200"/>
              </a:spcAft>
              <a:defRPr sz="1100">
                <a:solidFill>
                  <a:srgbClr val="FFFFFF"/>
                </a:solidFill>
                <a:latin typeface="Consolas"/>
              </a:defRPr>
            </a:pPr>
            <a:r>
              <a:t>    -v pgdata:/volumen_origen:ro \</a:t>
            </a:r>
          </a:p>
          <a:p>
            <a:pPr>
              <a:spcAft>
                <a:spcPts val="200"/>
              </a:spcAft>
              <a:defRPr sz="1100">
                <a:solidFill>
                  <a:srgbClr val="FFFFFF"/>
                </a:solidFill>
                <a:latin typeface="Consolas"/>
              </a:defRPr>
            </a:pPr>
            <a:r>
              <a:t>    -v $(pwd)/backups:/backup_destino \</a:t>
            </a:r>
          </a:p>
          <a:p>
            <a:pPr>
              <a:spcAft>
                <a:spcPts val="200"/>
              </a:spcAft>
              <a:defRPr sz="1100">
                <a:solidFill>
                  <a:srgbClr val="FFFFFF"/>
                </a:solidFill>
                <a:latin typeface="Consolas"/>
              </a:defRPr>
            </a:pPr>
            <a:r>
              <a:t>    alpine tar czf /backup_destino/pgdata_$(date +%F).tar.gz \</a:t>
            </a:r>
          </a:p>
          <a:p>
            <a:pPr>
              <a:spcAft>
                <a:spcPts val="200"/>
              </a:spcAft>
              <a:defRPr sz="1100">
                <a:solidFill>
                  <a:srgbClr val="FFFFFF"/>
                </a:solidFill>
                <a:latin typeface="Consolas"/>
              </a:defRPr>
            </a:pPr>
            <a:r>
              <a:t>           -C /volumen_origen .</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2. RESTAURAR: Descomprimir en un nuevo volumen</a:t>
            </a:r>
          </a:p>
          <a:p>
            <a:pPr>
              <a:spcAft>
                <a:spcPts val="200"/>
              </a:spcAft>
              <a:defRPr sz="1100" b="1">
                <a:solidFill>
                  <a:srgbClr val="38BDF8"/>
                </a:solidFill>
                <a:latin typeface="Consolas"/>
              </a:defRPr>
            </a:pPr>
            <a:r>
              <a:t>$ docker volume create pgdata_recuperado</a:t>
            </a:r>
          </a:p>
          <a:p>
            <a:pPr>
              <a:spcAft>
                <a:spcPts val="200"/>
              </a:spcAft>
              <a:defRPr sz="1100" b="1">
                <a:solidFill>
                  <a:srgbClr val="38BDF8"/>
                </a:solidFill>
                <a:latin typeface="Consolas"/>
              </a:defRPr>
            </a:pPr>
            <a:r>
              <a:t>$ docker run --rm \</a:t>
            </a:r>
          </a:p>
          <a:p>
            <a:pPr>
              <a:spcAft>
                <a:spcPts val="200"/>
              </a:spcAft>
              <a:defRPr sz="1100">
                <a:solidFill>
                  <a:srgbClr val="FFFFFF"/>
                </a:solidFill>
                <a:latin typeface="Consolas"/>
              </a:defRPr>
            </a:pPr>
            <a:r>
              <a:t>    -v pgdata_recuperado:/volumen_destino \</a:t>
            </a:r>
          </a:p>
          <a:p>
            <a:pPr>
              <a:spcAft>
                <a:spcPts val="200"/>
              </a:spcAft>
              <a:defRPr sz="1100">
                <a:solidFill>
                  <a:srgbClr val="FFFFFF"/>
                </a:solidFill>
                <a:latin typeface="Consolas"/>
              </a:defRPr>
            </a:pPr>
            <a:r>
              <a:t>    -v $(pwd)/backups:/backup_destino \</a:t>
            </a:r>
          </a:p>
          <a:p>
            <a:pPr>
              <a:spcAft>
                <a:spcPts val="200"/>
              </a:spcAft>
              <a:defRPr sz="1100">
                <a:solidFill>
                  <a:srgbClr val="FFFFFF"/>
                </a:solidFill>
                <a:latin typeface="Consolas"/>
              </a:defRPr>
            </a:pPr>
            <a:r>
              <a:t>    alpine tar xzf /backup_destino/pgdata_2026-10-27.tar.gz \</a:t>
            </a:r>
          </a:p>
          <a:p>
            <a:pPr>
              <a:spcAft>
                <a:spcPts val="200"/>
              </a:spcAft>
              <a:defRPr sz="1100">
                <a:solidFill>
                  <a:srgbClr val="FFFFFF"/>
                </a:solidFill>
                <a:latin typeface="Consolas"/>
              </a:defRPr>
            </a:pPr>
            <a:r>
              <a:t>           -C /volumen_destino</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42 / 81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3 • BUENAS PRÁCTICAS</a:t>
            </a:r>
          </a:p>
          <a:p>
            <a:pPr>
              <a:defRPr sz="2800" b="1">
                <a:solidFill>
                  <a:srgbClr val="1E293B"/>
                </a:solidFill>
                <a:latin typeface="Calibri"/>
              </a:defRPr>
            </a:pPr>
            <a:r>
              <a:t>Buenas Prácticas en Gestión de Persistencia</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Reglas de Oro en Producción</a:t>
            </a:r>
          </a:p>
          <a:p>
            <a:pPr>
              <a:spcAft>
                <a:spcPts val="800"/>
              </a:spcAft>
              <a:defRPr sz="1400">
                <a:latin typeface="Calibri"/>
              </a:defRPr>
            </a:pPr>
            <a:r>
              <a:rPr b="1">
                <a:solidFill>
                  <a:srgbClr val="1E293B"/>
                </a:solidFill>
              </a:rPr>
              <a:t>• Jamás Guardar Datos en Capas R/W: </a:t>
            </a:r>
            <a:r>
              <a:rPr b="0">
                <a:solidFill>
                  <a:srgbClr val="1E293B"/>
                </a:solidFill>
              </a:rPr>
              <a:t>Todo dato que deba sobrevivir al contenedor debe residir en un Named Volume o Bind Mount.</a:t>
            </a:r>
          </a:p>
          <a:p>
            <a:pPr>
              <a:spcAft>
                <a:spcPts val="800"/>
              </a:spcAft>
              <a:defRPr sz="1400">
                <a:latin typeface="Calibri"/>
              </a:defRPr>
            </a:pPr>
            <a:r>
              <a:rPr b="1">
                <a:solidFill>
                  <a:srgbClr val="1E293B"/>
                </a:solidFill>
              </a:rPr>
              <a:t>• Nombres Significativos para Volúmenes: </a:t>
            </a:r>
            <a:r>
              <a:rPr b="0">
                <a:solidFill>
                  <a:srgbClr val="1E293B"/>
                </a:solidFill>
              </a:rPr>
              <a:t>Evitar volúmenes anónimos huérfanos generados accidentalmente con flags `-v /ruta`.</a:t>
            </a:r>
          </a:p>
          <a:p>
            <a:pPr>
              <a:spcAft>
                <a:spcPts val="800"/>
              </a:spcAft>
              <a:defRPr sz="1400">
                <a:latin typeface="Calibri"/>
              </a:defRPr>
            </a:pPr>
            <a:r>
              <a:rPr b="1">
                <a:solidFill>
                  <a:srgbClr val="1E293B"/>
                </a:solidFill>
              </a:rPr>
              <a:t>• Separar Discos para Docker: </a:t>
            </a:r>
            <a:r>
              <a:rPr b="0">
                <a:solidFill>
                  <a:srgbClr val="1E293B"/>
                </a:solidFill>
              </a:rPr>
              <a:t>En servidores Linux de producción, montar `/var/lib/docker` en una partición de disco o volumen LVM separado para que un contenedor desbocado no llene el root `/` del host.</a:t>
            </a:r>
          </a:p>
          <a:p>
            <a:pPr>
              <a:spcAft>
                <a:spcPts val="800"/>
              </a:spcAft>
              <a:defRPr sz="1400">
                <a:latin typeface="Calibri"/>
              </a:defRPr>
            </a:pPr>
            <a:r>
              <a:rPr b="1">
                <a:solidFill>
                  <a:srgbClr val="1E293B"/>
                </a:solidFill>
              </a:rPr>
              <a:t>• Etiquetado de Volúmenes: </a:t>
            </a:r>
            <a:r>
              <a:rPr b="0">
                <a:solidFill>
                  <a:srgbClr val="1E293B"/>
                </a:solidFill>
              </a:rPr>
              <a:t>Usar labels en volúmenes (`--label env=prod`) para automatizar auditorías y políticas de retención.</a:t>
            </a:r>
          </a:p>
        </p:txBody>
      </p:sp>
      <p:sp>
        <p:nvSpPr>
          <p:cNvPr id="5" name="Rounded Rectangle 4"/>
          <p:cNvSpPr/>
          <p:nvPr/>
        </p:nvSpPr>
        <p:spPr>
          <a:xfrm>
            <a:off x="6217920" y="1645920"/>
            <a:ext cx="5212080" cy="4572000"/>
          </a:xfrm>
          <a:prstGeom prst="roundRect">
            <a:avLst/>
          </a:prstGeom>
          <a:solidFill>
            <a:srgbClr val="FEF2F2"/>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Antipatrones a Erradicar</a:t>
            </a:r>
          </a:p>
          <a:p>
            <a:pPr>
              <a:spcAft>
                <a:spcPts val="800"/>
              </a:spcAft>
              <a:defRPr sz="1400">
                <a:latin typeface="Calibri"/>
              </a:defRPr>
            </a:pPr>
            <a:r>
              <a:rPr b="1">
                <a:solidFill>
                  <a:srgbClr val="1E293B"/>
                </a:solidFill>
              </a:rPr>
              <a:t>• Antipatrón 'docker commit': </a:t>
            </a:r>
            <a:r>
              <a:rPr b="0">
                <a:solidFill>
                  <a:srgbClr val="1E293B"/>
                </a:solidFill>
              </a:rPr>
              <a:t>Modificar un contenedor a mano y hacer `docker commit` para 'guardar los cambios' es el enemigo de la reproducibilidad.</a:t>
            </a:r>
          </a:p>
          <a:p>
            <a:pPr>
              <a:spcAft>
                <a:spcPts val="800"/>
              </a:spcAft>
              <a:defRPr sz="1400">
                <a:latin typeface="Calibri"/>
              </a:defRPr>
            </a:pPr>
            <a:r>
              <a:rPr b="1">
                <a:solidFill>
                  <a:srgbClr val="1E293B"/>
                </a:solidFill>
              </a:rPr>
              <a:t>• Bind Mounts con Rutas Absolutas de Portátil: </a:t>
            </a:r>
            <a:r>
              <a:rPr b="0">
                <a:solidFill>
                  <a:srgbClr val="1E293B"/>
                </a:solidFill>
              </a:rPr>
              <a:t>Subir a producción Dockerfiles o Compose con rutas de tipo `/Users/juan/proyecto` o `C:\Users\...`.</a:t>
            </a:r>
          </a:p>
          <a:p>
            <a:pPr>
              <a:spcAft>
                <a:spcPts val="800"/>
              </a:spcAft>
              <a:defRPr sz="1400">
                <a:latin typeface="Calibri"/>
              </a:defRPr>
            </a:pPr>
            <a:r>
              <a:rPr b="1">
                <a:solidFill>
                  <a:srgbClr val="1E293B"/>
                </a:solidFill>
              </a:rPr>
              <a:t>• Ignorar el Permiso de Escritura: </a:t>
            </a:r>
            <a:r>
              <a:rPr b="0">
                <a:solidFill>
                  <a:srgbClr val="1E293B"/>
                </a:solidFill>
              </a:rPr>
              <a:t>Olvidar comprobar si el usuario sin privilegios del contenedor (`USER app`) tiene permisos de escritura en la carpeta montada.</a:t>
            </a:r>
          </a:p>
          <a:p>
            <a:pPr>
              <a:spcAft>
                <a:spcPts val="800"/>
              </a:spcAft>
              <a:defRPr sz="1400">
                <a:latin typeface="Calibri"/>
              </a:defRPr>
            </a:pPr>
            <a:r>
              <a:rPr b="1">
                <a:solidFill>
                  <a:srgbClr val="1E293B"/>
                </a:solidFill>
              </a:rPr>
              <a:t>• Acumulación de Volúmenes Muertos: </a:t>
            </a:r>
            <a:r>
              <a:rPr b="0">
                <a:solidFill>
                  <a:srgbClr val="1E293B"/>
                </a:solidFill>
              </a:rPr>
              <a:t>No programar limpiezas periódicas (`docker volume prune`), provocando el llenado silencioso de discos.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43 / 81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DÍA 2 • PRÁCTICA</a:t>
            </a:r>
          </a:p>
          <a:p>
            <a:pPr>
              <a:defRPr sz="2800" b="1">
                <a:solidFill>
                  <a:srgbClr val="1E293B"/>
                </a:solidFill>
                <a:latin typeface="Calibri"/>
              </a:defRPr>
            </a:pPr>
            <a:r>
              <a:t>Laboratorio 3: Persistencia de BD y Hot-Reloading</a:t>
            </a:r>
          </a:p>
        </p:txBody>
      </p:sp>
      <p:sp>
        <p:nvSpPr>
          <p:cNvPr id="4" name="Rounded Rectangle 3"/>
          <p:cNvSpPr/>
          <p:nvPr/>
        </p:nvSpPr>
        <p:spPr>
          <a:xfrm>
            <a:off x="731520" y="1645920"/>
            <a:ext cx="106984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Objetivos y Pasos del Ejercicio Práctico</a:t>
            </a:r>
          </a:p>
          <a:p>
            <a:pPr>
              <a:spcAft>
                <a:spcPts val="1000"/>
              </a:spcAft>
              <a:defRPr sz="1400">
                <a:latin typeface="Calibri"/>
              </a:defRPr>
            </a:pPr>
            <a:r>
              <a:rPr b="1">
                <a:solidFill>
                  <a:srgbClr val="1E293B"/>
                </a:solidFill>
              </a:rPr>
              <a:t>• Parte A (Named Volume): </a:t>
            </a:r>
            <a:r>
              <a:rPr b="0">
                <a:solidFill>
                  <a:srgbClr val="1E293B"/>
                </a:solidFill>
              </a:rPr>
              <a:t>Crear un Named Volume `db_datos` e iniciar una base de datos MariaDB/PostgreSQL.</a:t>
            </a:r>
          </a:p>
          <a:p>
            <a:pPr>
              <a:spcAft>
                <a:spcPts val="1000"/>
              </a:spcAft>
              <a:defRPr sz="1400">
                <a:latin typeface="Calibri"/>
              </a:defRPr>
            </a:pPr>
            <a:r>
              <a:rPr b="1">
                <a:solidFill>
                  <a:srgbClr val="1E293B"/>
                </a:solidFill>
              </a:rPr>
              <a:t>• Paso 2: </a:t>
            </a:r>
            <a:r>
              <a:rPr b="0">
                <a:solidFill>
                  <a:srgbClr val="1E293B"/>
                </a:solidFill>
              </a:rPr>
              <a:t>Conectarse a la base de datos vía CLI (`docker exec -it ...`), crear una tabla e insertar registros de prueba.</a:t>
            </a:r>
          </a:p>
          <a:p>
            <a:pPr>
              <a:spcAft>
                <a:spcPts val="1000"/>
              </a:spcAft>
              <a:defRPr sz="1400">
                <a:latin typeface="Calibri"/>
              </a:defRPr>
            </a:pPr>
            <a:r>
              <a:rPr b="1">
                <a:solidFill>
                  <a:srgbClr val="1E293B"/>
                </a:solidFill>
              </a:rPr>
              <a:t>• Paso 3: </a:t>
            </a:r>
            <a:r>
              <a:rPr b="0">
                <a:solidFill>
                  <a:srgbClr val="1E293B"/>
                </a:solidFill>
              </a:rPr>
              <a:t>Destruir intencionadamente el contenedor de base de datos (`docker rm -f`).</a:t>
            </a:r>
          </a:p>
          <a:p>
            <a:pPr>
              <a:spcAft>
                <a:spcPts val="1000"/>
              </a:spcAft>
              <a:defRPr sz="1400">
                <a:latin typeface="Calibri"/>
              </a:defRPr>
            </a:pPr>
            <a:r>
              <a:rPr b="1">
                <a:solidFill>
                  <a:srgbClr val="1E293B"/>
                </a:solidFill>
              </a:rPr>
              <a:t>• Paso 4: </a:t>
            </a:r>
            <a:r>
              <a:rPr b="0">
                <a:solidFill>
                  <a:srgbClr val="1E293B"/>
                </a:solidFill>
              </a:rPr>
              <a:t>Arrancar un contenedor nuevo con la misma versión o superior montando `db_datos` y verificar que los registros siguen intactos.</a:t>
            </a:r>
          </a:p>
          <a:p>
            <a:pPr>
              <a:spcAft>
                <a:spcPts val="1000"/>
              </a:spcAft>
              <a:defRPr sz="1400">
                <a:latin typeface="Calibri"/>
              </a:defRPr>
            </a:pPr>
            <a:r>
              <a:rPr b="1">
                <a:solidFill>
                  <a:srgbClr val="1E293B"/>
                </a:solidFill>
              </a:rPr>
              <a:t>• Parte B (Bind Mount): </a:t>
            </a:r>
            <a:r>
              <a:rPr b="0">
                <a:solidFill>
                  <a:srgbClr val="1E293B"/>
                </a:solidFill>
              </a:rPr>
              <a:t>Crear una aplicación web estática o API Node/Python en el host.</a:t>
            </a:r>
          </a:p>
          <a:p>
            <a:pPr>
              <a:spcAft>
                <a:spcPts val="1000"/>
              </a:spcAft>
              <a:defRPr sz="1400">
                <a:latin typeface="Calibri"/>
              </a:defRPr>
            </a:pPr>
            <a:r>
              <a:rPr b="1">
                <a:solidFill>
                  <a:srgbClr val="1E293B"/>
                </a:solidFill>
              </a:rPr>
              <a:t>• Paso 6: </a:t>
            </a:r>
            <a:r>
              <a:rPr b="0">
                <a:solidFill>
                  <a:srgbClr val="1E293B"/>
                </a:solidFill>
              </a:rPr>
              <a:t>Arrancar el contenedor montando el código con Bind Mount (`-v $(pwd)/src:/app:ro`).</a:t>
            </a:r>
          </a:p>
          <a:p>
            <a:pPr>
              <a:spcAft>
                <a:spcPts val="1000"/>
              </a:spcAft>
              <a:defRPr sz="1400">
                <a:latin typeface="Calibri"/>
              </a:defRPr>
            </a:pPr>
            <a:r>
              <a:rPr b="1">
                <a:solidFill>
                  <a:srgbClr val="1E293B"/>
                </a:solidFill>
              </a:rPr>
              <a:t>• Paso 7: </a:t>
            </a:r>
            <a:r>
              <a:rPr b="0">
                <a:solidFill>
                  <a:srgbClr val="1E293B"/>
                </a:solidFill>
              </a:rPr>
              <a:t>Modificar un archivo HTML/JS en el editor del host y comprobar con `curl` que el cambio se refleja inmediatamente en el navegador sin reconstruir la imagen.</a:t>
            </a:r>
          </a:p>
        </p:txBody>
      </p:sp>
      <p:sp>
        <p:nvSpPr>
          <p:cNvPr id="5" name="TextBox 4"/>
          <p:cNvSpPr txBox="1"/>
          <p:nvPr/>
        </p:nvSpPr>
        <p:spPr>
          <a:xfrm>
            <a:off x="10332720" y="6446520"/>
            <a:ext cx="1645920" cy="320040"/>
          </a:xfrm>
          <a:prstGeom prst="rect">
            <a:avLst/>
          </a:prstGeom>
          <a:noFill/>
        </p:spPr>
        <p:txBody>
          <a:bodyPr wrap="none" lIns="0" tIns="0" rIns="0" bIns="0">
            <a:spAutoFit/>
          </a:bodyPr>
          <a:lstStyle/>
          <a:p>
            <a:pPr algn="r">
              <a:defRPr sz="900">
                <a:solidFill>
                  <a:srgbClr val="0DB7ED"/>
                </a:solidFill>
                <a:latin typeface="Calibri"/>
              </a:defRPr>
            </a:pPr>
            <a:r>
              <a:t>44 / 81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D3A"/>
          </a:solidFill>
          <a:ln>
            <a:solidFill>
              <a:srgbClr val="0B1D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32720" cy="457200"/>
          </a:xfrm>
          <a:prstGeom prst="rect">
            <a:avLst/>
          </a:prstGeom>
          <a:noFill/>
        </p:spPr>
        <p:txBody>
          <a:bodyPr wrap="square">
            <a:spAutoFit/>
          </a:bodyPr>
          <a:lstStyle/>
          <a:p>
            <a:pPr>
              <a:defRPr sz="1300" b="1">
                <a:solidFill>
                  <a:srgbClr val="0DB7ED"/>
                </a:solidFill>
                <a:latin typeface="Calibri"/>
              </a:defRPr>
            </a:pPr>
            <a:r>
              <a:t>DÍA 2 • CONCLUSIÓN</a:t>
            </a:r>
          </a:p>
        </p:txBody>
      </p:sp>
      <p:sp>
        <p:nvSpPr>
          <p:cNvPr id="4" name="TextBox 3"/>
          <p:cNvSpPr txBox="1"/>
          <p:nvPr/>
        </p:nvSpPr>
        <p:spPr>
          <a:xfrm>
            <a:off x="914400" y="1828800"/>
            <a:ext cx="10332720" cy="2194560"/>
          </a:xfrm>
          <a:prstGeom prst="rect">
            <a:avLst/>
          </a:prstGeom>
          <a:noFill/>
        </p:spPr>
        <p:txBody>
          <a:bodyPr wrap="square">
            <a:spAutoFit/>
          </a:bodyPr>
          <a:lstStyle/>
          <a:p>
            <a:pPr>
              <a:defRPr sz="4000" b="1">
                <a:solidFill>
                  <a:srgbClr val="FFFFFF"/>
                </a:solidFill>
                <a:latin typeface="Calibri"/>
              </a:defRPr>
            </a:pPr>
            <a:r>
              <a:t>RESUMEN DE LA JORNADA 2</a:t>
            </a:r>
          </a:p>
        </p:txBody>
      </p:sp>
      <p:sp>
        <p:nvSpPr>
          <p:cNvPr id="5" name="TextBox 4"/>
          <p:cNvSpPr txBox="1"/>
          <p:nvPr/>
        </p:nvSpPr>
        <p:spPr>
          <a:xfrm>
            <a:off x="914400" y="4114800"/>
            <a:ext cx="10332720" cy="1645920"/>
          </a:xfrm>
          <a:prstGeom prst="rect">
            <a:avLst/>
          </a:prstGeom>
          <a:noFill/>
        </p:spPr>
        <p:txBody>
          <a:bodyPr wrap="square">
            <a:spAutoFit/>
          </a:bodyPr>
          <a:lstStyle/>
          <a:p>
            <a:pPr>
              <a:defRPr sz="2000">
                <a:solidFill>
                  <a:srgbClr val="64748B"/>
                </a:solidFill>
                <a:latin typeface="Calibri"/>
              </a:defRPr>
            </a:pPr>
            <a:r>
              <a:t>Conceptos consolidados: Drivers de red (Bridge, Host, None, Overlay, Macvlan), DNS interno, Overlay2, Named Volumes, Bind Mounts y Tmpfs.</a:t>
            </a:r>
            <a:br/>
            <a:r>
              <a:t>Próxima Jornada: Módulo 4 (Contenedores en Cloud: Azure, AWS, GCP y Registries).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45 / 81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D3A"/>
          </a:solidFill>
          <a:ln>
            <a:solidFill>
              <a:srgbClr val="0B1D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32720" cy="457200"/>
          </a:xfrm>
          <a:prstGeom prst="rect">
            <a:avLst/>
          </a:prstGeom>
          <a:noFill/>
        </p:spPr>
        <p:txBody>
          <a:bodyPr wrap="square">
            <a:spAutoFit/>
          </a:bodyPr>
          <a:lstStyle/>
          <a:p>
            <a:pPr>
              <a:defRPr sz="1300" b="1">
                <a:solidFill>
                  <a:srgbClr val="0DB7ED"/>
                </a:solidFill>
                <a:latin typeface="Calibri"/>
              </a:defRPr>
            </a:pPr>
            <a:r>
              <a:t>DÍA 3 • DESPLIEGUE EN LA NUBE</a:t>
            </a:r>
          </a:p>
        </p:txBody>
      </p:sp>
      <p:sp>
        <p:nvSpPr>
          <p:cNvPr id="4" name="TextBox 3"/>
          <p:cNvSpPr txBox="1"/>
          <p:nvPr/>
        </p:nvSpPr>
        <p:spPr>
          <a:xfrm>
            <a:off x="914400" y="1828800"/>
            <a:ext cx="10332720" cy="2194560"/>
          </a:xfrm>
          <a:prstGeom prst="rect">
            <a:avLst/>
          </a:prstGeom>
          <a:noFill/>
        </p:spPr>
        <p:txBody>
          <a:bodyPr wrap="square">
            <a:spAutoFit/>
          </a:bodyPr>
          <a:lstStyle/>
          <a:p>
            <a:pPr>
              <a:defRPr sz="4000" b="1">
                <a:solidFill>
                  <a:srgbClr val="FFFFFF"/>
                </a:solidFill>
                <a:latin typeface="Calibri"/>
              </a:defRPr>
            </a:pPr>
            <a:r>
              <a:t>CONTENEDORES EN CLOUD</a:t>
            </a:r>
          </a:p>
        </p:txBody>
      </p:sp>
      <p:sp>
        <p:nvSpPr>
          <p:cNvPr id="5" name="TextBox 4"/>
          <p:cNvSpPr txBox="1"/>
          <p:nvPr/>
        </p:nvSpPr>
        <p:spPr>
          <a:xfrm>
            <a:off x="914400" y="4114800"/>
            <a:ext cx="10332720" cy="1645920"/>
          </a:xfrm>
          <a:prstGeom prst="rect">
            <a:avLst/>
          </a:prstGeom>
          <a:noFill/>
        </p:spPr>
        <p:txBody>
          <a:bodyPr wrap="square">
            <a:spAutoFit/>
          </a:bodyPr>
          <a:lstStyle/>
          <a:p>
            <a:pPr>
              <a:defRPr sz="2000">
                <a:solidFill>
                  <a:srgbClr val="64748B"/>
                </a:solidFill>
                <a:latin typeface="Calibri"/>
              </a:defRPr>
            </a:pPr>
            <a:r>
              <a:t>Módulo 4: Containers en Azure, AWS, Google Cloud y Evolución de Docker Cloud</a:t>
            </a:r>
            <a:br/>
            <a:r>
              <a:t>Jornada 3 de 4 (5 Horas Lectivas)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46 / 81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4 • FUNDAMENTOS CLOUD</a:t>
            </a:r>
          </a:p>
          <a:p>
            <a:pPr>
              <a:defRPr sz="2800" b="1">
                <a:solidFill>
                  <a:srgbClr val="1E293B"/>
                </a:solidFill>
                <a:latin typeface="Calibri"/>
              </a:defRPr>
            </a:pPr>
            <a:r>
              <a:t>Evolución Cloud: De IaaS a CaaS y Serverless Containers</a:t>
            </a:r>
          </a:p>
        </p:txBody>
      </p:sp>
      <p:sp>
        <p:nvSpPr>
          <p:cNvPr id="4" name="Rounded Rectangle 3"/>
          <p:cNvSpPr/>
          <p:nvPr/>
        </p:nvSpPr>
        <p:spPr>
          <a:xfrm>
            <a:off x="731520" y="1645920"/>
            <a:ext cx="33832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IaaS (VMs Tradicionales)</a:t>
            </a:r>
          </a:p>
          <a:p>
            <a:pPr>
              <a:spcAft>
                <a:spcPts val="800"/>
              </a:spcAft>
              <a:defRPr sz="1300">
                <a:latin typeface="Calibri"/>
              </a:defRPr>
            </a:pPr>
            <a:r>
              <a:rPr b="1">
                <a:solidFill>
                  <a:srgbClr val="1E293B"/>
                </a:solidFill>
              </a:rPr>
              <a:t>• Gestión de Infraestructura: </a:t>
            </a:r>
            <a:r>
              <a:rPr b="0">
                <a:solidFill>
                  <a:srgbClr val="1E293B"/>
                </a:solidFill>
              </a:rPr>
              <a:t>Parchear el SO, gestionar kernels, configurar firewalls de red y agentes de seguridad.</a:t>
            </a:r>
          </a:p>
          <a:p>
            <a:pPr>
              <a:spcAft>
                <a:spcPts val="800"/>
              </a:spcAft>
              <a:defRPr sz="1300">
                <a:latin typeface="Calibri"/>
              </a:defRPr>
            </a:pPr>
            <a:r>
              <a:rPr b="1">
                <a:solidFill>
                  <a:srgbClr val="1E293B"/>
                </a:solidFill>
              </a:rPr>
              <a:t>• Sobrecarga de Operaciones: </a:t>
            </a:r>
            <a:r>
              <a:rPr b="0">
                <a:solidFill>
                  <a:srgbClr val="1E293B"/>
                </a:solidFill>
              </a:rPr>
              <a:t>Escalar levantando nuevas VMs tarda minutos.</a:t>
            </a:r>
          </a:p>
          <a:p>
            <a:pPr>
              <a:spcAft>
                <a:spcPts val="800"/>
              </a:spcAft>
              <a:defRPr sz="1300">
                <a:latin typeface="Calibri"/>
              </a:defRPr>
            </a:pPr>
            <a:r>
              <a:rPr b="1">
                <a:solidFill>
                  <a:srgbClr val="1E293B"/>
                </a:solidFill>
              </a:rPr>
              <a:t>• Pago por Capacidad: </a:t>
            </a:r>
            <a:r>
              <a:rPr b="0">
                <a:solidFill>
                  <a:srgbClr val="1E293B"/>
                </a:solidFill>
              </a:rPr>
              <a:t>Facturación continua 24/7 aunque la CPU esté al 1% de uso.</a:t>
            </a:r>
          </a:p>
          <a:p>
            <a:pPr>
              <a:spcAft>
                <a:spcPts val="800"/>
              </a:spcAft>
              <a:defRPr sz="1300">
                <a:latin typeface="Calibri"/>
              </a:defRPr>
            </a:pPr>
            <a:r>
              <a:rPr b="1">
                <a:solidFill>
                  <a:srgbClr val="1E293B"/>
                </a:solidFill>
              </a:rPr>
              <a:t>• Uso: </a:t>
            </a:r>
            <a:r>
              <a:rPr b="0">
                <a:solidFill>
                  <a:srgbClr val="1E293B"/>
                </a:solidFill>
              </a:rPr>
              <a:t>Monolitos antiguos o cargas que requieren control extremo de hardware.</a:t>
            </a:r>
          </a:p>
        </p:txBody>
      </p:sp>
      <p:sp>
        <p:nvSpPr>
          <p:cNvPr id="5" name="Rounded Rectangle 4"/>
          <p:cNvSpPr/>
          <p:nvPr/>
        </p:nvSpPr>
        <p:spPr>
          <a:xfrm>
            <a:off x="4389120" y="1645920"/>
            <a:ext cx="33832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CaaS (Containers as a Service)</a:t>
            </a:r>
          </a:p>
          <a:p>
            <a:pPr>
              <a:spcAft>
                <a:spcPts val="800"/>
              </a:spcAft>
              <a:defRPr sz="1300">
                <a:latin typeface="Calibri"/>
              </a:defRPr>
            </a:pPr>
            <a:r>
              <a:rPr b="1">
                <a:solidFill>
                  <a:srgbClr val="1E293B"/>
                </a:solidFill>
              </a:rPr>
              <a:t>• Control del Contenedor: </a:t>
            </a:r>
            <a:r>
              <a:rPr b="0">
                <a:solidFill>
                  <a:srgbClr val="1E293B"/>
                </a:solidFill>
              </a:rPr>
              <a:t>El usuario entrega la imagen Docker; el proveedor gestiona el runtime.</a:t>
            </a:r>
          </a:p>
          <a:p>
            <a:pPr>
              <a:spcAft>
                <a:spcPts val="800"/>
              </a:spcAft>
              <a:defRPr sz="1300">
                <a:latin typeface="Calibri"/>
              </a:defRPr>
            </a:pPr>
            <a:r>
              <a:rPr b="1">
                <a:solidFill>
                  <a:srgbClr val="1E293B"/>
                </a:solidFill>
              </a:rPr>
              <a:t>• Orquestación Integrada: </a:t>
            </a:r>
            <a:r>
              <a:rPr b="0">
                <a:solidFill>
                  <a:srgbClr val="1E293B"/>
                </a:solidFill>
              </a:rPr>
              <a:t>Servicios que manejan el ciclo de vida, balanceo y reinicio de contenedores.</a:t>
            </a:r>
          </a:p>
          <a:p>
            <a:pPr>
              <a:spcAft>
                <a:spcPts val="800"/>
              </a:spcAft>
              <a:defRPr sz="1300">
                <a:latin typeface="Calibri"/>
              </a:defRPr>
            </a:pPr>
            <a:r>
              <a:rPr b="1">
                <a:solidFill>
                  <a:srgbClr val="1E293B"/>
                </a:solidFill>
              </a:rPr>
              <a:t>• Escalado Ágil: </a:t>
            </a:r>
            <a:r>
              <a:rPr b="0">
                <a:solidFill>
                  <a:srgbClr val="1E293B"/>
                </a:solidFill>
              </a:rPr>
              <a:t>Adición de réplicas en segundos en lugar de minutos.</a:t>
            </a:r>
          </a:p>
          <a:p>
            <a:pPr>
              <a:spcAft>
                <a:spcPts val="800"/>
              </a:spcAft>
              <a:defRPr sz="1300">
                <a:latin typeface="Calibri"/>
              </a:defRPr>
            </a:pPr>
            <a:r>
              <a:rPr b="1">
                <a:solidFill>
                  <a:srgbClr val="1E293B"/>
                </a:solidFill>
              </a:rPr>
              <a:t>• Ejemplos: </a:t>
            </a:r>
            <a:r>
              <a:rPr b="0">
                <a:solidFill>
                  <a:srgbClr val="1E293B"/>
                </a:solidFill>
              </a:rPr>
              <a:t>Amazon ECS, Azure Container Apps, Google Cloud Run.</a:t>
            </a:r>
          </a:p>
        </p:txBody>
      </p:sp>
      <p:sp>
        <p:nvSpPr>
          <p:cNvPr id="6" name="Rounded Rectangle 5"/>
          <p:cNvSpPr/>
          <p:nvPr/>
        </p:nvSpPr>
        <p:spPr>
          <a:xfrm>
            <a:off x="8046720" y="1645920"/>
            <a:ext cx="33832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Serverless Containers</a:t>
            </a:r>
          </a:p>
          <a:p>
            <a:pPr>
              <a:spcAft>
                <a:spcPts val="800"/>
              </a:spcAft>
              <a:defRPr sz="1300">
                <a:latin typeface="Calibri"/>
              </a:defRPr>
            </a:pPr>
            <a:r>
              <a:rPr b="1">
                <a:solidFill>
                  <a:srgbClr val="1E293B"/>
                </a:solidFill>
              </a:rPr>
              <a:t>• Cero Servidores que Administrar: </a:t>
            </a:r>
            <a:r>
              <a:rPr b="0">
                <a:solidFill>
                  <a:srgbClr val="1E293B"/>
                </a:solidFill>
              </a:rPr>
              <a:t>Sin nodos, sin clusters que actualizar, sin capacidad ociosa.</a:t>
            </a:r>
          </a:p>
          <a:p>
            <a:pPr>
              <a:spcAft>
                <a:spcPts val="800"/>
              </a:spcAft>
              <a:defRPr sz="1300">
                <a:latin typeface="Calibri"/>
              </a:defRPr>
            </a:pPr>
            <a:r>
              <a:rPr b="1">
                <a:solidFill>
                  <a:srgbClr val="1E293B"/>
                </a:solidFill>
              </a:rPr>
              <a:t>• Escalado a Cero: </a:t>
            </a:r>
            <a:r>
              <a:rPr b="0">
                <a:solidFill>
                  <a:srgbClr val="1E293B"/>
                </a:solidFill>
              </a:rPr>
              <a:t>Si no hay peticiones, el servicio escala a 0 réplicas y el coste es exactamente 0€.</a:t>
            </a:r>
          </a:p>
          <a:p>
            <a:pPr>
              <a:spcAft>
                <a:spcPts val="800"/>
              </a:spcAft>
              <a:defRPr sz="1300">
                <a:latin typeface="Calibri"/>
              </a:defRPr>
            </a:pPr>
            <a:r>
              <a:rPr b="1">
                <a:solidFill>
                  <a:srgbClr val="1E293B"/>
                </a:solidFill>
              </a:rPr>
              <a:t>• Pago por Consumo Exacto: </a:t>
            </a:r>
            <a:r>
              <a:rPr b="0">
                <a:solidFill>
                  <a:srgbClr val="1E293B"/>
                </a:solidFill>
              </a:rPr>
              <a:t>Facturación al milisegundo por vCPU y GB consumidos.</a:t>
            </a:r>
          </a:p>
          <a:p>
            <a:pPr>
              <a:spcAft>
                <a:spcPts val="800"/>
              </a:spcAft>
              <a:defRPr sz="1300">
                <a:latin typeface="Calibri"/>
              </a:defRPr>
            </a:pPr>
            <a:r>
              <a:rPr b="1">
                <a:solidFill>
                  <a:srgbClr val="1E293B"/>
                </a:solidFill>
              </a:rPr>
              <a:t>• Modelo Predilecto: </a:t>
            </a:r>
            <a:r>
              <a:rPr b="0">
                <a:solidFill>
                  <a:srgbClr val="1E293B"/>
                </a:solidFill>
              </a:rPr>
              <a:t>APIs REST, microservicios orientados a eventos y jobs batch.</a:t>
            </a:r>
          </a:p>
        </p:txBody>
      </p:sp>
      <p:sp>
        <p:nvSpPr>
          <p:cNvPr id="7" name="TextBox 6"/>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47 / 81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4 • PIPELINE</a:t>
            </a:r>
          </a:p>
          <a:p>
            <a:pPr>
              <a:defRPr sz="2800" b="1">
                <a:solidFill>
                  <a:srgbClr val="1E293B"/>
                </a:solidFill>
                <a:latin typeface="Calibri"/>
              </a:defRPr>
            </a:pPr>
            <a:r>
              <a:t>El Ciclo de Vida Cloud: Build, Ship &amp; Run</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El Flujo Canónico del Contenedor</a:t>
            </a:r>
          </a:p>
          <a:p>
            <a:pPr>
              <a:spcAft>
                <a:spcPts val="800"/>
              </a:spcAft>
              <a:defRPr sz="1400">
                <a:latin typeface="Calibri"/>
              </a:defRPr>
            </a:pPr>
            <a:r>
              <a:rPr b="1">
                <a:solidFill>
                  <a:srgbClr val="1E293B"/>
                </a:solidFill>
              </a:rPr>
              <a:t>• 1. BUILD (Local o CI/CD): </a:t>
            </a:r>
            <a:r>
              <a:rPr b="0">
                <a:solidFill>
                  <a:srgbClr val="1E293B"/>
                </a:solidFill>
              </a:rPr>
              <a:t>El desarrollador o el servidor de integración continua (GitHub Actions, GitLab CI, Azure DevOps) compila la imagen.</a:t>
            </a:r>
          </a:p>
          <a:p>
            <a:pPr>
              <a:spcAft>
                <a:spcPts val="800"/>
              </a:spcAft>
              <a:defRPr sz="1400">
                <a:latin typeface="Calibri"/>
              </a:defRPr>
            </a:pPr>
            <a:r>
              <a:rPr b="1">
                <a:solidFill>
                  <a:srgbClr val="1E293B"/>
                </a:solidFill>
              </a:rPr>
              <a:t>• 2. TAG: </a:t>
            </a:r>
            <a:r>
              <a:rPr b="0">
                <a:solidFill>
                  <a:srgbClr val="1E293B"/>
                </a:solidFill>
              </a:rPr>
              <a:t>Se etiqueta la imagen con la URL del registro privado y el commit SHA o versión semántica (`mi-registry.azurecr.io/app:v1.2.0`).</a:t>
            </a:r>
          </a:p>
          <a:p>
            <a:pPr>
              <a:spcAft>
                <a:spcPts val="800"/>
              </a:spcAft>
              <a:defRPr sz="1400">
                <a:latin typeface="Calibri"/>
              </a:defRPr>
            </a:pPr>
            <a:r>
              <a:rPr b="1">
                <a:solidFill>
                  <a:srgbClr val="1E293B"/>
                </a:solidFill>
              </a:rPr>
              <a:t>• 3. SHIP (Push): </a:t>
            </a:r>
            <a:r>
              <a:rPr b="0">
                <a:solidFill>
                  <a:srgbClr val="1E293B"/>
                </a:solidFill>
              </a:rPr>
              <a:t>Se sube la imagen al Container Registry mediante protocolos HTTPS autenticados con tokens seguros.</a:t>
            </a:r>
          </a:p>
          <a:p>
            <a:pPr>
              <a:spcAft>
                <a:spcPts val="800"/>
              </a:spcAft>
              <a:defRPr sz="1400">
                <a:latin typeface="Calibri"/>
              </a:defRPr>
            </a:pPr>
            <a:r>
              <a:rPr b="1">
                <a:solidFill>
                  <a:srgbClr val="1E293B"/>
                </a:solidFill>
              </a:rPr>
              <a:t>• 4. RUN (Pull &amp; Deploy): </a:t>
            </a:r>
            <a:r>
              <a:rPr b="0">
                <a:solidFill>
                  <a:srgbClr val="1E293B"/>
                </a:solidFill>
              </a:rPr>
              <a:t>El servicio cloud descarga la imagen desde el registry privado y arranca el contenedor.</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Comandos de Flujo Cloud</a:t>
            </a:r>
          </a:p>
          <a:p>
            <a:pPr>
              <a:spcAft>
                <a:spcPts val="200"/>
              </a:spcAft>
              <a:defRPr sz="1100">
                <a:solidFill>
                  <a:srgbClr val="94A3B8"/>
                </a:solidFill>
                <a:latin typeface="Consolas"/>
              </a:defRPr>
            </a:pPr>
            <a:r>
              <a:t># Flujo típico en terminal:</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1. Autenticarse en el registro cloud</a:t>
            </a:r>
          </a:p>
          <a:p>
            <a:pPr>
              <a:spcAft>
                <a:spcPts val="200"/>
              </a:spcAft>
              <a:defRPr sz="1100" b="1">
                <a:solidFill>
                  <a:srgbClr val="38BDF8"/>
                </a:solidFill>
                <a:latin typeface="Consolas"/>
              </a:defRPr>
            </a:pPr>
            <a:r>
              <a:t>$ az acr login --name miregistry    # Azure</a:t>
            </a:r>
          </a:p>
          <a:p>
            <a:pPr>
              <a:spcAft>
                <a:spcPts val="200"/>
              </a:spcAft>
              <a:defRPr sz="1100" b="1">
                <a:solidFill>
                  <a:srgbClr val="38BDF8"/>
                </a:solidFill>
                <a:latin typeface="Consolas"/>
              </a:defRPr>
            </a:pPr>
            <a:r>
              <a:t>$ aws ecr get-login-password | ...  # AWS</a:t>
            </a:r>
          </a:p>
          <a:p>
            <a:pPr>
              <a:spcAft>
                <a:spcPts val="200"/>
              </a:spcAft>
              <a:defRPr sz="1100" b="1">
                <a:solidFill>
                  <a:srgbClr val="38BDF8"/>
                </a:solidFill>
                <a:latin typeface="Consolas"/>
              </a:defRPr>
            </a:pPr>
            <a:r>
              <a:t>$ gcloud auth configure-docker      # GCP</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2. Etiquetar la imagen local con la ruta completa</a:t>
            </a:r>
          </a:p>
          <a:p>
            <a:pPr>
              <a:spcAft>
                <a:spcPts val="200"/>
              </a:spcAft>
              <a:defRPr sz="1100" b="1">
                <a:solidFill>
                  <a:srgbClr val="38BDF8"/>
                </a:solidFill>
                <a:latin typeface="Consolas"/>
              </a:defRPr>
            </a:pPr>
            <a:r>
              <a:t>$ docker tag mi-app:latest \</a:t>
            </a:r>
          </a:p>
          <a:p>
            <a:pPr>
              <a:spcAft>
                <a:spcPts val="200"/>
              </a:spcAft>
              <a:defRPr sz="1100">
                <a:solidFill>
                  <a:srgbClr val="FFFFFF"/>
                </a:solidFill>
                <a:latin typeface="Consolas"/>
              </a:defRPr>
            </a:pPr>
            <a:r>
              <a:t>    miregistry.azurecr.io/servicios/mi-app:1.2.0</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3. Enviar las capas al registro remoto</a:t>
            </a:r>
          </a:p>
          <a:p>
            <a:pPr>
              <a:spcAft>
                <a:spcPts val="200"/>
              </a:spcAft>
              <a:defRPr sz="1100" b="1">
                <a:solidFill>
                  <a:srgbClr val="38BDF8"/>
                </a:solidFill>
                <a:latin typeface="Consolas"/>
              </a:defRPr>
            </a:pPr>
            <a:r>
              <a:t>$ docker push miregistry.azurecr.io/servicios/mi-app:1.2.0</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4. Desplegar en servicio serverless</a:t>
            </a:r>
          </a:p>
          <a:p>
            <a:pPr>
              <a:spcAft>
                <a:spcPts val="200"/>
              </a:spcAft>
              <a:defRPr sz="1100" b="1">
                <a:solidFill>
                  <a:srgbClr val="38BDF8"/>
                </a:solidFill>
                <a:latin typeface="Consolas"/>
              </a:defRPr>
            </a:pPr>
            <a:r>
              <a:t>$ az container create ... --image miregistry...:1.2.0</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48 / 81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4 • REGISTRIES</a:t>
            </a:r>
          </a:p>
          <a:p>
            <a:pPr>
              <a:defRPr sz="2800" b="1">
                <a:solidFill>
                  <a:srgbClr val="1E293B"/>
                </a:solidFill>
                <a:latin typeface="Calibri"/>
              </a:defRPr>
            </a:pPr>
            <a:r>
              <a:t>Container Registries: Seguridad, Escaneo y Gobernanza</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Docker Hub vs Registries Cloud Gestionados</a:t>
            </a:r>
          </a:p>
          <a:p>
            <a:pPr>
              <a:spcAft>
                <a:spcPts val="800"/>
              </a:spcAft>
              <a:defRPr sz="1400">
                <a:latin typeface="Calibri"/>
              </a:defRPr>
            </a:pPr>
            <a:r>
              <a:rPr b="1">
                <a:solidFill>
                  <a:srgbClr val="1E293B"/>
                </a:solidFill>
              </a:rPr>
              <a:t>• Docker Hub: </a:t>
            </a:r>
            <a:r>
              <a:rPr b="0">
                <a:solidFill>
                  <a:srgbClr val="1E293B"/>
                </a:solidFill>
              </a:rPr>
              <a:t>El registro público central de la comunidad. Excelente para imágenes base oficiales (Ubuntu, Alpine, Node, Python), pero con límites de rate-limit (peticiones anónimas restringidas).</a:t>
            </a:r>
          </a:p>
          <a:p>
            <a:pPr>
              <a:spcAft>
                <a:spcPts val="800"/>
              </a:spcAft>
              <a:defRPr sz="1400">
                <a:latin typeface="Calibri"/>
              </a:defRPr>
            </a:pPr>
            <a:r>
              <a:rPr b="1">
                <a:solidFill>
                  <a:srgbClr val="1E293B"/>
                </a:solidFill>
              </a:rPr>
              <a:t>• Registries Privados Cloud (ACR, ECR, Artifact Registry): </a:t>
            </a:r>
            <a:r>
              <a:rPr b="0">
                <a:solidFill>
                  <a:srgbClr val="1E293B"/>
                </a:solidFill>
              </a:rPr>
              <a:t>Almacenamiento privado dentro de la red del proveedor de nube sin límites de ancho de banda y con coste mínimo.</a:t>
            </a:r>
          </a:p>
          <a:p>
            <a:pPr>
              <a:spcAft>
                <a:spcPts val="800"/>
              </a:spcAft>
              <a:defRPr sz="1400">
                <a:latin typeface="Calibri"/>
              </a:defRPr>
            </a:pPr>
            <a:r>
              <a:rPr b="1">
                <a:solidFill>
                  <a:srgbClr val="1E293B"/>
                </a:solidFill>
              </a:rPr>
              <a:t>• Autenticación Nativa IAM: </a:t>
            </a:r>
            <a:r>
              <a:rPr b="0">
                <a:solidFill>
                  <a:srgbClr val="1E293B"/>
                </a:solidFill>
              </a:rPr>
              <a:t>Acceso basado en identidades gestionadas y roles de nube (evita contraseñas estáticas en archivos de configuración).</a:t>
            </a:r>
          </a:p>
          <a:p>
            <a:pPr>
              <a:spcAft>
                <a:spcPts val="800"/>
              </a:spcAft>
              <a:defRPr sz="1400">
                <a:latin typeface="Calibri"/>
              </a:defRPr>
            </a:pPr>
            <a:r>
              <a:rPr b="1">
                <a:solidFill>
                  <a:srgbClr val="1E293B"/>
                </a:solidFill>
              </a:rPr>
              <a:t>• Geo-Replicación: </a:t>
            </a:r>
            <a:r>
              <a:rPr b="0">
                <a:solidFill>
                  <a:srgbClr val="1E293B"/>
                </a:solidFill>
              </a:rPr>
              <a:t>Duplicación automática de imágenes en múltiples regiones geográficas para descargas ultrarrápidas y resiliencia.</a:t>
            </a:r>
          </a:p>
        </p:txBody>
      </p:sp>
      <p:sp>
        <p:nvSpPr>
          <p:cNvPr id="5" name="Rounded Rectangle 4"/>
          <p:cNvSpPr/>
          <p:nvPr/>
        </p:nvSpPr>
        <p:spPr>
          <a:xfrm>
            <a:off x="6217920" y="1645920"/>
            <a:ext cx="52120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Seguridad y Escaneo de Vulnerabilidades</a:t>
            </a:r>
          </a:p>
          <a:p>
            <a:pPr>
              <a:spcAft>
                <a:spcPts val="800"/>
              </a:spcAft>
              <a:defRPr sz="1400">
                <a:latin typeface="Calibri"/>
              </a:defRPr>
            </a:pPr>
            <a:r>
              <a:rPr b="1">
                <a:solidFill>
                  <a:srgbClr val="1E293B"/>
                </a:solidFill>
              </a:rPr>
              <a:t>• Escaneo Automático de CVEs: </a:t>
            </a:r>
            <a:r>
              <a:rPr b="0">
                <a:solidFill>
                  <a:srgbClr val="1E293B"/>
                </a:solidFill>
              </a:rPr>
              <a:t>Los registros analizan los paquetes del SO de la imagen (apt, apk, rpm) y alertan sobre vulnerabilidades conocidas (CVE-xxxx).</a:t>
            </a:r>
          </a:p>
          <a:p>
            <a:pPr>
              <a:spcAft>
                <a:spcPts val="800"/>
              </a:spcAft>
              <a:defRPr sz="1400">
                <a:latin typeface="Calibri"/>
              </a:defRPr>
            </a:pPr>
            <a:r>
              <a:rPr b="1">
                <a:solidFill>
                  <a:srgbClr val="1E293B"/>
                </a:solidFill>
              </a:rPr>
              <a:t>• Firma Criptográfica (Notary / Cosign): </a:t>
            </a:r>
            <a:r>
              <a:rPr b="0">
                <a:solidFill>
                  <a:srgbClr val="1E293B"/>
                </a:solidFill>
              </a:rPr>
              <a:t>Garantía de que la imagen desplegada en producción fue firmada por el equipo de seguridad y no ha sido alterada.</a:t>
            </a:r>
          </a:p>
          <a:p>
            <a:pPr>
              <a:spcAft>
                <a:spcPts val="800"/>
              </a:spcAft>
              <a:defRPr sz="1400">
                <a:latin typeface="Calibri"/>
              </a:defRPr>
            </a:pPr>
            <a:r>
              <a:rPr b="1">
                <a:solidFill>
                  <a:srgbClr val="1E293B"/>
                </a:solidFill>
              </a:rPr>
              <a:t>• Políticas de Inmutabilidad de Tags: </a:t>
            </a:r>
            <a:r>
              <a:rPr b="0">
                <a:solidFill>
                  <a:srgbClr val="1E293B"/>
                </a:solidFill>
              </a:rPr>
              <a:t>Impedir que un tag existente (ej. `:v1.0.0`) sea sobrescrito por un push malicioso o accidental.</a:t>
            </a:r>
          </a:p>
          <a:p>
            <a:pPr>
              <a:spcAft>
                <a:spcPts val="800"/>
              </a:spcAft>
              <a:defRPr sz="1400">
                <a:latin typeface="Calibri"/>
              </a:defRPr>
            </a:pPr>
            <a:r>
              <a:rPr b="1">
                <a:solidFill>
                  <a:srgbClr val="1E293B"/>
                </a:solidFill>
              </a:rPr>
              <a:t>• Políticas de Limpieza Automática (Lifecycle Rules): </a:t>
            </a:r>
            <a:r>
              <a:rPr b="0">
                <a:solidFill>
                  <a:srgbClr val="1E293B"/>
                </a:solidFill>
              </a:rPr>
              <a:t>Eliminación programada de imágenes sin etiquetar (untagged) tras 30 días para ahorrar costes.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49 / 81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4 • AZURE</a:t>
            </a:r>
          </a:p>
          <a:p>
            <a:pPr>
              <a:defRPr sz="2800" b="1">
                <a:solidFill>
                  <a:srgbClr val="1E293B"/>
                </a:solidFill>
                <a:latin typeface="Calibri"/>
              </a:defRPr>
            </a:pPr>
            <a:r>
              <a:t>Contenedores en Microsoft Azure: Panorámica de Servicios</a:t>
            </a:r>
          </a:p>
        </p:txBody>
      </p:sp>
      <p:sp>
        <p:nvSpPr>
          <p:cNvPr id="4" name="Rounded Rectangle 3"/>
          <p:cNvSpPr/>
          <p:nvPr/>
        </p:nvSpPr>
        <p:spPr>
          <a:xfrm>
            <a:off x="731520" y="1645920"/>
            <a:ext cx="106984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El Catálogo de Soluciones de Contenedores de Azure</a:t>
            </a:r>
          </a:p>
          <a:p>
            <a:pPr>
              <a:spcAft>
                <a:spcPts val="1200"/>
              </a:spcAft>
              <a:defRPr sz="1400">
                <a:latin typeface="Calibri"/>
              </a:defRPr>
            </a:pPr>
            <a:r>
              <a:rPr b="1">
                <a:solidFill>
                  <a:srgbClr val="1E293B"/>
                </a:solidFill>
              </a:rPr>
              <a:t>• Azure Container Registry (ACR): </a:t>
            </a:r>
            <a:r>
              <a:rPr b="0">
                <a:solidFill>
                  <a:srgbClr val="1E293B"/>
                </a:solidFill>
              </a:rPr>
              <a:t>Servicio gestionado de registro privado compatible con OCI, con cifrado en reposo, soporte de geo-replicación y control de acceso RBAC vía Microsoft Entra ID (Azure AD).</a:t>
            </a:r>
          </a:p>
          <a:p>
            <a:pPr>
              <a:spcAft>
                <a:spcPts val="1200"/>
              </a:spcAft>
              <a:defRPr sz="1400">
                <a:latin typeface="Calibri"/>
              </a:defRPr>
            </a:pPr>
            <a:r>
              <a:rPr b="1">
                <a:solidFill>
                  <a:srgbClr val="1E293B"/>
                </a:solidFill>
              </a:rPr>
              <a:t>• Azure Container Instances (ACI): </a:t>
            </a:r>
            <a:r>
              <a:rPr b="0">
                <a:solidFill>
                  <a:srgbClr val="1E293B"/>
                </a:solidFill>
              </a:rPr>
              <a:t>La forma más rápida y simple de ejecutar un contenedor en Azure sin aprovisionar máquinas virtuales ni clústeres. Ideal para jobs puntuales, tareas batch o despliegues simples.</a:t>
            </a:r>
          </a:p>
          <a:p>
            <a:pPr>
              <a:spcAft>
                <a:spcPts val="1200"/>
              </a:spcAft>
              <a:defRPr sz="1400">
                <a:latin typeface="Calibri"/>
              </a:defRPr>
            </a:pPr>
            <a:r>
              <a:rPr b="1">
                <a:solidFill>
                  <a:srgbClr val="1E293B"/>
                </a:solidFill>
              </a:rPr>
              <a:t>• Azure Container Apps (ACA): </a:t>
            </a:r>
            <a:r>
              <a:rPr b="0">
                <a:solidFill>
                  <a:srgbClr val="1E293B"/>
                </a:solidFill>
              </a:rPr>
              <a:t>Plataforma de aplicaciones serverless basada en Kubernetes gestionado, Envoy y KEDA (Kubernetes Event-driven Autoscaling). Pensada para microservicios con escalado automático.</a:t>
            </a:r>
          </a:p>
          <a:p>
            <a:pPr>
              <a:spcAft>
                <a:spcPts val="1200"/>
              </a:spcAft>
              <a:defRPr sz="1400">
                <a:latin typeface="Calibri"/>
              </a:defRPr>
            </a:pPr>
            <a:r>
              <a:rPr b="1">
                <a:solidFill>
                  <a:srgbClr val="1E293B"/>
                </a:solidFill>
              </a:rPr>
              <a:t>• Azure App Service for Containers: </a:t>
            </a:r>
            <a:r>
              <a:rPr b="0">
                <a:solidFill>
                  <a:srgbClr val="1E293B"/>
                </a:solidFill>
              </a:rPr>
              <a:t>Ejecución de aplicaciones web contenerizadas con certificados SSL automáticos, dominios personalizados, slots de despliegue y autenticación integrada.</a:t>
            </a:r>
          </a:p>
          <a:p>
            <a:pPr>
              <a:spcAft>
                <a:spcPts val="1200"/>
              </a:spcAft>
              <a:defRPr sz="1400">
                <a:latin typeface="Calibri"/>
              </a:defRPr>
            </a:pPr>
            <a:r>
              <a:rPr b="1">
                <a:solidFill>
                  <a:srgbClr val="1E293B"/>
                </a:solidFill>
              </a:rPr>
              <a:t>• Azure Kubernetes Service (AKS): </a:t>
            </a:r>
            <a:r>
              <a:rPr b="0">
                <a:solidFill>
                  <a:srgbClr val="1E293B"/>
                </a:solidFill>
              </a:rPr>
              <a:t>Servicio completo y gestionado de Kubernetes para despliegues empresariales de gran escala con control fino de infraestructura.</a:t>
            </a:r>
          </a:p>
        </p:txBody>
      </p:sp>
      <p:sp>
        <p:nvSpPr>
          <p:cNvPr id="5" name="TextBox 4"/>
          <p:cNvSpPr txBox="1"/>
          <p:nvPr/>
        </p:nvSpPr>
        <p:spPr>
          <a:xfrm>
            <a:off x="10332720" y="6446520"/>
            <a:ext cx="1645920" cy="320040"/>
          </a:xfrm>
          <a:prstGeom prst="rect">
            <a:avLst/>
          </a:prstGeom>
          <a:noFill/>
        </p:spPr>
        <p:txBody>
          <a:bodyPr wrap="none" lIns="0" tIns="0" rIns="0" bIns="0">
            <a:spAutoFit/>
          </a:bodyPr>
          <a:lstStyle/>
          <a:p>
            <a:pPr algn="r">
              <a:defRPr sz="900">
                <a:solidFill>
                  <a:srgbClr val="0DB7ED"/>
                </a:solidFill>
                <a:latin typeface="Calibri"/>
              </a:defRPr>
            </a:pPr>
            <a:r>
              <a:t>50 / 81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4 • AZURE</a:t>
            </a:r>
          </a:p>
          <a:p>
            <a:pPr>
              <a:defRPr sz="2800" b="1">
                <a:solidFill>
                  <a:srgbClr val="1E293B"/>
                </a:solidFill>
                <a:latin typeface="Calibri"/>
              </a:defRPr>
            </a:pPr>
            <a:r>
              <a:t>Azure Container Instances (ACI): Contenedores sin Servidores</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Características Principales de ACI</a:t>
            </a:r>
          </a:p>
          <a:p>
            <a:pPr>
              <a:spcAft>
                <a:spcPts val="800"/>
              </a:spcAft>
              <a:defRPr sz="1400">
                <a:latin typeface="Calibri"/>
              </a:defRPr>
            </a:pPr>
            <a:r>
              <a:rPr b="1">
                <a:solidFill>
                  <a:srgbClr val="1E293B"/>
                </a:solidFill>
              </a:rPr>
              <a:t>• Arranque Inmediato: </a:t>
            </a:r>
            <a:r>
              <a:rPr b="0">
                <a:solidFill>
                  <a:srgbClr val="1E293B"/>
                </a:solidFill>
              </a:rPr>
              <a:t>Puesta en marcha en segundos sin esperas de aprovisionamiento de máquinas virtuales.</a:t>
            </a:r>
          </a:p>
          <a:p>
            <a:pPr>
              <a:spcAft>
                <a:spcPts val="800"/>
              </a:spcAft>
              <a:defRPr sz="1400">
                <a:latin typeface="Calibri"/>
              </a:defRPr>
            </a:pPr>
            <a:r>
              <a:rPr b="1">
                <a:solidFill>
                  <a:srgbClr val="1E293B"/>
                </a:solidFill>
              </a:rPr>
              <a:t>• Facturación por Segundos: </a:t>
            </a:r>
            <a:r>
              <a:rPr b="0">
                <a:solidFill>
                  <a:srgbClr val="1E293B"/>
                </a:solidFill>
              </a:rPr>
              <a:t>Pago únicamente por la duración exacta de ejecución y los recursos asignados (vCPUs y GB de memoria).</a:t>
            </a:r>
          </a:p>
          <a:p>
            <a:pPr>
              <a:spcAft>
                <a:spcPts val="800"/>
              </a:spcAft>
              <a:defRPr sz="1400">
                <a:latin typeface="Calibri"/>
              </a:defRPr>
            </a:pPr>
            <a:r>
              <a:rPr b="1">
                <a:solidFill>
                  <a:srgbClr val="1E293B"/>
                </a:solidFill>
              </a:rPr>
              <a:t>• Aislamiento por Hipervisor: </a:t>
            </a:r>
            <a:r>
              <a:rPr b="0">
                <a:solidFill>
                  <a:srgbClr val="1E293B"/>
                </a:solidFill>
              </a:rPr>
              <a:t>Seguridad multinquilino de nivel hipervisor; cada instancia corre en su propio sandbox de virtualización ligera.</a:t>
            </a:r>
          </a:p>
          <a:p>
            <a:pPr>
              <a:spcAft>
                <a:spcPts val="800"/>
              </a:spcAft>
              <a:defRPr sz="1400">
                <a:latin typeface="Calibri"/>
              </a:defRPr>
            </a:pPr>
            <a:r>
              <a:rPr b="1">
                <a:solidFill>
                  <a:srgbClr val="1E293B"/>
                </a:solidFill>
              </a:rPr>
              <a:t>• Dirección IP Pública y DNS: </a:t>
            </a:r>
            <a:r>
              <a:rPr b="0">
                <a:solidFill>
                  <a:srgbClr val="1E293B"/>
                </a:solidFill>
              </a:rPr>
              <a:t>Asignación automática de IP pública y nombre de dominio FQDN (`&lt;nombre&gt;.eastus.azurecontainer.io`).</a:t>
            </a:r>
          </a:p>
          <a:p>
            <a:pPr>
              <a:spcAft>
                <a:spcPts val="800"/>
              </a:spcAft>
              <a:defRPr sz="1400">
                <a:latin typeface="Calibri"/>
              </a:defRPr>
            </a:pPr>
            <a:r>
              <a:rPr b="1">
                <a:solidFill>
                  <a:srgbClr val="1E293B"/>
                </a:solidFill>
              </a:rPr>
              <a:t>• Montaje de Volúmenes: </a:t>
            </a:r>
            <a:r>
              <a:rPr b="0">
                <a:solidFill>
                  <a:srgbClr val="1E293B"/>
                </a:solidFill>
              </a:rPr>
              <a:t>Soporte nativo para montar carpetas compartidas de Azure Files mediante SMB/CIFS.</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Despliegue con Azure CLI</a:t>
            </a:r>
          </a:p>
          <a:p>
            <a:pPr>
              <a:spcAft>
                <a:spcPts val="200"/>
              </a:spcAft>
              <a:defRPr sz="1100">
                <a:solidFill>
                  <a:srgbClr val="94A3B8"/>
                </a:solidFill>
                <a:latin typeface="Consolas"/>
              </a:defRPr>
            </a:pPr>
            <a:r>
              <a:t># Desplegar un contenedor Nginx en Azure con Azure CLI</a:t>
            </a:r>
          </a:p>
          <a:p>
            <a:pPr>
              <a:spcAft>
                <a:spcPts val="200"/>
              </a:spcAft>
              <a:defRPr sz="1100" b="1">
                <a:solidFill>
                  <a:srgbClr val="38BDF8"/>
                </a:solidFill>
                <a:latin typeface="Consolas"/>
              </a:defRPr>
            </a:pPr>
            <a:r>
              <a:t>$ az container create \</a:t>
            </a:r>
          </a:p>
          <a:p>
            <a:pPr>
              <a:spcAft>
                <a:spcPts val="200"/>
              </a:spcAft>
              <a:defRPr sz="1100">
                <a:solidFill>
                  <a:srgbClr val="FFFFFF"/>
                </a:solidFill>
                <a:latin typeface="Consolas"/>
              </a:defRPr>
            </a:pPr>
            <a:r>
              <a:t>    --resource-group rg-formacion \</a:t>
            </a:r>
          </a:p>
          <a:p>
            <a:pPr>
              <a:spcAft>
                <a:spcPts val="200"/>
              </a:spcAft>
              <a:defRPr sz="1100">
                <a:solidFill>
                  <a:srgbClr val="FFFFFF"/>
                </a:solidFill>
                <a:latin typeface="Consolas"/>
              </a:defRPr>
            </a:pPr>
            <a:r>
              <a:t>    --name mi-web-aci \</a:t>
            </a:r>
          </a:p>
          <a:p>
            <a:pPr>
              <a:spcAft>
                <a:spcPts val="200"/>
              </a:spcAft>
              <a:defRPr sz="1100">
                <a:solidFill>
                  <a:srgbClr val="FFFFFF"/>
                </a:solidFill>
                <a:latin typeface="Consolas"/>
              </a:defRPr>
            </a:pPr>
            <a:r>
              <a:t>    --image mcr.microsoft.com/azuredocs/aci-helloworld \</a:t>
            </a:r>
          </a:p>
          <a:p>
            <a:pPr>
              <a:spcAft>
                <a:spcPts val="200"/>
              </a:spcAft>
              <a:defRPr sz="1100">
                <a:solidFill>
                  <a:srgbClr val="FFFFFF"/>
                </a:solidFill>
                <a:latin typeface="Consolas"/>
              </a:defRPr>
            </a:pPr>
            <a:r>
              <a:t>    --dns-name-label curso-docker-demo \</a:t>
            </a:r>
          </a:p>
          <a:p>
            <a:pPr>
              <a:spcAft>
                <a:spcPts val="200"/>
              </a:spcAft>
              <a:defRPr sz="1100">
                <a:solidFill>
                  <a:srgbClr val="FFFFFF"/>
                </a:solidFill>
                <a:latin typeface="Consolas"/>
              </a:defRPr>
            </a:pPr>
            <a:r>
              <a:t>    --ports 80 \</a:t>
            </a:r>
          </a:p>
          <a:p>
            <a:pPr>
              <a:spcAft>
                <a:spcPts val="200"/>
              </a:spcAft>
              <a:defRPr sz="1100">
                <a:solidFill>
                  <a:srgbClr val="FFFFFF"/>
                </a:solidFill>
                <a:latin typeface="Consolas"/>
              </a:defRPr>
            </a:pPr>
            <a:r>
              <a:t>    --cpu 1 \</a:t>
            </a:r>
          </a:p>
          <a:p>
            <a:pPr>
              <a:spcAft>
                <a:spcPts val="200"/>
              </a:spcAft>
              <a:defRPr sz="1100">
                <a:solidFill>
                  <a:srgbClr val="FFFFFF"/>
                </a:solidFill>
                <a:latin typeface="Consolas"/>
              </a:defRPr>
            </a:pPr>
            <a:r>
              <a:t>    --memory 1.5</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Comprobar estado y ver FQDN asignado</a:t>
            </a:r>
          </a:p>
          <a:p>
            <a:pPr>
              <a:spcAft>
                <a:spcPts val="200"/>
              </a:spcAft>
              <a:defRPr sz="1100" b="1">
                <a:solidFill>
                  <a:srgbClr val="38BDF8"/>
                </a:solidFill>
                <a:latin typeface="Consolas"/>
              </a:defRPr>
            </a:pPr>
            <a:r>
              <a:t>$ az container show --resource-group rg-formacion \</a:t>
            </a:r>
          </a:p>
          <a:p>
            <a:pPr>
              <a:spcAft>
                <a:spcPts val="200"/>
              </a:spcAft>
              <a:defRPr sz="1100">
                <a:solidFill>
                  <a:srgbClr val="FFFFFF"/>
                </a:solidFill>
                <a:latin typeface="Consolas"/>
              </a:defRPr>
            </a:pPr>
            <a:r>
              <a:t>    --name mi-web-aci --query "ipAddress.fqdn"</a:t>
            </a:r>
          </a:p>
          <a:p>
            <a:pPr>
              <a:spcAft>
                <a:spcPts val="200"/>
              </a:spcAft>
              <a:defRPr sz="1100">
                <a:solidFill>
                  <a:srgbClr val="FFFFFF"/>
                </a:solidFill>
                <a:latin typeface="Consolas"/>
              </a:defRPr>
            </a:pPr>
            <a:r>
              <a:t>"curso-docker-demo.eastus.azurecontainer.io"</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Destruir la instancia al finalizar</a:t>
            </a:r>
          </a:p>
          <a:p>
            <a:pPr>
              <a:spcAft>
                <a:spcPts val="200"/>
              </a:spcAft>
              <a:defRPr sz="1100" b="1">
                <a:solidFill>
                  <a:srgbClr val="38BDF8"/>
                </a:solidFill>
                <a:latin typeface="Consolas"/>
              </a:defRPr>
            </a:pPr>
            <a:r>
              <a:t>$ az container delete --resource-group rg-formacion \</a:t>
            </a:r>
          </a:p>
          <a:p>
            <a:pPr>
              <a:spcAft>
                <a:spcPts val="200"/>
              </a:spcAft>
              <a:defRPr sz="1100">
                <a:solidFill>
                  <a:srgbClr val="FFFFFF"/>
                </a:solidFill>
                <a:latin typeface="Consolas"/>
              </a:defRPr>
            </a:pPr>
            <a:r>
              <a:t>    --name mi-web-aci -y</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51 / 81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4 • AZURE</a:t>
            </a:r>
          </a:p>
          <a:p>
            <a:pPr>
              <a:defRPr sz="2800" b="1">
                <a:solidFill>
                  <a:srgbClr val="1E293B"/>
                </a:solidFill>
                <a:latin typeface="Calibri"/>
              </a:defRPr>
            </a:pPr>
            <a:r>
              <a:t>Azure Container Apps (ACA): Microservicios y KEDA</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La Plataforma Moderna de Microservicios</a:t>
            </a:r>
          </a:p>
          <a:p>
            <a:pPr>
              <a:spcAft>
                <a:spcPts val="800"/>
              </a:spcAft>
              <a:defRPr sz="1400">
                <a:latin typeface="Calibri"/>
              </a:defRPr>
            </a:pPr>
            <a:r>
              <a:rPr b="1">
                <a:solidFill>
                  <a:srgbClr val="1E293B"/>
                </a:solidFill>
              </a:rPr>
              <a:t>• Kubernetes Invisible: </a:t>
            </a:r>
            <a:r>
              <a:rPr b="0">
                <a:solidFill>
                  <a:srgbClr val="1E293B"/>
                </a:solidFill>
              </a:rPr>
              <a:t>Desarrollado sobre clústeres de AKS administrados por Microsoft; disfrutas de los beneficios de K8s sin gestionar manifests complejos.</a:t>
            </a:r>
          </a:p>
          <a:p>
            <a:pPr>
              <a:spcAft>
                <a:spcPts val="800"/>
              </a:spcAft>
              <a:defRPr sz="1400">
                <a:latin typeface="Calibri"/>
              </a:defRPr>
            </a:pPr>
            <a:r>
              <a:rPr b="1">
                <a:solidFill>
                  <a:srgbClr val="1E293B"/>
                </a:solidFill>
              </a:rPr>
              <a:t>• Escalado Orientado a Eventos (KEDA): </a:t>
            </a:r>
            <a:r>
              <a:rPr b="0">
                <a:solidFill>
                  <a:srgbClr val="1E293B"/>
                </a:solidFill>
              </a:rPr>
              <a:t>Escala no solo por CPU/RAM, sino por número de peticiones HTTP concurrentes, mensajes en cola (RabbitMQ, Azure Service Bus) o eventos Kafka.</a:t>
            </a:r>
          </a:p>
          <a:p>
            <a:pPr>
              <a:spcAft>
                <a:spcPts val="800"/>
              </a:spcAft>
              <a:defRPr sz="1400">
                <a:latin typeface="Calibri"/>
              </a:defRPr>
            </a:pPr>
            <a:r>
              <a:rPr b="1">
                <a:solidFill>
                  <a:srgbClr val="1E293B"/>
                </a:solidFill>
              </a:rPr>
              <a:t>• Escalado a Cero: </a:t>
            </a:r>
            <a:r>
              <a:rPr b="0">
                <a:solidFill>
                  <a:srgbClr val="1E293B"/>
                </a:solidFill>
              </a:rPr>
              <a:t>Apaga completamente los contenedores cuando no hay tráfico activo, minimizando costes.</a:t>
            </a:r>
          </a:p>
          <a:p>
            <a:pPr>
              <a:spcAft>
                <a:spcPts val="800"/>
              </a:spcAft>
              <a:defRPr sz="1400">
                <a:latin typeface="Calibri"/>
              </a:defRPr>
            </a:pPr>
            <a:r>
              <a:rPr b="1">
                <a:solidFill>
                  <a:srgbClr val="1E293B"/>
                </a:solidFill>
              </a:rPr>
              <a:t>• Descubrimiento de Servicios Integrado: </a:t>
            </a:r>
            <a:r>
              <a:rPr b="0">
                <a:solidFill>
                  <a:srgbClr val="1E293B"/>
                </a:solidFill>
              </a:rPr>
              <a:t>Comunicación interna por DNS privado entre microservicios del mismo entorno.</a:t>
            </a:r>
          </a:p>
          <a:p>
            <a:pPr>
              <a:spcAft>
                <a:spcPts val="800"/>
              </a:spcAft>
              <a:defRPr sz="1400">
                <a:latin typeface="Calibri"/>
              </a:defRPr>
            </a:pPr>
            <a:r>
              <a:rPr b="1">
                <a:solidFill>
                  <a:srgbClr val="1E293B"/>
                </a:solidFill>
              </a:rPr>
              <a:t>• Soporte Nativo de Dapr: </a:t>
            </a:r>
            <a:r>
              <a:rPr b="0">
                <a:solidFill>
                  <a:srgbClr val="1E293B"/>
                </a:solidFill>
              </a:rPr>
              <a:t>Integración opcional con Distributed Application Runtime para patrones de microservicios (pub/sub, state store).</a:t>
            </a:r>
          </a:p>
        </p:txBody>
      </p:sp>
      <p:sp>
        <p:nvSpPr>
          <p:cNvPr id="5" name="Rounded Rectangle 4"/>
          <p:cNvSpPr/>
          <p:nvPr/>
        </p:nvSpPr>
        <p:spPr>
          <a:xfrm>
            <a:off x="6217920" y="1645920"/>
            <a:ext cx="52120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Casos de Uso Ideales para ACA</a:t>
            </a:r>
          </a:p>
          <a:p>
            <a:pPr>
              <a:spcAft>
                <a:spcPts val="800"/>
              </a:spcAft>
              <a:defRPr sz="1400">
                <a:latin typeface="Calibri"/>
              </a:defRPr>
            </a:pPr>
            <a:r>
              <a:rPr b="1">
                <a:solidFill>
                  <a:srgbClr val="1E293B"/>
                </a:solidFill>
              </a:rPr>
              <a:t>• APIs Públicas y Privadas: </a:t>
            </a:r>
            <a:r>
              <a:rPr b="0">
                <a:solidFill>
                  <a:srgbClr val="1E293B"/>
                </a:solidFill>
              </a:rPr>
              <a:t>Microservicios HTTP con balanceador de carga Envoy y certificados HTTPS automáticos.</a:t>
            </a:r>
          </a:p>
          <a:p>
            <a:pPr>
              <a:spcAft>
                <a:spcPts val="800"/>
              </a:spcAft>
              <a:defRPr sz="1400">
                <a:latin typeface="Calibri"/>
              </a:defRPr>
            </a:pPr>
            <a:r>
              <a:rPr b="1">
                <a:solidFill>
                  <a:srgbClr val="1E293B"/>
                </a:solidFill>
              </a:rPr>
              <a:t>• Procesadores de Colas en Segundo Plano: </a:t>
            </a:r>
            <a:r>
              <a:rPr b="0">
                <a:solidFill>
                  <a:srgbClr val="1E293B"/>
                </a:solidFill>
              </a:rPr>
              <a:t>Workers que se activan solo cuando entran mensajes a procesar y se apagan al terminar.</a:t>
            </a:r>
          </a:p>
          <a:p>
            <a:pPr>
              <a:spcAft>
                <a:spcPts val="800"/>
              </a:spcAft>
              <a:defRPr sz="1400">
                <a:latin typeface="Calibri"/>
              </a:defRPr>
            </a:pPr>
            <a:r>
              <a:rPr b="1">
                <a:solidFill>
                  <a:srgbClr val="1E293B"/>
                </a:solidFill>
              </a:rPr>
              <a:t>• Despliegues Azules/Verdes (Blue/Green): </a:t>
            </a:r>
            <a:r>
              <a:rPr b="0">
                <a:solidFill>
                  <a:srgbClr val="1E293B"/>
                </a:solidFill>
              </a:rPr>
              <a:t>Capacidad de dividir tráfico porcentual entre dos versiones distintas de la misma aplicación.</a:t>
            </a:r>
          </a:p>
          <a:p>
            <a:pPr>
              <a:spcAft>
                <a:spcPts val="800"/>
              </a:spcAft>
              <a:defRPr sz="1400">
                <a:latin typeface="Calibri"/>
              </a:defRPr>
            </a:pPr>
            <a:r>
              <a:rPr b="1">
                <a:solidFill>
                  <a:srgbClr val="1E293B"/>
                </a:solidFill>
              </a:rPr>
              <a:t>• Alternativa Práctica a Kubernetes: </a:t>
            </a:r>
            <a:r>
              <a:rPr b="0">
                <a:solidFill>
                  <a:srgbClr val="1E293B"/>
                </a:solidFill>
              </a:rPr>
              <a:t>Para equipos que necesitan orquestación elástica sin la sobrecarga operativa de administrar un clúster K8s.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52 / 81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4 • AWS</a:t>
            </a:r>
          </a:p>
          <a:p>
            <a:pPr>
              <a:defRPr sz="2800" b="1">
                <a:solidFill>
                  <a:srgbClr val="1E293B"/>
                </a:solidFill>
                <a:latin typeface="Calibri"/>
              </a:defRPr>
            </a:pPr>
            <a:r>
              <a:t>Contenedores en Amazon Web Services (AWS)</a:t>
            </a:r>
          </a:p>
        </p:txBody>
      </p:sp>
      <p:sp>
        <p:nvSpPr>
          <p:cNvPr id="4" name="Rounded Rectangle 3"/>
          <p:cNvSpPr/>
          <p:nvPr/>
        </p:nvSpPr>
        <p:spPr>
          <a:xfrm>
            <a:off x="731520" y="1645920"/>
            <a:ext cx="106984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Los Cuatro Pilares de Contenedores en AWS</a:t>
            </a:r>
          </a:p>
          <a:p>
            <a:pPr>
              <a:spcAft>
                <a:spcPts val="1200"/>
              </a:spcAft>
              <a:defRPr sz="1400">
                <a:latin typeface="Calibri"/>
              </a:defRPr>
            </a:pPr>
            <a:r>
              <a:rPr b="1">
                <a:solidFill>
                  <a:srgbClr val="1E293B"/>
                </a:solidFill>
              </a:rPr>
              <a:t>• Amazon ECR (Elastic Container Registry): </a:t>
            </a:r>
            <a:r>
              <a:rPr b="0">
                <a:solidFill>
                  <a:srgbClr val="1E293B"/>
                </a:solidFill>
              </a:rPr>
              <a:t>Registro de contenedores totalmente administrado, cifrado con KMS, con escaneo de seguridad y replicación entre regiones.</a:t>
            </a:r>
          </a:p>
          <a:p>
            <a:pPr>
              <a:spcAft>
                <a:spcPts val="1200"/>
              </a:spcAft>
              <a:defRPr sz="1400">
                <a:latin typeface="Calibri"/>
              </a:defRPr>
            </a:pPr>
            <a:r>
              <a:rPr b="1">
                <a:solidFill>
                  <a:srgbClr val="1E293B"/>
                </a:solidFill>
              </a:rPr>
              <a:t>• Amazon ECS (Elastic Container Service): </a:t>
            </a:r>
            <a:r>
              <a:rPr b="0">
                <a:solidFill>
                  <a:srgbClr val="1E293B"/>
                </a:solidFill>
              </a:rPr>
              <a:t>El orquestador nativo de AWS, altamente optimizado, maduro y profundamente integrado con servicios como IAM, CloudWatch, Application Load Balancer y Route 53.</a:t>
            </a:r>
          </a:p>
          <a:p>
            <a:pPr>
              <a:spcAft>
                <a:spcPts val="1200"/>
              </a:spcAft>
              <a:defRPr sz="1400">
                <a:latin typeface="Calibri"/>
              </a:defRPr>
            </a:pPr>
            <a:r>
              <a:rPr b="1">
                <a:solidFill>
                  <a:srgbClr val="1E293B"/>
                </a:solidFill>
              </a:rPr>
              <a:t>• AWS Fargate: </a:t>
            </a:r>
            <a:r>
              <a:rPr b="0">
                <a:solidFill>
                  <a:srgbClr val="1E293B"/>
                </a:solidFill>
              </a:rPr>
              <a:t>Motor de cómputo serverless para Amazon ECS y Amazon EKS. Permite ejecutar contenedores sin tener que gestionar servidores EC2 subyacentes.</a:t>
            </a:r>
          </a:p>
          <a:p>
            <a:pPr>
              <a:spcAft>
                <a:spcPts val="1200"/>
              </a:spcAft>
              <a:defRPr sz="1400">
                <a:latin typeface="Calibri"/>
              </a:defRPr>
            </a:pPr>
            <a:r>
              <a:rPr b="1">
                <a:solidFill>
                  <a:srgbClr val="1E293B"/>
                </a:solidFill>
              </a:rPr>
              <a:t>• Amazon EKS (Elastic Kubernetes Service): </a:t>
            </a:r>
            <a:r>
              <a:rPr b="0">
                <a:solidFill>
                  <a:srgbClr val="1E293B"/>
                </a:solidFill>
              </a:rPr>
              <a:t>Servicio de Kubernetes certificado por la CNCF, altamente escalable y estándar en la industria para arquitecturas multi-cloud.</a:t>
            </a:r>
          </a:p>
          <a:p>
            <a:pPr>
              <a:spcAft>
                <a:spcPts val="1200"/>
              </a:spcAft>
              <a:defRPr sz="1400">
                <a:latin typeface="Calibri"/>
              </a:defRPr>
            </a:pPr>
            <a:r>
              <a:rPr b="1">
                <a:solidFill>
                  <a:srgbClr val="1E293B"/>
                </a:solidFill>
              </a:rPr>
              <a:t>• AWS App Runner: </a:t>
            </a:r>
            <a:r>
              <a:rPr b="0">
                <a:solidFill>
                  <a:srgbClr val="1E293B"/>
                </a:solidFill>
              </a:rPr>
              <a:t>Servicio serverless de despliegue directo desde código o contenedor para aplicaciones web y APIs con autoescalado automático.</a:t>
            </a:r>
          </a:p>
        </p:txBody>
      </p:sp>
      <p:sp>
        <p:nvSpPr>
          <p:cNvPr id="5" name="TextBox 4"/>
          <p:cNvSpPr txBox="1"/>
          <p:nvPr/>
        </p:nvSpPr>
        <p:spPr>
          <a:xfrm>
            <a:off x="10332720" y="6446520"/>
            <a:ext cx="1645920" cy="320040"/>
          </a:xfrm>
          <a:prstGeom prst="rect">
            <a:avLst/>
          </a:prstGeom>
          <a:noFill/>
        </p:spPr>
        <p:txBody>
          <a:bodyPr wrap="none" lIns="0" tIns="0" rIns="0" bIns="0">
            <a:spAutoFit/>
          </a:bodyPr>
          <a:lstStyle/>
          <a:p>
            <a:pPr algn="r">
              <a:defRPr sz="900">
                <a:solidFill>
                  <a:srgbClr val="0DB7ED"/>
                </a:solidFill>
                <a:latin typeface="Calibri"/>
              </a:defRPr>
            </a:pPr>
            <a:r>
              <a:t>53 / 81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4 • AWS</a:t>
            </a:r>
          </a:p>
          <a:p>
            <a:pPr>
              <a:defRPr sz="2800" b="1">
                <a:solidFill>
                  <a:srgbClr val="1E293B"/>
                </a:solidFill>
                <a:latin typeface="Calibri"/>
              </a:defRPr>
            </a:pPr>
            <a:r>
              <a:t>Amazon ECS: EC2 Launch Type vs AWS Fargate</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Modelo EC2 Launch Type</a:t>
            </a:r>
          </a:p>
          <a:p>
            <a:pPr>
              <a:spcAft>
                <a:spcPts val="800"/>
              </a:spcAft>
              <a:defRPr sz="1400">
                <a:latin typeface="Calibri"/>
              </a:defRPr>
            </a:pPr>
            <a:r>
              <a:rPr b="1">
                <a:solidFill>
                  <a:srgbClr val="1E293B"/>
                </a:solidFill>
              </a:rPr>
              <a:t>• Control Total de Servidores: </a:t>
            </a:r>
            <a:r>
              <a:rPr b="0">
                <a:solidFill>
                  <a:srgbClr val="1E293B"/>
                </a:solidFill>
              </a:rPr>
              <a:t>Los contenedores se ejecutan sobre instancias EC2 que tú aprovisionas y administras.</a:t>
            </a:r>
          </a:p>
          <a:p>
            <a:pPr>
              <a:spcAft>
                <a:spcPts val="800"/>
              </a:spcAft>
              <a:defRPr sz="1400">
                <a:latin typeface="Calibri"/>
              </a:defRPr>
            </a:pPr>
            <a:r>
              <a:rPr b="1">
                <a:solidFill>
                  <a:srgbClr val="1E293B"/>
                </a:solidFill>
              </a:rPr>
              <a:t>• Responsabilidad Operativa: </a:t>
            </a:r>
            <a:r>
              <a:rPr b="0">
                <a:solidFill>
                  <a:srgbClr val="1E293B"/>
                </a:solidFill>
              </a:rPr>
              <a:t>Debes parchear el SO de las instancias, actualizar el agente de ECS y monitorizar el espacio en disco.</a:t>
            </a:r>
          </a:p>
          <a:p>
            <a:pPr>
              <a:spcAft>
                <a:spcPts val="800"/>
              </a:spcAft>
              <a:defRPr sz="1400">
                <a:latin typeface="Calibri"/>
              </a:defRPr>
            </a:pPr>
            <a:r>
              <a:rPr b="1">
                <a:solidFill>
                  <a:srgbClr val="1E293B"/>
                </a:solidFill>
              </a:rPr>
              <a:t>• Aprovechamiento de Descuentos: </a:t>
            </a:r>
            <a:r>
              <a:rPr b="0">
                <a:solidFill>
                  <a:srgbClr val="1E293B"/>
                </a:solidFill>
              </a:rPr>
              <a:t>Permite usar instancias reservadas, Savings Plans o instancias Spot (hasta un 90% de descuento para cargas interrumpibles).</a:t>
            </a:r>
          </a:p>
          <a:p>
            <a:pPr>
              <a:spcAft>
                <a:spcPts val="800"/>
              </a:spcAft>
              <a:defRPr sz="1400">
                <a:latin typeface="Calibri"/>
              </a:defRPr>
            </a:pPr>
            <a:r>
              <a:rPr b="1">
                <a:solidFill>
                  <a:srgbClr val="1E293B"/>
                </a:solidFill>
              </a:rPr>
              <a:t>• Tipos Especiales de Hardware: </a:t>
            </a:r>
            <a:r>
              <a:rPr b="0">
                <a:solidFill>
                  <a:srgbClr val="1E293B"/>
                </a:solidFill>
              </a:rPr>
              <a:t>Obligatorio si necesitas GPUs dedicadas (entrenamiento IA), memoria extrema o tipos de CPU específicos.</a:t>
            </a:r>
          </a:p>
        </p:txBody>
      </p:sp>
      <p:sp>
        <p:nvSpPr>
          <p:cNvPr id="5" name="Rounded Rectangle 4"/>
          <p:cNvSpPr/>
          <p:nvPr/>
        </p:nvSpPr>
        <p:spPr>
          <a:xfrm>
            <a:off x="6217920" y="1645920"/>
            <a:ext cx="52120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Modelo AWS Fargate (Serverless)</a:t>
            </a:r>
          </a:p>
          <a:p>
            <a:pPr>
              <a:spcAft>
                <a:spcPts val="800"/>
              </a:spcAft>
              <a:defRPr sz="1400">
                <a:latin typeface="Calibri"/>
              </a:defRPr>
            </a:pPr>
            <a:r>
              <a:rPr b="1">
                <a:solidFill>
                  <a:srgbClr val="1E293B"/>
                </a:solidFill>
              </a:rPr>
              <a:t>• Cero Instancias EC2: </a:t>
            </a:r>
            <a:r>
              <a:rPr b="0">
                <a:solidFill>
                  <a:srgbClr val="1E293B"/>
                </a:solidFill>
              </a:rPr>
              <a:t>Defines tu tarea de contenedor con vCPU y memoria; AWS aprovisiona el entorno al vuelo.</a:t>
            </a:r>
          </a:p>
          <a:p>
            <a:pPr>
              <a:spcAft>
                <a:spcPts val="800"/>
              </a:spcAft>
              <a:defRPr sz="1400">
                <a:latin typeface="Calibri"/>
              </a:defRPr>
            </a:pPr>
            <a:r>
              <a:rPr b="1">
                <a:solidFill>
                  <a:srgbClr val="1E293B"/>
                </a:solidFill>
              </a:rPr>
              <a:t>• Aislamiento Estricto por Tarea: </a:t>
            </a:r>
            <a:r>
              <a:rPr b="0">
                <a:solidFill>
                  <a:srgbClr val="1E293B"/>
                </a:solidFill>
              </a:rPr>
              <a:t>Cada tarea de Fargate corre en su propia máquina virtual aislada (tecnología Firecracker MicroVMs).</a:t>
            </a:r>
          </a:p>
          <a:p>
            <a:pPr>
              <a:spcAft>
                <a:spcPts val="800"/>
              </a:spcAft>
              <a:defRPr sz="1400">
                <a:latin typeface="Calibri"/>
              </a:defRPr>
            </a:pPr>
            <a:r>
              <a:rPr b="1">
                <a:solidFill>
                  <a:srgbClr val="1E293B"/>
                </a:solidFill>
              </a:rPr>
              <a:t>• Mantenimiento Cero: </a:t>
            </a:r>
            <a:r>
              <a:rPr b="0">
                <a:solidFill>
                  <a:srgbClr val="1E293B"/>
                </a:solidFill>
              </a:rPr>
              <a:t>AWS gestiona los parches de seguridad del host, el kernel y el daemon de contenedores.</a:t>
            </a:r>
          </a:p>
          <a:p>
            <a:pPr>
              <a:spcAft>
                <a:spcPts val="800"/>
              </a:spcAft>
              <a:defRPr sz="1400">
                <a:latin typeface="Calibri"/>
              </a:defRPr>
            </a:pPr>
            <a:r>
              <a:rPr b="1">
                <a:solidFill>
                  <a:srgbClr val="1E293B"/>
                </a:solidFill>
              </a:rPr>
              <a:t>• Modelo Recomendado por AWS: </a:t>
            </a:r>
            <a:r>
              <a:rPr b="0">
                <a:solidFill>
                  <a:srgbClr val="1E293B"/>
                </a:solidFill>
              </a:rPr>
              <a:t>Es la opción predeterminada para el 90% de las cargas de trabajo por su drástica reducción de horas de ingeniería de operaciones.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54 / 81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4 • AWS</a:t>
            </a:r>
          </a:p>
          <a:p>
            <a:pPr>
              <a:defRPr sz="2800" b="1">
                <a:solidFill>
                  <a:srgbClr val="1E293B"/>
                </a:solidFill>
                <a:latin typeface="Calibri"/>
              </a:defRPr>
            </a:pPr>
            <a:r>
              <a:t>Amazon ECR: Seguridad y Políticas de Ciclo de Vida</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Funcionalidades Clave de ECR</a:t>
            </a:r>
          </a:p>
          <a:p>
            <a:pPr>
              <a:spcAft>
                <a:spcPts val="800"/>
              </a:spcAft>
              <a:defRPr sz="1400">
                <a:latin typeface="Calibri"/>
              </a:defRPr>
            </a:pPr>
            <a:r>
              <a:rPr b="1">
                <a:solidFill>
                  <a:srgbClr val="1E293B"/>
                </a:solidFill>
              </a:rPr>
              <a:t>• Autenticación Efímera IAM: </a:t>
            </a:r>
            <a:r>
              <a:rPr b="0">
                <a:solidFill>
                  <a:srgbClr val="1E293B"/>
                </a:solidFill>
              </a:rPr>
              <a:t>Las contraseñas de Docker obtenidas con `get-login-password` caducan automáticamente tras 12 horas.</a:t>
            </a:r>
          </a:p>
          <a:p>
            <a:pPr>
              <a:spcAft>
                <a:spcPts val="800"/>
              </a:spcAft>
              <a:defRPr sz="1400">
                <a:latin typeface="Calibri"/>
              </a:defRPr>
            </a:pPr>
            <a:r>
              <a:rPr b="1">
                <a:solidFill>
                  <a:srgbClr val="1E293B"/>
                </a:solidFill>
              </a:rPr>
              <a:t>• Políticas de Repositorio (Resource Policies): </a:t>
            </a:r>
            <a:r>
              <a:rPr b="0">
                <a:solidFill>
                  <a:srgbClr val="1E293B"/>
                </a:solidFill>
              </a:rPr>
              <a:t>Control granular de qué cuentas de AWS o roles IAM pueden hacer push o pull.</a:t>
            </a:r>
          </a:p>
          <a:p>
            <a:pPr>
              <a:spcAft>
                <a:spcPts val="800"/>
              </a:spcAft>
              <a:defRPr sz="1400">
                <a:latin typeface="Calibri"/>
              </a:defRPr>
            </a:pPr>
            <a:r>
              <a:rPr b="1">
                <a:solidFill>
                  <a:srgbClr val="1E293B"/>
                </a:solidFill>
              </a:rPr>
              <a:t>• Escaneo Continuo con Amazon Inspector: </a:t>
            </a:r>
            <a:r>
              <a:rPr b="0">
                <a:solidFill>
                  <a:srgbClr val="1E293B"/>
                </a:solidFill>
              </a:rPr>
              <a:t>Detección automática en tiempo real de vulnerabilidades en paquetes del SO y dependencias de lenguaje (Python, Java, JS).</a:t>
            </a:r>
          </a:p>
          <a:p>
            <a:pPr>
              <a:spcAft>
                <a:spcPts val="800"/>
              </a:spcAft>
              <a:defRPr sz="1400">
                <a:latin typeface="Calibri"/>
              </a:defRPr>
            </a:pPr>
            <a:r>
              <a:rPr b="1">
                <a:solidFill>
                  <a:srgbClr val="1E293B"/>
                </a:solidFill>
              </a:rPr>
              <a:t>• Inmutabilidad de Tags: </a:t>
            </a:r>
            <a:r>
              <a:rPr b="0">
                <a:solidFill>
                  <a:srgbClr val="1E293B"/>
                </a:solidFill>
              </a:rPr>
              <a:t>Protección contra sobrescritura accidental de imágenes de producción mediante configuración declarativa.</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Uso de Amazon ECR</a:t>
            </a:r>
          </a:p>
          <a:p>
            <a:pPr>
              <a:spcAft>
                <a:spcPts val="200"/>
              </a:spcAft>
              <a:defRPr sz="1100">
                <a:solidFill>
                  <a:srgbClr val="94A3B8"/>
                </a:solidFill>
                <a:latin typeface="Consolas"/>
              </a:defRPr>
            </a:pPr>
            <a:r>
              <a:t># 1. Obtener token de login de ECR y pasarlo a Docker</a:t>
            </a:r>
          </a:p>
          <a:p>
            <a:pPr>
              <a:spcAft>
                <a:spcPts val="200"/>
              </a:spcAft>
              <a:defRPr sz="1100" b="1">
                <a:solidFill>
                  <a:srgbClr val="38BDF8"/>
                </a:solidFill>
                <a:latin typeface="Consolas"/>
              </a:defRPr>
            </a:pPr>
            <a:r>
              <a:t>$ aws ecr get-login-password --region eu-west-1 | \</a:t>
            </a:r>
          </a:p>
          <a:p>
            <a:pPr>
              <a:spcAft>
                <a:spcPts val="200"/>
              </a:spcAft>
              <a:defRPr sz="1100">
                <a:solidFill>
                  <a:srgbClr val="FFFFFF"/>
                </a:solidFill>
                <a:latin typeface="Consolas"/>
              </a:defRPr>
            </a:pPr>
            <a:r>
              <a:t>    docker login --username AWS --password-stdin \</a:t>
            </a:r>
          </a:p>
          <a:p>
            <a:pPr>
              <a:spcAft>
                <a:spcPts val="200"/>
              </a:spcAft>
              <a:defRPr sz="1100">
                <a:solidFill>
                  <a:srgbClr val="FFFFFF"/>
                </a:solidFill>
                <a:latin typeface="Consolas"/>
              </a:defRPr>
            </a:pPr>
            <a:r>
              <a:t>    123456789012.dkr.ecr.eu-west-1.amazonaws.com</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2. Crear repositorio privado</a:t>
            </a:r>
          </a:p>
          <a:p>
            <a:pPr>
              <a:spcAft>
                <a:spcPts val="200"/>
              </a:spcAft>
              <a:defRPr sz="1100" b="1">
                <a:solidFill>
                  <a:srgbClr val="38BDF8"/>
                </a:solidFill>
                <a:latin typeface="Consolas"/>
              </a:defRPr>
            </a:pPr>
            <a:r>
              <a:t>$ aws ecr create-repository --repository-name app-backend \</a:t>
            </a:r>
          </a:p>
          <a:p>
            <a:pPr>
              <a:spcAft>
                <a:spcPts val="200"/>
              </a:spcAft>
              <a:defRPr sz="1100">
                <a:solidFill>
                  <a:srgbClr val="FFFFFF"/>
                </a:solidFill>
                <a:latin typeface="Consolas"/>
              </a:defRPr>
            </a:pPr>
            <a:r>
              <a:t>    --image-tag-mutability IMMUTABLE \</a:t>
            </a:r>
          </a:p>
          <a:p>
            <a:pPr>
              <a:spcAft>
                <a:spcPts val="200"/>
              </a:spcAft>
              <a:defRPr sz="1100">
                <a:solidFill>
                  <a:srgbClr val="FFFFFF"/>
                </a:solidFill>
                <a:latin typeface="Consolas"/>
              </a:defRPr>
            </a:pPr>
            <a:r>
              <a:t>    --image-scanning-configuration scanOnPush=true</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3. Subir la imagen</a:t>
            </a:r>
          </a:p>
          <a:p>
            <a:pPr>
              <a:spcAft>
                <a:spcPts val="200"/>
              </a:spcAft>
              <a:defRPr sz="1100" b="1">
                <a:solidFill>
                  <a:srgbClr val="38BDF8"/>
                </a:solidFill>
                <a:latin typeface="Consolas"/>
              </a:defRPr>
            </a:pPr>
            <a:r>
              <a:t>$ docker push 123456789012.dkr.../app-backend:1.0</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55 / 81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4 • GOOGLE CLOUD</a:t>
            </a:r>
          </a:p>
          <a:p>
            <a:pPr>
              <a:defRPr sz="2800" b="1">
                <a:solidFill>
                  <a:srgbClr val="1E293B"/>
                </a:solidFill>
                <a:latin typeface="Calibri"/>
              </a:defRPr>
            </a:pPr>
            <a:r>
              <a:t>Contenedores en Google Cloud Platform (GCP)</a:t>
            </a:r>
          </a:p>
        </p:txBody>
      </p:sp>
      <p:sp>
        <p:nvSpPr>
          <p:cNvPr id="4" name="Rounded Rectangle 3"/>
          <p:cNvSpPr/>
          <p:nvPr/>
        </p:nvSpPr>
        <p:spPr>
          <a:xfrm>
            <a:off x="731520" y="1645920"/>
            <a:ext cx="106984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La Cuna de Kubernetes y la Contenedorización Masiva</a:t>
            </a:r>
          </a:p>
          <a:p>
            <a:pPr>
              <a:spcAft>
                <a:spcPts val="1200"/>
              </a:spcAft>
              <a:defRPr sz="1400">
                <a:latin typeface="Calibri"/>
              </a:defRPr>
            </a:pPr>
            <a:r>
              <a:rPr b="1">
                <a:solidFill>
                  <a:srgbClr val="1E293B"/>
                </a:solidFill>
              </a:rPr>
              <a:t>• Pioneros en Contenedores: </a:t>
            </a:r>
            <a:r>
              <a:rPr b="0">
                <a:solidFill>
                  <a:srgbClr val="1E293B"/>
                </a:solidFill>
              </a:rPr>
              <a:t>Google lleva más de 15 años ejecutando toda su infraestructura (Gmail, Search, YouTube) en contenedores mediante su sistema interno 'Borg' (el predecesor directo de Kubernetes).</a:t>
            </a:r>
          </a:p>
          <a:p>
            <a:pPr>
              <a:spcAft>
                <a:spcPts val="1200"/>
              </a:spcAft>
              <a:defRPr sz="1400">
                <a:latin typeface="Calibri"/>
              </a:defRPr>
            </a:pPr>
            <a:r>
              <a:rPr b="1">
                <a:solidFill>
                  <a:srgbClr val="1E293B"/>
                </a:solidFill>
              </a:rPr>
              <a:t>• Google Artifact Registry: </a:t>
            </a:r>
            <a:r>
              <a:rPr b="0">
                <a:solidFill>
                  <a:srgbClr val="1E293B"/>
                </a:solidFill>
              </a:rPr>
              <a:t>La evolución moderna de Google Container Registry (GCR). Soporta imágenes OCI, paquetes de software (npm, pip, maven) y escaneo de vulnerabilidades.</a:t>
            </a:r>
          </a:p>
          <a:p>
            <a:pPr>
              <a:spcAft>
                <a:spcPts val="1200"/>
              </a:spcAft>
              <a:defRPr sz="1400">
                <a:latin typeface="Calibri"/>
              </a:defRPr>
            </a:pPr>
            <a:r>
              <a:rPr b="1">
                <a:solidFill>
                  <a:srgbClr val="1E293B"/>
                </a:solidFill>
              </a:rPr>
              <a:t>• Google Cloud Run: </a:t>
            </a:r>
            <a:r>
              <a:rPr b="0">
                <a:solidFill>
                  <a:srgbClr val="1E293B"/>
                </a:solidFill>
              </a:rPr>
              <a:t>Plataforma serverless totalmente administrada que ejecuta contenedores invocables mediante peticiones HTTP o mensajes de Eventarc/PubSub.</a:t>
            </a:r>
          </a:p>
          <a:p>
            <a:pPr>
              <a:spcAft>
                <a:spcPts val="1200"/>
              </a:spcAft>
              <a:defRPr sz="1400">
                <a:latin typeface="Calibri"/>
              </a:defRPr>
            </a:pPr>
            <a:r>
              <a:rPr b="1">
                <a:solidFill>
                  <a:srgbClr val="1E293B"/>
                </a:solidFill>
              </a:rPr>
              <a:t>• Google Kubernetes Engine (GKE): </a:t>
            </a:r>
            <a:r>
              <a:rPr b="0">
                <a:solidFill>
                  <a:srgbClr val="1E293B"/>
                </a:solidFill>
              </a:rPr>
              <a:t>El servicio de Kubernetes administrado de referencia en el mercado, con soporte para GKE Autopilot (gestión serverless del plano de datos).</a:t>
            </a:r>
          </a:p>
          <a:p>
            <a:pPr>
              <a:spcAft>
                <a:spcPts val="1200"/>
              </a:spcAft>
              <a:defRPr sz="1400">
                <a:latin typeface="Calibri"/>
              </a:defRPr>
            </a:pPr>
            <a:r>
              <a:rPr b="1">
                <a:solidFill>
                  <a:srgbClr val="1E293B"/>
                </a:solidFill>
              </a:rPr>
              <a:t>• Aislamiento gVisor: </a:t>
            </a:r>
            <a:r>
              <a:rPr b="0">
                <a:solidFill>
                  <a:srgbClr val="1E293B"/>
                </a:solidFill>
              </a:rPr>
              <a:t>Tecnología de sandbox de kernel desarrollada por Google que intercepta syscalls para máxima seguridad multinquilino.</a:t>
            </a:r>
          </a:p>
        </p:txBody>
      </p:sp>
      <p:sp>
        <p:nvSpPr>
          <p:cNvPr id="5" name="TextBox 4"/>
          <p:cNvSpPr txBox="1"/>
          <p:nvPr/>
        </p:nvSpPr>
        <p:spPr>
          <a:xfrm>
            <a:off x="10332720" y="6446520"/>
            <a:ext cx="1645920" cy="320040"/>
          </a:xfrm>
          <a:prstGeom prst="rect">
            <a:avLst/>
          </a:prstGeom>
          <a:noFill/>
        </p:spPr>
        <p:txBody>
          <a:bodyPr wrap="none" lIns="0" tIns="0" rIns="0" bIns="0">
            <a:spAutoFit/>
          </a:bodyPr>
          <a:lstStyle/>
          <a:p>
            <a:pPr algn="r">
              <a:defRPr sz="900">
                <a:solidFill>
                  <a:srgbClr val="0DB7ED"/>
                </a:solidFill>
                <a:latin typeface="Calibri"/>
              </a:defRPr>
            </a:pPr>
            <a:r>
              <a:t>56 / 81</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4 • GOOGLE CLOUD</a:t>
            </a:r>
          </a:p>
          <a:p>
            <a:pPr>
              <a:defRPr sz="2800" b="1">
                <a:solidFill>
                  <a:srgbClr val="1E293B"/>
                </a:solidFill>
                <a:latin typeface="Calibri"/>
              </a:defRPr>
            </a:pPr>
            <a:r>
              <a:t>Google Cloud Run: La Excelencia en Serverless Containers</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Por Qué Cloud Run Cambió las Reglas</a:t>
            </a:r>
          </a:p>
          <a:p>
            <a:pPr>
              <a:spcAft>
                <a:spcPts val="800"/>
              </a:spcAft>
              <a:defRPr sz="1400">
                <a:latin typeface="Calibri"/>
              </a:defRPr>
            </a:pPr>
            <a:r>
              <a:rPr b="1">
                <a:solidFill>
                  <a:srgbClr val="1E293B"/>
                </a:solidFill>
              </a:rPr>
              <a:t>• Cualquier Lenguaje o Binario: </a:t>
            </a:r>
            <a:r>
              <a:rPr b="0">
                <a:solidFill>
                  <a:srgbClr val="1E293B"/>
                </a:solidFill>
              </a:rPr>
              <a:t>A diferencia de AWS Lambda (restringido a ciertos runtimes), en Cloud Run puedes ejecutar cualquier código empaquetado en un contenedor Docker que escuche en `$PORT`.</a:t>
            </a:r>
          </a:p>
          <a:p>
            <a:pPr>
              <a:spcAft>
                <a:spcPts val="800"/>
              </a:spcAft>
              <a:defRPr sz="1400">
                <a:latin typeface="Calibri"/>
              </a:defRPr>
            </a:pPr>
            <a:r>
              <a:rPr b="1">
                <a:solidFill>
                  <a:srgbClr val="1E293B"/>
                </a:solidFill>
              </a:rPr>
              <a:t>• Concurrencia por Contenedor: </a:t>
            </a:r>
            <a:r>
              <a:rPr b="0">
                <a:solidFill>
                  <a:srgbClr val="1E293B"/>
                </a:solidFill>
              </a:rPr>
              <a:t>Una única instancia puede atender hasta 1000 peticiones simultáneas, abaratando costes drásticamente frente a funciones serverless tradicionales.</a:t>
            </a:r>
          </a:p>
          <a:p>
            <a:pPr>
              <a:spcAft>
                <a:spcPts val="800"/>
              </a:spcAft>
              <a:defRPr sz="1400">
                <a:latin typeface="Calibri"/>
              </a:defRPr>
            </a:pPr>
            <a:r>
              <a:rPr b="1">
                <a:solidFill>
                  <a:srgbClr val="1E293B"/>
                </a:solidFill>
              </a:rPr>
              <a:t>• Escalado Instantáneo de 0 a 1000+: </a:t>
            </a:r>
            <a:r>
              <a:rPr b="0">
                <a:solidFill>
                  <a:srgbClr val="1E293B"/>
                </a:solidFill>
              </a:rPr>
              <a:t>Reacciona en milisegundos a avalanchas repentinas de tráfico web.</a:t>
            </a:r>
          </a:p>
          <a:p>
            <a:pPr>
              <a:spcAft>
                <a:spcPts val="800"/>
              </a:spcAft>
              <a:defRPr sz="1400">
                <a:latin typeface="Calibri"/>
              </a:defRPr>
            </a:pPr>
            <a:r>
              <a:rPr b="1">
                <a:solidFill>
                  <a:srgbClr val="1E293B"/>
                </a:solidFill>
              </a:rPr>
              <a:t>• Dominio HTTPS y CDN Automático: </a:t>
            </a:r>
            <a:r>
              <a:rPr b="0">
                <a:solidFill>
                  <a:srgbClr val="1E293B"/>
                </a:solidFill>
              </a:rPr>
              <a:t>Cada servicio recibe un subdominio `.run.app` con TLS gestionado y balanceo global Anycast de Google.</a:t>
            </a:r>
          </a:p>
          <a:p>
            <a:pPr>
              <a:spcAft>
                <a:spcPts val="800"/>
              </a:spcAft>
              <a:defRPr sz="1400">
                <a:latin typeface="Calibri"/>
              </a:defRPr>
            </a:pPr>
            <a:r>
              <a:rPr b="1">
                <a:solidFill>
                  <a:srgbClr val="1E293B"/>
                </a:solidFill>
              </a:rPr>
              <a:t>• Pago Exacto por Petición: </a:t>
            </a:r>
            <a:r>
              <a:rPr b="0">
                <a:solidFill>
                  <a:srgbClr val="1E293B"/>
                </a:solidFill>
              </a:rPr>
              <a:t>Si no hay tráfico, el coste es cero.</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Despliegue con gcloud CLI</a:t>
            </a:r>
          </a:p>
          <a:p>
            <a:pPr>
              <a:spcAft>
                <a:spcPts val="200"/>
              </a:spcAft>
              <a:defRPr sz="1100">
                <a:solidFill>
                  <a:srgbClr val="94A3B8"/>
                </a:solidFill>
                <a:latin typeface="Consolas"/>
              </a:defRPr>
            </a:pPr>
            <a:r>
              <a:t># Desplegar un contenedor en Cloud Run con un solo comando</a:t>
            </a:r>
          </a:p>
          <a:p>
            <a:pPr>
              <a:spcAft>
                <a:spcPts val="200"/>
              </a:spcAft>
              <a:defRPr sz="1100" b="1">
                <a:solidFill>
                  <a:srgbClr val="38BDF8"/>
                </a:solidFill>
                <a:latin typeface="Consolas"/>
              </a:defRPr>
            </a:pPr>
            <a:r>
              <a:t>$ gcloud run deploy mi-api-rest \</a:t>
            </a:r>
          </a:p>
          <a:p>
            <a:pPr>
              <a:spcAft>
                <a:spcPts val="200"/>
              </a:spcAft>
              <a:defRPr sz="1100">
                <a:solidFill>
                  <a:srgbClr val="FFFFFF"/>
                </a:solidFill>
                <a:latin typeface="Consolas"/>
              </a:defRPr>
            </a:pPr>
            <a:r>
              <a:t>    --image gcr.io/cloudrun/hello \</a:t>
            </a:r>
          </a:p>
          <a:p>
            <a:pPr>
              <a:spcAft>
                <a:spcPts val="200"/>
              </a:spcAft>
              <a:defRPr sz="1100">
                <a:solidFill>
                  <a:srgbClr val="FFFFFF"/>
                </a:solidFill>
                <a:latin typeface="Consolas"/>
              </a:defRPr>
            </a:pPr>
            <a:r>
              <a:t>    --platform managed \</a:t>
            </a:r>
          </a:p>
          <a:p>
            <a:pPr>
              <a:spcAft>
                <a:spcPts val="200"/>
              </a:spcAft>
              <a:defRPr sz="1100">
                <a:solidFill>
                  <a:srgbClr val="FFFFFF"/>
                </a:solidFill>
                <a:latin typeface="Consolas"/>
              </a:defRPr>
            </a:pPr>
            <a:r>
              <a:t>    --region europe-west1 \</a:t>
            </a:r>
          </a:p>
          <a:p>
            <a:pPr>
              <a:spcAft>
                <a:spcPts val="200"/>
              </a:spcAft>
              <a:defRPr sz="1100">
                <a:solidFill>
                  <a:srgbClr val="FFFFFF"/>
                </a:solidFill>
                <a:latin typeface="Consolas"/>
              </a:defRPr>
            </a:pPr>
            <a:r>
              <a:t>    --allow-unauthenticated \</a:t>
            </a:r>
          </a:p>
          <a:p>
            <a:pPr>
              <a:spcAft>
                <a:spcPts val="200"/>
              </a:spcAft>
              <a:defRPr sz="1100">
                <a:solidFill>
                  <a:srgbClr val="FFFFFF"/>
                </a:solidFill>
                <a:latin typeface="Consolas"/>
              </a:defRPr>
            </a:pPr>
            <a:r>
              <a:t>    --port 8080 \</a:t>
            </a:r>
          </a:p>
          <a:p>
            <a:pPr>
              <a:spcAft>
                <a:spcPts val="200"/>
              </a:spcAft>
              <a:defRPr sz="1100">
                <a:solidFill>
                  <a:srgbClr val="FFFFFF"/>
                </a:solidFill>
                <a:latin typeface="Consolas"/>
              </a:defRPr>
            </a:pPr>
            <a:r>
              <a:t>    --memory 512Mi \</a:t>
            </a:r>
          </a:p>
          <a:p>
            <a:pPr>
              <a:spcAft>
                <a:spcPts val="200"/>
              </a:spcAft>
              <a:defRPr sz="1100">
                <a:solidFill>
                  <a:srgbClr val="FFFFFF"/>
                </a:solidFill>
                <a:latin typeface="Consolas"/>
              </a:defRPr>
            </a:pPr>
            <a:r>
              <a:t>    --min-instances 0 \</a:t>
            </a:r>
          </a:p>
          <a:p>
            <a:pPr>
              <a:spcAft>
                <a:spcPts val="200"/>
              </a:spcAft>
              <a:defRPr sz="1100">
                <a:solidFill>
                  <a:srgbClr val="FFFFFF"/>
                </a:solidFill>
                <a:latin typeface="Consolas"/>
              </a:defRPr>
            </a:pPr>
            <a:r>
              <a:t>    --max-instances 10</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URL lista para producción generada en segundos:</a:t>
            </a:r>
          </a:p>
          <a:p>
            <a:pPr>
              <a:spcAft>
                <a:spcPts val="200"/>
              </a:spcAft>
              <a:defRPr sz="1100">
                <a:solidFill>
                  <a:srgbClr val="94A3B8"/>
                </a:solidFill>
                <a:latin typeface="Consolas"/>
              </a:defRPr>
            </a:pPr>
            <a:r>
              <a:t># Service URL: https://mi-api-rest-xyz-ew.a.run.app</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57 / 81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4 • GOOGLE CLOUD</a:t>
            </a:r>
          </a:p>
          <a:p>
            <a:pPr>
              <a:defRPr sz="2800" b="1">
                <a:solidFill>
                  <a:srgbClr val="1E293B"/>
                </a:solidFill>
                <a:latin typeface="Calibri"/>
              </a:defRPr>
            </a:pPr>
            <a:r>
              <a:t>Google Artifact Registry: Almacén Universal OCI</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La Evolución de Container Registry (GCR)</a:t>
            </a:r>
          </a:p>
          <a:p>
            <a:pPr>
              <a:spcAft>
                <a:spcPts val="800"/>
              </a:spcAft>
              <a:defRPr sz="1400">
                <a:latin typeface="Calibri"/>
              </a:defRPr>
            </a:pPr>
            <a:r>
              <a:rPr b="1">
                <a:solidFill>
                  <a:srgbClr val="1E293B"/>
                </a:solidFill>
              </a:rPr>
              <a:t>• Soporte Multipaquete Unificado: </a:t>
            </a:r>
            <a:r>
              <a:rPr b="0">
                <a:solidFill>
                  <a:srgbClr val="1E293B"/>
                </a:solidFill>
              </a:rPr>
              <a:t>Un único servicio para almacenar imágenes Docker OCI, paquetes npm, paquetes Python (PyPI), Java Maven y charts de Helm.</a:t>
            </a:r>
          </a:p>
          <a:p>
            <a:pPr>
              <a:spcAft>
                <a:spcPts val="800"/>
              </a:spcAft>
              <a:defRPr sz="1400">
                <a:latin typeface="Calibri"/>
              </a:defRPr>
            </a:pPr>
            <a:r>
              <a:rPr b="1">
                <a:solidFill>
                  <a:srgbClr val="1E293B"/>
                </a:solidFill>
              </a:rPr>
              <a:t>• Repositorios Regionales: </a:t>
            </a:r>
            <a:r>
              <a:rPr b="0">
                <a:solidFill>
                  <a:srgbClr val="1E293B"/>
                </a:solidFill>
              </a:rPr>
              <a:t>Ubicación precisa de los artefactos en la misma región que tus servicios de Cloud Run o GKE para reducir la latencia de pull a milisegundos.</a:t>
            </a:r>
          </a:p>
          <a:p>
            <a:pPr>
              <a:spcAft>
                <a:spcPts val="800"/>
              </a:spcAft>
              <a:defRPr sz="1400">
                <a:latin typeface="Calibri"/>
              </a:defRPr>
            </a:pPr>
            <a:r>
              <a:rPr b="1">
                <a:solidFill>
                  <a:srgbClr val="1E293B"/>
                </a:solidFill>
              </a:rPr>
              <a:t>• Control de Acceso IAM: </a:t>
            </a:r>
            <a:r>
              <a:rPr b="0">
                <a:solidFill>
                  <a:srgbClr val="1E293B"/>
                </a:solidFill>
              </a:rPr>
              <a:t>Integración granular con Cuentas de Servicio (Service Accounts) de Google Cloud.</a:t>
            </a:r>
          </a:p>
          <a:p>
            <a:pPr>
              <a:spcAft>
                <a:spcPts val="800"/>
              </a:spcAft>
              <a:defRPr sz="1400">
                <a:latin typeface="Calibri"/>
              </a:defRPr>
            </a:pPr>
            <a:r>
              <a:rPr b="1">
                <a:solidFill>
                  <a:srgbClr val="1E293B"/>
                </a:solidFill>
              </a:rPr>
              <a:t>• Vulnerability Scanning y Binary Authorization: </a:t>
            </a:r>
            <a:r>
              <a:rPr b="0">
                <a:solidFill>
                  <a:srgbClr val="1E293B"/>
                </a:solidFill>
              </a:rPr>
              <a:t>Bloqueo automático del despliegue en GKE si la imagen no supera las políticas de seguridad corporativas.</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Flujo Artifact Registry</a:t>
            </a:r>
          </a:p>
          <a:p>
            <a:pPr>
              <a:spcAft>
                <a:spcPts val="200"/>
              </a:spcAft>
              <a:defRPr sz="1100">
                <a:solidFill>
                  <a:srgbClr val="94A3B8"/>
                </a:solidFill>
                <a:latin typeface="Consolas"/>
              </a:defRPr>
            </a:pPr>
            <a:r>
              <a:t># Configurar Docker para autenticarse con Artifact Registry</a:t>
            </a:r>
          </a:p>
          <a:p>
            <a:pPr>
              <a:spcAft>
                <a:spcPts val="200"/>
              </a:spcAft>
              <a:defRPr sz="1100" b="1">
                <a:solidFill>
                  <a:srgbClr val="38BDF8"/>
                </a:solidFill>
                <a:latin typeface="Consolas"/>
              </a:defRPr>
            </a:pPr>
            <a:r>
              <a:t>$ gcloud auth configure-docker europe-west1-docker.pkg.dev</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Etiquetar imagen con formato Artifact Registry</a:t>
            </a:r>
          </a:p>
          <a:p>
            <a:pPr>
              <a:spcAft>
                <a:spcPts val="200"/>
              </a:spcAft>
              <a:defRPr sz="1100" b="1">
                <a:solidFill>
                  <a:srgbClr val="38BDF8"/>
                </a:solidFill>
                <a:latin typeface="Consolas"/>
              </a:defRPr>
            </a:pPr>
            <a:r>
              <a:t>$ docker tag mi-app:1.0 \</a:t>
            </a:r>
          </a:p>
          <a:p>
            <a:pPr>
              <a:spcAft>
                <a:spcPts val="200"/>
              </a:spcAft>
              <a:defRPr sz="1100">
                <a:solidFill>
                  <a:srgbClr val="FFFFFF"/>
                </a:solidFill>
                <a:latin typeface="Consolas"/>
              </a:defRPr>
            </a:pPr>
            <a:r>
              <a:t>    europe-west1-docker.pkg.dev/mi-proyecto/repo-apps/mi-app:1.0</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Enviar la imagen</a:t>
            </a:r>
          </a:p>
          <a:p>
            <a:pPr>
              <a:spcAft>
                <a:spcPts val="200"/>
              </a:spcAft>
              <a:defRPr sz="1100" b="1">
                <a:solidFill>
                  <a:srgbClr val="38BDF8"/>
                </a:solidFill>
                <a:latin typeface="Consolas"/>
              </a:defRPr>
            </a:pPr>
            <a:r>
              <a:t>$ docker push \</a:t>
            </a:r>
          </a:p>
          <a:p>
            <a:pPr>
              <a:spcAft>
                <a:spcPts val="200"/>
              </a:spcAft>
              <a:defRPr sz="1100">
                <a:solidFill>
                  <a:srgbClr val="FFFFFF"/>
                </a:solidFill>
                <a:latin typeface="Consolas"/>
              </a:defRPr>
            </a:pPr>
            <a:r>
              <a:t>    europe-west1-docker.pkg.dev/mi-proyecto/repo-apps/mi-app:1.0</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58 / 81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4 • CONTEXTO HISTÓRICO</a:t>
            </a:r>
          </a:p>
          <a:p>
            <a:pPr>
              <a:defRPr sz="2800" b="1">
                <a:solidFill>
                  <a:srgbClr val="1E293B"/>
                </a:solidFill>
                <a:latin typeface="Calibri"/>
              </a:defRPr>
            </a:pPr>
            <a:r>
              <a:t>Docker Cloud: Análisis Histórico y su Evolución</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Qué fue 'Docker Cloud' (2015-2018)</a:t>
            </a:r>
          </a:p>
          <a:p>
            <a:pPr>
              <a:spcAft>
                <a:spcPts val="800"/>
              </a:spcAft>
              <a:defRPr sz="1400">
                <a:latin typeface="Calibri"/>
              </a:defRPr>
            </a:pPr>
            <a:r>
              <a:rPr b="1">
                <a:solidFill>
                  <a:srgbClr val="1E293B"/>
                </a:solidFill>
              </a:rPr>
              <a:t>• Origen: </a:t>
            </a:r>
            <a:r>
              <a:rPr b="0">
                <a:solidFill>
                  <a:srgbClr val="1E293B"/>
                </a:solidFill>
              </a:rPr>
              <a:t>Nació de la adquisición de la startup Tutum por parte de Docker Inc. en octubre de 2015.</a:t>
            </a:r>
          </a:p>
          <a:p>
            <a:pPr>
              <a:spcAft>
                <a:spcPts val="800"/>
              </a:spcAft>
              <a:defRPr sz="1400">
                <a:latin typeface="Calibri"/>
              </a:defRPr>
            </a:pPr>
            <a:r>
              <a:rPr b="1">
                <a:solidFill>
                  <a:srgbClr val="1E293B"/>
                </a:solidFill>
              </a:rPr>
              <a:t>• Propósito Original: </a:t>
            </a:r>
            <a:r>
              <a:rPr b="0">
                <a:solidFill>
                  <a:srgbClr val="1E293B"/>
                </a:solidFill>
              </a:rPr>
              <a:t>Proporcionaba un panel web SaaS para gestionar, desplegar y escalar contenedores Docker conectando credenciales de AWS, Azure y DigitalOcean.</a:t>
            </a:r>
          </a:p>
          <a:p>
            <a:pPr>
              <a:spcAft>
                <a:spcPts val="800"/>
              </a:spcAft>
              <a:defRPr sz="1400">
                <a:latin typeface="Calibri"/>
              </a:defRPr>
            </a:pPr>
            <a:r>
              <a:rPr b="1">
                <a:solidFill>
                  <a:srgbClr val="1E293B"/>
                </a:solidFill>
              </a:rPr>
              <a:t>• Cierre Oficial: </a:t>
            </a:r>
            <a:r>
              <a:rPr b="0">
                <a:solidFill>
                  <a:srgbClr val="1E293B"/>
                </a:solidFill>
              </a:rPr>
              <a:t>Docker Inc. anunció su retirada definitiva el 21 de mayo de 2018 tras el auge arrollador de Kubernetes y los servicios administrados de los gigantes cloud.</a:t>
            </a:r>
          </a:p>
          <a:p>
            <a:pPr>
              <a:spcAft>
                <a:spcPts val="800"/>
              </a:spcAft>
              <a:defRPr sz="1400">
                <a:latin typeface="Calibri"/>
              </a:defRPr>
            </a:pPr>
            <a:r>
              <a:rPr b="1">
                <a:solidFill>
                  <a:srgbClr val="1E293B"/>
                </a:solidFill>
              </a:rPr>
              <a:t>• ¿Por qué aparece en el temario?: </a:t>
            </a:r>
            <a:r>
              <a:rPr b="0">
                <a:solidFill>
                  <a:srgbClr val="1E293B"/>
                </a:solidFill>
              </a:rPr>
              <a:t>Es un vestigio histórico de programas formativos clásicos que todo instructor profesional debe contextualizar con rigor.</a:t>
            </a:r>
          </a:p>
        </p:txBody>
      </p:sp>
      <p:sp>
        <p:nvSpPr>
          <p:cNvPr id="5" name="Rounded Rectangle 4"/>
          <p:cNvSpPr/>
          <p:nvPr/>
        </p:nvSpPr>
        <p:spPr>
          <a:xfrm>
            <a:off x="6217920" y="1645920"/>
            <a:ext cx="52120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Hacia Dónde Evolucionó Docker Inc.</a:t>
            </a:r>
          </a:p>
          <a:p>
            <a:pPr>
              <a:spcAft>
                <a:spcPts val="800"/>
              </a:spcAft>
              <a:defRPr sz="1400">
                <a:latin typeface="Calibri"/>
              </a:defRPr>
            </a:pPr>
            <a:r>
              <a:rPr b="1">
                <a:solidFill>
                  <a:srgbClr val="1E293B"/>
                </a:solidFill>
              </a:rPr>
              <a:t>• Docker Hub Moderno: </a:t>
            </a:r>
            <a:r>
              <a:rPr b="0">
                <a:solidFill>
                  <a:srgbClr val="1E293B"/>
                </a:solidFill>
              </a:rPr>
              <a:t>El registro público de referencia, con soporte de Builds automatizados y organizaciones.</a:t>
            </a:r>
          </a:p>
          <a:p>
            <a:pPr>
              <a:spcAft>
                <a:spcPts val="800"/>
              </a:spcAft>
              <a:defRPr sz="1400">
                <a:latin typeface="Calibri"/>
              </a:defRPr>
            </a:pPr>
            <a:r>
              <a:rPr b="1">
                <a:solidFill>
                  <a:srgbClr val="1E293B"/>
                </a:solidFill>
              </a:rPr>
              <a:t>• Docker Desktop &amp; Extensions: </a:t>
            </a:r>
            <a:r>
              <a:rPr b="0">
                <a:solidFill>
                  <a:srgbClr val="1E293B"/>
                </a:solidFill>
              </a:rPr>
              <a:t>Plataforma de productividad para desarrolladores (Mac, Windows, Linux) con extensiones de Kubernetes, Snyk, Portainer.</a:t>
            </a:r>
          </a:p>
          <a:p>
            <a:pPr>
              <a:spcAft>
                <a:spcPts val="800"/>
              </a:spcAft>
              <a:defRPr sz="1400">
                <a:latin typeface="Calibri"/>
              </a:defRPr>
            </a:pPr>
            <a:r>
              <a:rPr b="1">
                <a:solidFill>
                  <a:srgbClr val="1E293B"/>
                </a:solidFill>
              </a:rPr>
              <a:t>• Docker Scout: </a:t>
            </a:r>
            <a:r>
              <a:rPr b="0">
                <a:solidFill>
                  <a:srgbClr val="1E293B"/>
                </a:solidFill>
              </a:rPr>
              <a:t>Herramienta moderna de análisis de la cadena de suministro de software, SBOM (Software Bill of Materials) y recomendaciones de remediación de CVEs.</a:t>
            </a:r>
          </a:p>
          <a:p>
            <a:pPr>
              <a:spcAft>
                <a:spcPts val="800"/>
              </a:spcAft>
              <a:defRPr sz="1400">
                <a:latin typeface="Calibri"/>
              </a:defRPr>
            </a:pPr>
            <a:r>
              <a:rPr b="1">
                <a:solidFill>
                  <a:srgbClr val="1E293B"/>
                </a:solidFill>
              </a:rPr>
              <a:t>• Enfoque Actual: </a:t>
            </a:r>
            <a:r>
              <a:rPr b="0">
                <a:solidFill>
                  <a:srgbClr val="1E293B"/>
                </a:solidFill>
              </a:rPr>
              <a:t>Docker se enfoca en la 'experiencia del desarrollador' (DevX) mientras delega la infraestructura cloud a AWS, Azure y GCP.</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59 / 81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4 • ARQUITECTURA</a:t>
            </a:r>
          </a:p>
          <a:p>
            <a:pPr>
              <a:defRPr sz="2800" b="1">
                <a:solidFill>
                  <a:srgbClr val="1E293B"/>
                </a:solidFill>
                <a:latin typeface="Calibri"/>
              </a:defRPr>
            </a:pPr>
            <a:r>
              <a:t>¿Cuándo usar CaaS Serverless vs Kubernetes?</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Elegir CaaS Serverless (Cloud Run, ACI, Fargate)</a:t>
            </a:r>
          </a:p>
          <a:p>
            <a:pPr>
              <a:spcAft>
                <a:spcPts val="800"/>
              </a:spcAft>
              <a:defRPr sz="1400">
                <a:latin typeface="Calibri"/>
              </a:defRPr>
            </a:pPr>
            <a:r>
              <a:rPr b="1">
                <a:solidFill>
                  <a:srgbClr val="1E293B"/>
                </a:solidFill>
              </a:rPr>
              <a:t>• Equipos Pequeños / Startups: </a:t>
            </a:r>
            <a:r>
              <a:rPr b="0">
                <a:solidFill>
                  <a:srgbClr val="1E293B"/>
                </a:solidFill>
              </a:rPr>
              <a:t>Cero personas dedicadas a administrar infraestructura, redes o parches de clúster.</a:t>
            </a:r>
          </a:p>
          <a:p>
            <a:pPr>
              <a:spcAft>
                <a:spcPts val="800"/>
              </a:spcAft>
              <a:defRPr sz="1400">
                <a:latin typeface="Calibri"/>
              </a:defRPr>
            </a:pPr>
            <a:r>
              <a:rPr b="1">
                <a:solidFill>
                  <a:srgbClr val="1E293B"/>
                </a:solidFill>
              </a:rPr>
              <a:t>• Cargas Web y APIs HTTP: </a:t>
            </a:r>
            <a:r>
              <a:rPr b="0">
                <a:solidFill>
                  <a:srgbClr val="1E293B"/>
                </a:solidFill>
              </a:rPr>
              <a:t>Cargas de trabajo orientadas a peticiones que se benefician del escalado automático a cero.</a:t>
            </a:r>
          </a:p>
          <a:p>
            <a:pPr>
              <a:spcAft>
                <a:spcPts val="800"/>
              </a:spcAft>
              <a:defRPr sz="1400">
                <a:latin typeface="Calibri"/>
              </a:defRPr>
            </a:pPr>
            <a:r>
              <a:rPr b="1">
                <a:solidFill>
                  <a:srgbClr val="1E293B"/>
                </a:solidFill>
              </a:rPr>
              <a:t>• Procesamiento Batch / Eventos: </a:t>
            </a:r>
            <a:r>
              <a:rPr b="0">
                <a:solidFill>
                  <a:srgbClr val="1E293B"/>
                </a:solidFill>
              </a:rPr>
              <a:t>Tareas que arrancan, procesan datos durante unos minutos y se apagan.</a:t>
            </a:r>
          </a:p>
          <a:p>
            <a:pPr>
              <a:spcAft>
                <a:spcPts val="800"/>
              </a:spcAft>
              <a:defRPr sz="1400">
                <a:latin typeface="Calibri"/>
              </a:defRPr>
            </a:pPr>
            <a:r>
              <a:rPr b="1">
                <a:solidFill>
                  <a:srgbClr val="1E293B"/>
                </a:solidFill>
              </a:rPr>
              <a:t>• Menor Tiempo al Mercado: </a:t>
            </a:r>
            <a:r>
              <a:rPr b="0">
                <a:solidFill>
                  <a:srgbClr val="1E293B"/>
                </a:solidFill>
              </a:rPr>
              <a:t>Poner en producción una imagen en 5 minutos con un único comando de CLI.</a:t>
            </a:r>
          </a:p>
          <a:p>
            <a:pPr>
              <a:spcAft>
                <a:spcPts val="800"/>
              </a:spcAft>
              <a:defRPr sz="1400">
                <a:latin typeface="Calibri"/>
              </a:defRPr>
            </a:pPr>
            <a:r>
              <a:rPr b="1">
                <a:solidFill>
                  <a:srgbClr val="1E293B"/>
                </a:solidFill>
              </a:rPr>
              <a:t>• Presupuesto Reducido: </a:t>
            </a:r>
            <a:r>
              <a:rPr b="0">
                <a:solidFill>
                  <a:srgbClr val="1E293B"/>
                </a:solidFill>
              </a:rPr>
              <a:t>No pagas por un plano de control fijo ni por nodos ociosos.</a:t>
            </a:r>
          </a:p>
        </p:txBody>
      </p:sp>
      <p:sp>
        <p:nvSpPr>
          <p:cNvPr id="5" name="Rounded Rectangle 4"/>
          <p:cNvSpPr/>
          <p:nvPr/>
        </p:nvSpPr>
        <p:spPr>
          <a:xfrm>
            <a:off x="6217920" y="1645920"/>
            <a:ext cx="52120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Elegir Kubernetes Gestionado (AKS, EKS, GKE)</a:t>
            </a:r>
          </a:p>
          <a:p>
            <a:pPr>
              <a:spcAft>
                <a:spcPts val="800"/>
              </a:spcAft>
              <a:defRPr sz="1400">
                <a:latin typeface="Calibri"/>
              </a:defRPr>
            </a:pPr>
            <a:r>
              <a:rPr b="1">
                <a:solidFill>
                  <a:srgbClr val="1E293B"/>
                </a:solidFill>
              </a:rPr>
              <a:t>• Topologías Complejas: </a:t>
            </a:r>
            <a:r>
              <a:rPr b="0">
                <a:solidFill>
                  <a:srgbClr val="1E293B"/>
                </a:solidFill>
              </a:rPr>
              <a:t>Cientos de microservicios con dependencias complejas, mallas de servicios (Service Mesh como Istio/Linkerd).</a:t>
            </a:r>
          </a:p>
          <a:p>
            <a:pPr>
              <a:spcAft>
                <a:spcPts val="800"/>
              </a:spcAft>
              <a:defRPr sz="1400">
                <a:latin typeface="Calibri"/>
              </a:defRPr>
            </a:pPr>
            <a:r>
              <a:rPr b="1">
                <a:solidFill>
                  <a:srgbClr val="1E293B"/>
                </a:solidFill>
              </a:rPr>
              <a:t>• Control Fino de Red y Almacenamiento: </a:t>
            </a:r>
            <a:r>
              <a:rPr b="0">
                <a:solidFill>
                  <a:srgbClr val="1E293B"/>
                </a:solidFill>
              </a:rPr>
              <a:t>Necesidad de definir políticas de red L3/L4 personalizadas, volúmenes de bloque y topologías multi-nodo avanzadas.</a:t>
            </a:r>
          </a:p>
          <a:p>
            <a:pPr>
              <a:spcAft>
                <a:spcPts val="800"/>
              </a:spcAft>
              <a:defRPr sz="1400">
                <a:latin typeface="Calibri"/>
              </a:defRPr>
            </a:pPr>
            <a:r>
              <a:rPr b="1">
                <a:solidFill>
                  <a:srgbClr val="1E293B"/>
                </a:solidFill>
              </a:rPr>
              <a:t>• Ecosistema CNCF: </a:t>
            </a:r>
            <a:r>
              <a:rPr b="0">
                <a:solidFill>
                  <a:srgbClr val="1E293B"/>
                </a:solidFill>
              </a:rPr>
              <a:t>Uso de operadores de bases de datos, herramientas GitOps (ArgoCD, Flux) y observabilidad masiva.</a:t>
            </a:r>
          </a:p>
          <a:p>
            <a:pPr>
              <a:spcAft>
                <a:spcPts val="800"/>
              </a:spcAft>
              <a:defRPr sz="1400">
                <a:latin typeface="Calibri"/>
              </a:defRPr>
            </a:pPr>
            <a:r>
              <a:rPr b="1">
                <a:solidFill>
                  <a:srgbClr val="1E293B"/>
                </a:solidFill>
              </a:rPr>
              <a:t>• Multi-Cloud / Híbrido: </a:t>
            </a:r>
            <a:r>
              <a:rPr b="0">
                <a:solidFill>
                  <a:srgbClr val="1E293B"/>
                </a:solidFill>
              </a:rPr>
              <a:t>Evitar vendor lock-in ejecutando la misma especificación de Kubernetes en cualquier nube y on-premise.</a:t>
            </a:r>
          </a:p>
          <a:p>
            <a:pPr>
              <a:spcAft>
                <a:spcPts val="800"/>
              </a:spcAft>
              <a:defRPr sz="1400">
                <a:latin typeface="Calibri"/>
              </a:defRPr>
            </a:pPr>
            <a:r>
              <a:rPr b="1">
                <a:solidFill>
                  <a:srgbClr val="1E293B"/>
                </a:solidFill>
              </a:rPr>
              <a:t>• Equipo Dedicado de Platform / DevOps: </a:t>
            </a:r>
            <a:r>
              <a:rPr b="0">
                <a:solidFill>
                  <a:srgbClr val="1E293B"/>
                </a:solidFill>
              </a:rPr>
              <a:t>Capacidad para asumir la gestión del clúster y sus actualizaciones periódicas.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60 / 81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4 • BUENAS PRÁCTICAS</a:t>
            </a:r>
          </a:p>
          <a:p>
            <a:pPr>
              <a:defRPr sz="2800" b="1">
                <a:solidFill>
                  <a:srgbClr val="1E293B"/>
                </a:solidFill>
                <a:latin typeface="Calibri"/>
              </a:defRPr>
            </a:pPr>
            <a:r>
              <a:t>Buenas Prácticas para Contenedores en Producción Cloud</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Diseño y Operación Resiliente</a:t>
            </a:r>
          </a:p>
          <a:p>
            <a:pPr>
              <a:spcAft>
                <a:spcPts val="800"/>
              </a:spcAft>
              <a:defRPr sz="1400">
                <a:latin typeface="Calibri"/>
              </a:defRPr>
            </a:pPr>
            <a:r>
              <a:rPr b="1">
                <a:solidFill>
                  <a:srgbClr val="1E293B"/>
                </a:solidFill>
              </a:rPr>
              <a:t>• Diseño 'Stateless' (Sin Estado): </a:t>
            </a:r>
            <a:r>
              <a:rPr b="0">
                <a:solidFill>
                  <a:srgbClr val="1E293B"/>
                </a:solidFill>
              </a:rPr>
              <a:t>No guardar sesiones ni archivos en disco local; delegar el estado a bases de datos cloud (RDS, Cloud SQL, CosmosDB) y objetos (S3, GCS, Blob Storage).</a:t>
            </a:r>
          </a:p>
          <a:p>
            <a:pPr>
              <a:spcAft>
                <a:spcPts val="800"/>
              </a:spcAft>
              <a:defRPr sz="1400">
                <a:latin typeface="Calibri"/>
              </a:defRPr>
            </a:pPr>
            <a:r>
              <a:rPr b="1">
                <a:solidFill>
                  <a:srgbClr val="1E293B"/>
                </a:solidFill>
              </a:rPr>
              <a:t>• Configuración por Variables de Entorno: </a:t>
            </a:r>
            <a:r>
              <a:rPr b="0">
                <a:solidFill>
                  <a:srgbClr val="1E293B"/>
                </a:solidFill>
              </a:rPr>
              <a:t>Cumplir el factor III de 'The Twelve-Factor App'. Inyectar configuración y secretos mediante los gestores de secretos de la nube (Secret Manager, Key Vault).</a:t>
            </a:r>
          </a:p>
          <a:p>
            <a:pPr>
              <a:spcAft>
                <a:spcPts val="800"/>
              </a:spcAft>
              <a:defRPr sz="1400">
                <a:latin typeface="Calibri"/>
              </a:defRPr>
            </a:pPr>
            <a:r>
              <a:rPr b="1">
                <a:solidFill>
                  <a:srgbClr val="1E293B"/>
                </a:solidFill>
              </a:rPr>
              <a:t>• Health Checks Nativos (`HEALTHCHECK`): </a:t>
            </a:r>
            <a:r>
              <a:rPr b="0">
                <a:solidFill>
                  <a:srgbClr val="1E293B"/>
                </a:solidFill>
              </a:rPr>
              <a:t>Configurar sondas de liveness y readiness para que el orquestador cloud reinicie instancias que no responden.</a:t>
            </a:r>
          </a:p>
          <a:p>
            <a:pPr>
              <a:spcAft>
                <a:spcPts val="800"/>
              </a:spcAft>
              <a:defRPr sz="1400">
                <a:latin typeface="Calibri"/>
              </a:defRPr>
            </a:pPr>
            <a:r>
              <a:rPr b="1">
                <a:solidFill>
                  <a:srgbClr val="1E293B"/>
                </a:solidFill>
              </a:rPr>
              <a:t>• Logs en Salida Estándar (stdout/stderr): </a:t>
            </a:r>
            <a:r>
              <a:rPr b="0">
                <a:solidFill>
                  <a:srgbClr val="1E293B"/>
                </a:solidFill>
              </a:rPr>
              <a:t>Escribir siempre los logs en stdout; el agente cloud los recolectará automáticamente hacia CloudWatch, Cloud Logging o Azure Monitor.</a:t>
            </a:r>
          </a:p>
        </p:txBody>
      </p:sp>
      <p:sp>
        <p:nvSpPr>
          <p:cNvPr id="5" name="Rounded Rectangle 4"/>
          <p:cNvSpPr/>
          <p:nvPr/>
        </p:nvSpPr>
        <p:spPr>
          <a:xfrm>
            <a:off x="6217920" y="1645920"/>
            <a:ext cx="5212080" cy="4572000"/>
          </a:xfrm>
          <a:prstGeom prst="roundRect">
            <a:avLst/>
          </a:prstGeom>
          <a:solidFill>
            <a:srgbClr val="FEF2F2"/>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Seguridad y Optimización</a:t>
            </a:r>
          </a:p>
          <a:p>
            <a:pPr>
              <a:spcAft>
                <a:spcPts val="800"/>
              </a:spcAft>
              <a:defRPr sz="1400">
                <a:latin typeface="Calibri"/>
              </a:defRPr>
            </a:pPr>
            <a:r>
              <a:rPr b="1">
                <a:solidFill>
                  <a:srgbClr val="1E293B"/>
                </a:solidFill>
              </a:rPr>
              <a:t>• Prohibido Hardcodear Secretos en la Imagen: </a:t>
            </a:r>
            <a:r>
              <a:rPr b="0">
                <a:solidFill>
                  <a:srgbClr val="1E293B"/>
                </a:solidFill>
              </a:rPr>
              <a:t>Jamás escribir API keys o contraseñas en el Dockerfile o durante el build.</a:t>
            </a:r>
          </a:p>
          <a:p>
            <a:pPr>
              <a:spcAft>
                <a:spcPts val="800"/>
              </a:spcAft>
              <a:defRPr sz="1400">
                <a:latin typeface="Calibri"/>
              </a:defRPr>
            </a:pPr>
            <a:r>
              <a:rPr b="1">
                <a:solidFill>
                  <a:srgbClr val="1E293B"/>
                </a:solidFill>
              </a:rPr>
              <a:t>• Usuario No Root Obligatorio: </a:t>
            </a:r>
            <a:r>
              <a:rPr b="0">
                <a:solidFill>
                  <a:srgbClr val="1E293B"/>
                </a:solidFill>
              </a:rPr>
              <a:t>Configurar directiva `USER appuser` para impedir escaladas de privilegios en el host cloud.</a:t>
            </a:r>
          </a:p>
          <a:p>
            <a:pPr>
              <a:spcAft>
                <a:spcPts val="800"/>
              </a:spcAft>
              <a:defRPr sz="1400">
                <a:latin typeface="Calibri"/>
              </a:defRPr>
            </a:pPr>
            <a:r>
              <a:rPr b="1">
                <a:solidFill>
                  <a:srgbClr val="1E293B"/>
                </a:solidFill>
              </a:rPr>
              <a:t>• Fijar Límites de Recursos: </a:t>
            </a:r>
            <a:r>
              <a:rPr b="0">
                <a:solidFill>
                  <a:srgbClr val="1E293B"/>
                </a:solidFill>
              </a:rPr>
              <a:t>Declarar siempre CPU y memoria máximos en la definición de la tarea o servicio cloud.</a:t>
            </a:r>
          </a:p>
          <a:p>
            <a:pPr>
              <a:spcAft>
                <a:spcPts val="800"/>
              </a:spcAft>
              <a:defRPr sz="1400">
                <a:latin typeface="Calibri"/>
              </a:defRPr>
            </a:pPr>
            <a:r>
              <a:rPr b="1">
                <a:solidFill>
                  <a:srgbClr val="1E293B"/>
                </a:solidFill>
              </a:rPr>
              <a:t>• Monitorización de Costes y Autoescalado: </a:t>
            </a:r>
            <a:r>
              <a:rPr b="0">
                <a:solidFill>
                  <a:srgbClr val="1E293B"/>
                </a:solidFill>
              </a:rPr>
              <a:t>Fijar un número máximo de instancias (`max-instances`) para evitar sorpresas desagradables en la factura mensual ante un ataque DoS.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61 / 81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DÍA 3 • PRÁCTICA</a:t>
            </a:r>
          </a:p>
          <a:p>
            <a:pPr>
              <a:defRPr sz="2800" b="1">
                <a:solidFill>
                  <a:srgbClr val="1E293B"/>
                </a:solidFill>
                <a:latin typeface="Calibri"/>
              </a:defRPr>
            </a:pPr>
            <a:r>
              <a:t>Laboratorio 4: Registries Cloud y Despliegue CaaS</a:t>
            </a:r>
          </a:p>
        </p:txBody>
      </p:sp>
      <p:sp>
        <p:nvSpPr>
          <p:cNvPr id="4" name="Rounded Rectangle 3"/>
          <p:cNvSpPr/>
          <p:nvPr/>
        </p:nvSpPr>
        <p:spPr>
          <a:xfrm>
            <a:off x="731520" y="1645920"/>
            <a:ext cx="106984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Objetivos y Pasos del Ejercicio Práctico</a:t>
            </a:r>
          </a:p>
          <a:p>
            <a:pPr>
              <a:spcAft>
                <a:spcPts val="1000"/>
              </a:spcAft>
              <a:defRPr sz="1400">
                <a:latin typeface="Calibri"/>
              </a:defRPr>
            </a:pPr>
            <a:r>
              <a:rPr b="1">
                <a:solidFill>
                  <a:srgbClr val="1E293B"/>
                </a:solidFill>
              </a:rPr>
              <a:t>• Paso 1: </a:t>
            </a:r>
            <a:r>
              <a:rPr b="0">
                <a:solidFill>
                  <a:srgbClr val="1E293B"/>
                </a:solidFill>
              </a:rPr>
              <a:t>Configurar una cuenta en Docker Hub o registry privado del proveedor cloud (Azure ACR / AWS ECR / Google Artifact Registry).</a:t>
            </a:r>
          </a:p>
          <a:p>
            <a:pPr>
              <a:spcAft>
                <a:spcPts val="1000"/>
              </a:spcAft>
              <a:defRPr sz="1400">
                <a:latin typeface="Calibri"/>
              </a:defRPr>
            </a:pPr>
            <a:r>
              <a:rPr b="1">
                <a:solidFill>
                  <a:srgbClr val="1E293B"/>
                </a:solidFill>
              </a:rPr>
              <a:t>• Paso 2: </a:t>
            </a:r>
            <a:r>
              <a:rPr b="0">
                <a:solidFill>
                  <a:srgbClr val="1E293B"/>
                </a:solidFill>
              </a:rPr>
              <a:t>Autenticar el cliente local de Docker mediante terminal segura (`docker login` o credenciales CLI).</a:t>
            </a:r>
          </a:p>
          <a:p>
            <a:pPr>
              <a:spcAft>
                <a:spcPts val="1000"/>
              </a:spcAft>
              <a:defRPr sz="1400">
                <a:latin typeface="Calibri"/>
              </a:defRPr>
            </a:pPr>
            <a:r>
              <a:rPr b="1">
                <a:solidFill>
                  <a:srgbClr val="1E293B"/>
                </a:solidFill>
              </a:rPr>
              <a:t>• Paso 3: </a:t>
            </a:r>
            <a:r>
              <a:rPr b="0">
                <a:solidFill>
                  <a:srgbClr val="1E293B"/>
                </a:solidFill>
              </a:rPr>
              <a:t>Construir una versión 1.0.0 de nuestra API con tag semántico siguiendo la convención: `&lt;registry&gt;/&lt;namespace&gt;/&lt;app&gt;:&lt;version&gt;`.</a:t>
            </a:r>
          </a:p>
          <a:p>
            <a:pPr>
              <a:spcAft>
                <a:spcPts val="1000"/>
              </a:spcAft>
              <a:defRPr sz="1400">
                <a:latin typeface="Calibri"/>
              </a:defRPr>
            </a:pPr>
            <a:r>
              <a:rPr b="1">
                <a:solidFill>
                  <a:srgbClr val="1E293B"/>
                </a:solidFill>
              </a:rPr>
              <a:t>• Paso 4: </a:t>
            </a:r>
            <a:r>
              <a:rPr b="0">
                <a:solidFill>
                  <a:srgbClr val="1E293B"/>
                </a:solidFill>
              </a:rPr>
              <a:t>Ejecutar `docker push` y verificar en el panel web del registry la carga de capas y el hash SHA256 generado.</a:t>
            </a:r>
          </a:p>
          <a:p>
            <a:pPr>
              <a:spcAft>
                <a:spcPts val="1000"/>
              </a:spcAft>
              <a:defRPr sz="1400">
                <a:latin typeface="Calibri"/>
              </a:defRPr>
            </a:pPr>
            <a:r>
              <a:rPr b="1">
                <a:solidFill>
                  <a:srgbClr val="1E293B"/>
                </a:solidFill>
              </a:rPr>
              <a:t>• Paso 5: </a:t>
            </a:r>
            <a:r>
              <a:rPr b="0">
                <a:solidFill>
                  <a:srgbClr val="1E293B"/>
                </a:solidFill>
              </a:rPr>
              <a:t>Desplegar el contenedor en un servicio serverless (ej. Azure ACI, Google Cloud Run o simulación con entorno local) exponiendo el puerto público.</a:t>
            </a:r>
          </a:p>
          <a:p>
            <a:pPr>
              <a:spcAft>
                <a:spcPts val="1000"/>
              </a:spcAft>
              <a:defRPr sz="1400">
                <a:latin typeface="Calibri"/>
              </a:defRPr>
            </a:pPr>
            <a:r>
              <a:rPr b="1">
                <a:solidFill>
                  <a:srgbClr val="1E293B"/>
                </a:solidFill>
              </a:rPr>
              <a:t>• Paso 6: </a:t>
            </a:r>
            <a:r>
              <a:rPr b="0">
                <a:solidFill>
                  <a:srgbClr val="1E293B"/>
                </a:solidFill>
              </a:rPr>
              <a:t>Probar la URL pública asignada mediante navegador o `curl`.</a:t>
            </a:r>
          </a:p>
          <a:p>
            <a:pPr>
              <a:spcAft>
                <a:spcPts val="1000"/>
              </a:spcAft>
              <a:defRPr sz="1400">
                <a:latin typeface="Calibri"/>
              </a:defRPr>
            </a:pPr>
            <a:r>
              <a:rPr b="1">
                <a:solidFill>
                  <a:srgbClr val="1E293B"/>
                </a:solidFill>
              </a:rPr>
              <a:t>• Paso 7: </a:t>
            </a:r>
            <a:r>
              <a:rPr b="0">
                <a:solidFill>
                  <a:srgbClr val="1E293B"/>
                </a:solidFill>
              </a:rPr>
              <a:t>Realizar una modificación de código, subir la versión `1.0.1` y ejecutar una actualización sin caída de servicio (Zero Downtime).</a:t>
            </a:r>
          </a:p>
        </p:txBody>
      </p:sp>
      <p:sp>
        <p:nvSpPr>
          <p:cNvPr id="5" name="TextBox 4"/>
          <p:cNvSpPr txBox="1"/>
          <p:nvPr/>
        </p:nvSpPr>
        <p:spPr>
          <a:xfrm>
            <a:off x="10332720" y="6446520"/>
            <a:ext cx="1645920" cy="320040"/>
          </a:xfrm>
          <a:prstGeom prst="rect">
            <a:avLst/>
          </a:prstGeom>
          <a:noFill/>
        </p:spPr>
        <p:txBody>
          <a:bodyPr wrap="none" lIns="0" tIns="0" rIns="0" bIns="0">
            <a:spAutoFit/>
          </a:bodyPr>
          <a:lstStyle/>
          <a:p>
            <a:pPr algn="r">
              <a:defRPr sz="900">
                <a:solidFill>
                  <a:srgbClr val="0DB7ED"/>
                </a:solidFill>
                <a:latin typeface="Calibri"/>
              </a:defRPr>
            </a:pPr>
            <a:r>
              <a:t>62 / 81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D3A"/>
          </a:solidFill>
          <a:ln>
            <a:solidFill>
              <a:srgbClr val="0B1D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32720" cy="457200"/>
          </a:xfrm>
          <a:prstGeom prst="rect">
            <a:avLst/>
          </a:prstGeom>
          <a:noFill/>
        </p:spPr>
        <p:txBody>
          <a:bodyPr wrap="square">
            <a:spAutoFit/>
          </a:bodyPr>
          <a:lstStyle/>
          <a:p>
            <a:pPr>
              <a:defRPr sz="1300" b="1">
                <a:solidFill>
                  <a:srgbClr val="0DB7ED"/>
                </a:solidFill>
                <a:latin typeface="Calibri"/>
              </a:defRPr>
            </a:pPr>
            <a:r>
              <a:t>DÍA 3 • CONCLUSIÓN</a:t>
            </a:r>
          </a:p>
        </p:txBody>
      </p:sp>
      <p:sp>
        <p:nvSpPr>
          <p:cNvPr id="4" name="TextBox 3"/>
          <p:cNvSpPr txBox="1"/>
          <p:nvPr/>
        </p:nvSpPr>
        <p:spPr>
          <a:xfrm>
            <a:off x="914400" y="1828800"/>
            <a:ext cx="10332720" cy="2194560"/>
          </a:xfrm>
          <a:prstGeom prst="rect">
            <a:avLst/>
          </a:prstGeom>
          <a:noFill/>
        </p:spPr>
        <p:txBody>
          <a:bodyPr wrap="square">
            <a:spAutoFit/>
          </a:bodyPr>
          <a:lstStyle/>
          <a:p>
            <a:pPr>
              <a:defRPr sz="4000" b="1">
                <a:solidFill>
                  <a:srgbClr val="FFFFFF"/>
                </a:solidFill>
                <a:latin typeface="Calibri"/>
              </a:defRPr>
            </a:pPr>
            <a:r>
              <a:t>RESUMEN DE LA JORNADA 3</a:t>
            </a:r>
          </a:p>
        </p:txBody>
      </p:sp>
      <p:sp>
        <p:nvSpPr>
          <p:cNvPr id="5" name="TextBox 4"/>
          <p:cNvSpPr txBox="1"/>
          <p:nvPr/>
        </p:nvSpPr>
        <p:spPr>
          <a:xfrm>
            <a:off x="914400" y="4114800"/>
            <a:ext cx="10332720" cy="1645920"/>
          </a:xfrm>
          <a:prstGeom prst="rect">
            <a:avLst/>
          </a:prstGeom>
          <a:noFill/>
        </p:spPr>
        <p:txBody>
          <a:bodyPr wrap="square">
            <a:spAutoFit/>
          </a:bodyPr>
          <a:lstStyle/>
          <a:p>
            <a:pPr>
              <a:defRPr sz="2000">
                <a:solidFill>
                  <a:srgbClr val="64748B"/>
                </a:solidFill>
                <a:latin typeface="Calibri"/>
              </a:defRPr>
            </a:pPr>
            <a:r>
              <a:t>Conceptos consolidados: CaaS, Serverless Containers, Azure (ACI, ACA, ACR), AWS (ECS, Fargate, ECR), Google Cloud (Cloud Run, Artifact Registry) y Registries OCI.</a:t>
            </a:r>
            <a:br/>
            <a:r>
              <a:t>Próxima Jornada: Módulo 5 (Orquestación a escala, Kubernetes y Taller Final Integrador).</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63 / 81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D3A"/>
          </a:solidFill>
          <a:ln>
            <a:solidFill>
              <a:srgbClr val="0B1D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32720" cy="457200"/>
          </a:xfrm>
          <a:prstGeom prst="rect">
            <a:avLst/>
          </a:prstGeom>
          <a:noFill/>
        </p:spPr>
        <p:txBody>
          <a:bodyPr wrap="square">
            <a:spAutoFit/>
          </a:bodyPr>
          <a:lstStyle/>
          <a:p>
            <a:pPr>
              <a:defRPr sz="1300" b="1">
                <a:solidFill>
                  <a:srgbClr val="0DB7ED"/>
                </a:solidFill>
                <a:latin typeface="Calibri"/>
              </a:defRPr>
            </a:pPr>
            <a:r>
              <a:t>DÍA 4 • ESCALABILIDAD Y RESILIENCIA</a:t>
            </a:r>
          </a:p>
        </p:txBody>
      </p:sp>
      <p:sp>
        <p:nvSpPr>
          <p:cNvPr id="4" name="TextBox 3"/>
          <p:cNvSpPr txBox="1"/>
          <p:nvPr/>
        </p:nvSpPr>
        <p:spPr>
          <a:xfrm>
            <a:off x="914400" y="1828800"/>
            <a:ext cx="10332720" cy="2194560"/>
          </a:xfrm>
          <a:prstGeom prst="rect">
            <a:avLst/>
          </a:prstGeom>
          <a:noFill/>
        </p:spPr>
        <p:txBody>
          <a:bodyPr wrap="square">
            <a:spAutoFit/>
          </a:bodyPr>
          <a:lstStyle/>
          <a:p>
            <a:pPr>
              <a:defRPr sz="4000" b="1">
                <a:solidFill>
                  <a:srgbClr val="FFFFFF"/>
                </a:solidFill>
                <a:latin typeface="Calibri"/>
              </a:defRPr>
            </a:pPr>
            <a:r>
              <a:t>ORQUESTACIÓN Y KUBERNETES</a:t>
            </a:r>
          </a:p>
        </p:txBody>
      </p:sp>
      <p:sp>
        <p:nvSpPr>
          <p:cNvPr id="5" name="TextBox 4"/>
          <p:cNvSpPr txBox="1"/>
          <p:nvPr/>
        </p:nvSpPr>
        <p:spPr>
          <a:xfrm>
            <a:off x="914400" y="4114800"/>
            <a:ext cx="10332720" cy="1645920"/>
          </a:xfrm>
          <a:prstGeom prst="rect">
            <a:avLst/>
          </a:prstGeom>
          <a:noFill/>
        </p:spPr>
        <p:txBody>
          <a:bodyPr wrap="square">
            <a:spAutoFit/>
          </a:bodyPr>
          <a:lstStyle/>
          <a:p>
            <a:pPr>
              <a:defRPr sz="2000">
                <a:solidFill>
                  <a:srgbClr val="64748B"/>
                </a:solidFill>
                <a:latin typeface="Calibri"/>
              </a:defRPr>
            </a:pPr>
            <a:r>
              <a:t>Módulo 5: ¿Qué es Orquestación?, Comparativa de Orquestadores y Arquitectura de Kubernetes</a:t>
            </a:r>
            <a:br/>
            <a:r>
              <a:t>Jornada 4 de 4 (5 Horas Lectivas)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64 / 81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5 • ORQUESTACIÓN</a:t>
            </a:r>
          </a:p>
          <a:p>
            <a:pPr>
              <a:defRPr sz="2800" b="1">
                <a:solidFill>
                  <a:srgbClr val="1E293B"/>
                </a:solidFill>
                <a:latin typeface="Calibri"/>
              </a:defRPr>
            </a:pPr>
            <a:r>
              <a:t>¿Por qué Orquestar? Los Límites de Docker Standalone</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Los Límites de un Solo Host</a:t>
            </a:r>
          </a:p>
          <a:p>
            <a:pPr>
              <a:spcAft>
                <a:spcPts val="800"/>
              </a:spcAft>
              <a:defRPr sz="1400">
                <a:latin typeface="Calibri"/>
              </a:defRPr>
            </a:pPr>
            <a:r>
              <a:rPr b="1">
                <a:solidFill>
                  <a:srgbClr val="1E293B"/>
                </a:solidFill>
              </a:rPr>
              <a:t>• Punto Único de Fallo (SPOF): </a:t>
            </a:r>
            <a:r>
              <a:rPr b="0">
                <a:solidFill>
                  <a:srgbClr val="1E293B"/>
                </a:solidFill>
              </a:rPr>
              <a:t>Si el servidor donde corre el daemon de Docker cae por avería de hardware o corte de luz, todos los servicios caen.</a:t>
            </a:r>
          </a:p>
          <a:p>
            <a:pPr>
              <a:spcAft>
                <a:spcPts val="800"/>
              </a:spcAft>
              <a:defRPr sz="1400">
                <a:latin typeface="Calibri"/>
              </a:defRPr>
            </a:pPr>
            <a:r>
              <a:rPr b="1">
                <a:solidFill>
                  <a:srgbClr val="1E293B"/>
                </a:solidFill>
              </a:rPr>
              <a:t>• Capacidad Limitada: </a:t>
            </a:r>
            <a:r>
              <a:rPr b="0">
                <a:solidFill>
                  <a:srgbClr val="1E293B"/>
                </a:solidFill>
              </a:rPr>
              <a:t>Un único servidor físico tiene un tope finito de CPU y memoria RAM; no puede escalar indefinidamente (límite del escalado vertical).</a:t>
            </a:r>
          </a:p>
          <a:p>
            <a:pPr>
              <a:spcAft>
                <a:spcPts val="800"/>
              </a:spcAft>
              <a:defRPr sz="1400">
                <a:latin typeface="Calibri"/>
              </a:defRPr>
            </a:pPr>
            <a:r>
              <a:rPr b="1">
                <a:solidFill>
                  <a:srgbClr val="1E293B"/>
                </a:solidFill>
              </a:rPr>
              <a:t>• Sin Auto-Recuperación Multi-Servidor: </a:t>
            </a:r>
            <a:r>
              <a:rPr b="0">
                <a:solidFill>
                  <a:srgbClr val="1E293B"/>
                </a:solidFill>
              </a:rPr>
              <a:t>La directiva `--restart always` solo reinicia el contenedor si el host sigue vivo; no puede moverlo a otra máquina.</a:t>
            </a:r>
          </a:p>
          <a:p>
            <a:pPr>
              <a:spcAft>
                <a:spcPts val="800"/>
              </a:spcAft>
              <a:defRPr sz="1400">
                <a:latin typeface="Calibri"/>
              </a:defRPr>
            </a:pPr>
            <a:r>
              <a:rPr b="1">
                <a:solidFill>
                  <a:srgbClr val="1E293B"/>
                </a:solidFill>
              </a:rPr>
              <a:t>• Gestión Manual Inviable: </a:t>
            </a:r>
            <a:r>
              <a:rPr b="0">
                <a:solidFill>
                  <a:srgbClr val="1E293B"/>
                </a:solidFill>
              </a:rPr>
              <a:t>Desplegar y monitorizar manualmente 100 contenedores con `docker run` o Docker Compose en múltiples IPs se vuelve ingobernable.</a:t>
            </a:r>
          </a:p>
        </p:txBody>
      </p:sp>
      <p:sp>
        <p:nvSpPr>
          <p:cNvPr id="5" name="Rounded Rectangle 4"/>
          <p:cNvSpPr/>
          <p:nvPr/>
        </p:nvSpPr>
        <p:spPr>
          <a:xfrm>
            <a:off x="6217920" y="1645920"/>
            <a:ext cx="52120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La Promesa del Orquestador</a:t>
            </a:r>
          </a:p>
          <a:p>
            <a:pPr>
              <a:spcAft>
                <a:spcPts val="800"/>
              </a:spcAft>
              <a:defRPr sz="1400">
                <a:latin typeface="Calibri"/>
              </a:defRPr>
            </a:pPr>
            <a:r>
              <a:rPr b="1">
                <a:solidFill>
                  <a:srgbClr val="1E293B"/>
                </a:solidFill>
              </a:rPr>
              <a:t>• Abstracción del Clúster: </a:t>
            </a:r>
            <a:r>
              <a:rPr b="0">
                <a:solidFill>
                  <a:srgbClr val="1E293B"/>
                </a:solidFill>
              </a:rPr>
              <a:t>Unifica decenas de servidores en un único grupo de recursos lógicos de cómputo, red y almacenamiento.</a:t>
            </a:r>
          </a:p>
          <a:p>
            <a:pPr>
              <a:spcAft>
                <a:spcPts val="800"/>
              </a:spcAft>
              <a:defRPr sz="1400">
                <a:latin typeface="Calibri"/>
              </a:defRPr>
            </a:pPr>
            <a:r>
              <a:rPr b="1">
                <a:solidFill>
                  <a:srgbClr val="1E293B"/>
                </a:solidFill>
              </a:rPr>
              <a:t>• Auto-Sanación (Self-Healing): </a:t>
            </a:r>
            <a:r>
              <a:rPr b="0">
                <a:solidFill>
                  <a:srgbClr val="1E293B"/>
                </a:solidFill>
              </a:rPr>
              <a:t>Si un nodo físico muere, el orquestador detecta la pérdida y reprograma automáticamente los contenedores en nodos sanos.</a:t>
            </a:r>
          </a:p>
          <a:p>
            <a:pPr>
              <a:spcAft>
                <a:spcPts val="800"/>
              </a:spcAft>
              <a:defRPr sz="1400">
                <a:latin typeface="Calibri"/>
              </a:defRPr>
            </a:pPr>
            <a:r>
              <a:rPr b="1">
                <a:solidFill>
                  <a:srgbClr val="1E293B"/>
                </a:solidFill>
              </a:rPr>
              <a:t>• Balanceo de Carga y Enrutamiento: </a:t>
            </a:r>
            <a:r>
              <a:rPr b="0">
                <a:solidFill>
                  <a:srgbClr val="1E293B"/>
                </a:solidFill>
              </a:rPr>
              <a:t>Distribución inteligente de peticiones entrantes entre todas las réplicas disponibles.</a:t>
            </a:r>
          </a:p>
          <a:p>
            <a:pPr>
              <a:spcAft>
                <a:spcPts val="800"/>
              </a:spcAft>
              <a:defRPr sz="1400">
                <a:latin typeface="Calibri"/>
              </a:defRPr>
            </a:pPr>
            <a:r>
              <a:rPr b="1">
                <a:solidFill>
                  <a:srgbClr val="1E293B"/>
                </a:solidFill>
              </a:rPr>
              <a:t>• Actualizaciones Progresivas (Rolling Updates): </a:t>
            </a:r>
            <a:r>
              <a:rPr b="0">
                <a:solidFill>
                  <a:srgbClr val="1E293B"/>
                </a:solidFill>
              </a:rPr>
              <a:t>Actualización a nuevas versiones de código sin un solo segundo de parada de servicio.</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65 / 81</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5 • ORQUESTACIÓN</a:t>
            </a:r>
          </a:p>
          <a:p>
            <a:pPr>
              <a:defRPr sz="2800" b="1">
                <a:solidFill>
                  <a:srgbClr val="1E293B"/>
                </a:solidFill>
                <a:latin typeface="Calibri"/>
              </a:defRPr>
            </a:pPr>
            <a:r>
              <a:t>Las 5 Capacidades Clave de un Orquestador</a:t>
            </a:r>
          </a:p>
        </p:txBody>
      </p:sp>
      <p:sp>
        <p:nvSpPr>
          <p:cNvPr id="4" name="Rounded Rectangle 3"/>
          <p:cNvSpPr/>
          <p:nvPr/>
        </p:nvSpPr>
        <p:spPr>
          <a:xfrm>
            <a:off x="731520" y="1645920"/>
            <a:ext cx="106984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Pilares Funcionales de la Orquestación Moderna</a:t>
            </a:r>
          </a:p>
          <a:p>
            <a:pPr>
              <a:spcAft>
                <a:spcPts val="1400"/>
              </a:spcAft>
              <a:defRPr sz="1400">
                <a:latin typeface="Calibri"/>
              </a:defRPr>
            </a:pPr>
            <a:r>
              <a:rPr b="1">
                <a:solidFill>
                  <a:srgbClr val="1E293B"/>
                </a:solidFill>
              </a:rPr>
              <a:t>• 1. Scheduling Inteligente: </a:t>
            </a:r>
            <a:r>
              <a:rPr b="0">
                <a:solidFill>
                  <a:srgbClr val="1E293B"/>
                </a:solidFill>
              </a:rPr>
              <a:t>Evalúa requisitos de CPU, memoria, afinidad y tolerancia a fallos para decidir en qué servidor exacto debe ejecutarse cada contenedor.</a:t>
            </a:r>
          </a:p>
          <a:p>
            <a:pPr>
              <a:spcAft>
                <a:spcPts val="1400"/>
              </a:spcAft>
              <a:defRPr sz="1400">
                <a:latin typeface="Calibri"/>
              </a:defRPr>
            </a:pPr>
            <a:r>
              <a:rPr b="1">
                <a:solidFill>
                  <a:srgbClr val="1E293B"/>
                </a:solidFill>
              </a:rPr>
              <a:t>• 2. Auto-Sanación (Self-Healing): </a:t>
            </a:r>
            <a:r>
              <a:rPr b="0">
                <a:solidFill>
                  <a:srgbClr val="1E293B"/>
                </a:solidFill>
              </a:rPr>
              <a:t>Monitoriza continuamente la salud de los procesos; si un contenedor falla en sus sondas de salud, lo destruye y levanta uno nuevo.</a:t>
            </a:r>
          </a:p>
          <a:p>
            <a:pPr>
              <a:spcAft>
                <a:spcPts val="1400"/>
              </a:spcAft>
              <a:defRPr sz="1400">
                <a:latin typeface="Calibri"/>
              </a:defRPr>
            </a:pPr>
            <a:r>
              <a:rPr b="1">
                <a:solidFill>
                  <a:srgbClr val="1E293B"/>
                </a:solidFill>
              </a:rPr>
              <a:t>• 3. Escalado Horizontal Dinámico (HPA): </a:t>
            </a:r>
            <a:r>
              <a:rPr b="0">
                <a:solidFill>
                  <a:srgbClr val="1E293B"/>
                </a:solidFill>
              </a:rPr>
              <a:t>Aumenta o disminuye el número de réplicas del contenedor de forma automática en función de la métrica de CPU, memoria o tráfico.</a:t>
            </a:r>
          </a:p>
          <a:p>
            <a:pPr>
              <a:spcAft>
                <a:spcPts val="1400"/>
              </a:spcAft>
              <a:defRPr sz="1400">
                <a:latin typeface="Calibri"/>
              </a:defRPr>
            </a:pPr>
            <a:r>
              <a:rPr b="1">
                <a:solidFill>
                  <a:srgbClr val="1E293B"/>
                </a:solidFill>
              </a:rPr>
              <a:t>• 4. Descubrimiento de Servicios y Balanceo de Carga: </a:t>
            </a:r>
            <a:r>
              <a:rPr b="0">
                <a:solidFill>
                  <a:srgbClr val="1E293B"/>
                </a:solidFill>
              </a:rPr>
              <a:t>Asigna una dirección IP virtual estable y un nombre DNS a cada conjunto de réplicas, balanceando el tráfico TCP/UDP.</a:t>
            </a:r>
          </a:p>
          <a:p>
            <a:pPr>
              <a:spcAft>
                <a:spcPts val="1400"/>
              </a:spcAft>
              <a:defRPr sz="1400">
                <a:latin typeface="Calibri"/>
              </a:defRPr>
            </a:pPr>
            <a:r>
              <a:rPr b="1">
                <a:solidFill>
                  <a:srgbClr val="1E293B"/>
                </a:solidFill>
              </a:rPr>
              <a:t>• 5. Despliegues y Rollbacks Automatizados: </a:t>
            </a:r>
            <a:r>
              <a:rPr b="0">
                <a:solidFill>
                  <a:srgbClr val="1E293B"/>
                </a:solidFill>
              </a:rPr>
              <a:t>Despliega la versión nueva contenedor por contenedor; si detecta errores en las sondas, revierte el cambio al instante al estado anterior.</a:t>
            </a:r>
          </a:p>
        </p:txBody>
      </p:sp>
      <p:sp>
        <p:nvSpPr>
          <p:cNvPr id="5" name="TextBox 4"/>
          <p:cNvSpPr txBox="1"/>
          <p:nvPr/>
        </p:nvSpPr>
        <p:spPr>
          <a:xfrm>
            <a:off x="10332720" y="6446520"/>
            <a:ext cx="1645920" cy="320040"/>
          </a:xfrm>
          <a:prstGeom prst="rect">
            <a:avLst/>
          </a:prstGeom>
          <a:noFill/>
        </p:spPr>
        <p:txBody>
          <a:bodyPr wrap="none" lIns="0" tIns="0" rIns="0" bIns="0">
            <a:spAutoFit/>
          </a:bodyPr>
          <a:lstStyle/>
          <a:p>
            <a:pPr algn="r">
              <a:defRPr sz="900">
                <a:solidFill>
                  <a:srgbClr val="0DB7ED"/>
                </a:solidFill>
                <a:latin typeface="Calibri"/>
              </a:defRPr>
            </a:pPr>
            <a:r>
              <a:t>66 / 81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5 • ORQUESTADORES</a:t>
            </a:r>
          </a:p>
          <a:p>
            <a:pPr>
              <a:defRPr sz="2800" b="1">
                <a:solidFill>
                  <a:srgbClr val="1E293B"/>
                </a:solidFill>
                <a:latin typeface="Calibri"/>
              </a:defRPr>
            </a:pPr>
            <a:r>
              <a:t>Comparativa de Orquestadores: Swarm vs K8s vs Nomad</a:t>
            </a:r>
          </a:p>
        </p:txBody>
      </p:sp>
      <p:sp>
        <p:nvSpPr>
          <p:cNvPr id="4" name="Rounded Rectangle 3"/>
          <p:cNvSpPr/>
          <p:nvPr/>
        </p:nvSpPr>
        <p:spPr>
          <a:xfrm>
            <a:off x="731520" y="1645920"/>
            <a:ext cx="33832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Docker Swarm</a:t>
            </a:r>
          </a:p>
          <a:p>
            <a:pPr>
              <a:spcAft>
                <a:spcPts val="800"/>
              </a:spcAft>
              <a:defRPr sz="1300">
                <a:latin typeface="Calibri"/>
              </a:defRPr>
            </a:pPr>
            <a:r>
              <a:rPr b="1">
                <a:solidFill>
                  <a:srgbClr val="1E293B"/>
                </a:solidFill>
              </a:rPr>
              <a:t>• Filosofía: </a:t>
            </a:r>
            <a:r>
              <a:rPr b="0">
                <a:solidFill>
                  <a:srgbClr val="1E293B"/>
                </a:solidFill>
              </a:rPr>
              <a:t>Simplicidad radical e integración nativa.</a:t>
            </a:r>
          </a:p>
          <a:p>
            <a:pPr>
              <a:spcAft>
                <a:spcPts val="800"/>
              </a:spcAft>
              <a:defRPr sz="1300">
                <a:latin typeface="Calibri"/>
              </a:defRPr>
            </a:pPr>
            <a:r>
              <a:rPr b="1">
                <a:solidFill>
                  <a:srgbClr val="1E293B"/>
                </a:solidFill>
              </a:rPr>
              <a:t>• Curva de Aprendizaje: </a:t>
            </a:r>
            <a:r>
              <a:rPr b="0">
                <a:solidFill>
                  <a:srgbClr val="1E293B"/>
                </a:solidFill>
              </a:rPr>
              <a:t>Muy baja (reutiliza sintaxis de Docker Compose).</a:t>
            </a:r>
          </a:p>
          <a:p>
            <a:pPr>
              <a:spcAft>
                <a:spcPts val="800"/>
              </a:spcAft>
              <a:defRPr sz="1300">
                <a:latin typeface="Calibri"/>
              </a:defRPr>
            </a:pPr>
            <a:r>
              <a:rPr b="1">
                <a:solidFill>
                  <a:srgbClr val="1E293B"/>
                </a:solidFill>
              </a:rPr>
              <a:t>• Configuración: </a:t>
            </a:r>
            <a:r>
              <a:rPr b="0">
                <a:solidFill>
                  <a:srgbClr val="1E293B"/>
                </a:solidFill>
              </a:rPr>
              <a:t>Se activa con `docker swarm init` en 10 segundos.</a:t>
            </a:r>
          </a:p>
          <a:p>
            <a:pPr>
              <a:spcAft>
                <a:spcPts val="800"/>
              </a:spcAft>
              <a:defRPr sz="1300">
                <a:latin typeface="Calibri"/>
              </a:defRPr>
            </a:pPr>
            <a:r>
              <a:rPr b="1">
                <a:solidFill>
                  <a:srgbClr val="1E293B"/>
                </a:solidFill>
              </a:rPr>
              <a:t>• Ecosistema: </a:t>
            </a:r>
            <a:r>
              <a:rPr b="0">
                <a:solidFill>
                  <a:srgbClr val="1E293B"/>
                </a:solidFill>
              </a:rPr>
              <a:t>Limitado, desarrollo mantenido principalmente por Mirantis.</a:t>
            </a:r>
          </a:p>
          <a:p>
            <a:pPr>
              <a:spcAft>
                <a:spcPts val="800"/>
              </a:spcAft>
              <a:defRPr sz="1300">
                <a:latin typeface="Calibri"/>
              </a:defRPr>
            </a:pPr>
            <a:r>
              <a:rPr b="1">
                <a:solidFill>
                  <a:srgbClr val="1E293B"/>
                </a:solidFill>
              </a:rPr>
              <a:t>• Ideal para: </a:t>
            </a:r>
            <a:r>
              <a:rPr b="0">
                <a:solidFill>
                  <a:srgbClr val="1E293B"/>
                </a:solidFill>
              </a:rPr>
              <a:t>Equipos pequeños y clústeres de tamaño modesto (1-15 nodos).</a:t>
            </a:r>
          </a:p>
        </p:txBody>
      </p:sp>
      <p:sp>
        <p:nvSpPr>
          <p:cNvPr id="5" name="Rounded Rectangle 4"/>
          <p:cNvSpPr/>
          <p:nvPr/>
        </p:nvSpPr>
        <p:spPr>
          <a:xfrm>
            <a:off x="4389120" y="1645920"/>
            <a:ext cx="33832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Kubernetes (K8s)</a:t>
            </a:r>
          </a:p>
          <a:p>
            <a:pPr>
              <a:spcAft>
                <a:spcPts val="800"/>
              </a:spcAft>
              <a:defRPr sz="1300">
                <a:latin typeface="Calibri"/>
              </a:defRPr>
            </a:pPr>
            <a:r>
              <a:rPr b="1">
                <a:solidFill>
                  <a:srgbClr val="1E293B"/>
                </a:solidFill>
              </a:rPr>
              <a:t>• Filosofía: </a:t>
            </a:r>
            <a:r>
              <a:rPr b="0">
                <a:solidFill>
                  <a:srgbClr val="1E293B"/>
                </a:solidFill>
              </a:rPr>
              <a:t>Estándar industrial absoluto de la CNCF.</a:t>
            </a:r>
          </a:p>
          <a:p>
            <a:pPr>
              <a:spcAft>
                <a:spcPts val="800"/>
              </a:spcAft>
              <a:defRPr sz="1300">
                <a:latin typeface="Calibri"/>
              </a:defRPr>
            </a:pPr>
            <a:r>
              <a:rPr b="1">
                <a:solidFill>
                  <a:srgbClr val="1E293B"/>
                </a:solidFill>
              </a:rPr>
              <a:t>• Curva de Aprendizaje: </a:t>
            </a:r>
            <a:r>
              <a:rPr b="0">
                <a:solidFill>
                  <a:srgbClr val="1E293B"/>
                </a:solidFill>
              </a:rPr>
              <a:t>Alta / Compleja (gran variedad de conceptos y APIs).</a:t>
            </a:r>
          </a:p>
          <a:p>
            <a:pPr>
              <a:spcAft>
                <a:spcPts val="800"/>
              </a:spcAft>
              <a:defRPr sz="1300">
                <a:latin typeface="Calibri"/>
              </a:defRPr>
            </a:pPr>
            <a:r>
              <a:rPr b="1">
                <a:solidFill>
                  <a:srgbClr val="1E293B"/>
                </a:solidFill>
              </a:rPr>
              <a:t>• Configuración: </a:t>
            </a:r>
            <a:r>
              <a:rPr b="0">
                <a:solidFill>
                  <a:srgbClr val="1E293B"/>
                </a:solidFill>
              </a:rPr>
              <a:t>Complejo on-premise; simple en Cloud gestionado (EKS, AKS, GKE).</a:t>
            </a:r>
          </a:p>
          <a:p>
            <a:pPr>
              <a:spcAft>
                <a:spcPts val="800"/>
              </a:spcAft>
              <a:defRPr sz="1300">
                <a:latin typeface="Calibri"/>
              </a:defRPr>
            </a:pPr>
            <a:r>
              <a:rPr b="1">
                <a:solidFill>
                  <a:srgbClr val="1E293B"/>
                </a:solidFill>
              </a:rPr>
              <a:t>• Ecosistema: </a:t>
            </a:r>
            <a:r>
              <a:rPr b="0">
                <a:solidFill>
                  <a:srgbClr val="1E293B"/>
                </a:solidFill>
              </a:rPr>
              <a:t>El mayor del mundo del software (Helm, ArgoCD, Istio, Prometheus).</a:t>
            </a:r>
          </a:p>
          <a:p>
            <a:pPr>
              <a:spcAft>
                <a:spcPts val="800"/>
              </a:spcAft>
              <a:defRPr sz="1300">
                <a:latin typeface="Calibri"/>
              </a:defRPr>
            </a:pPr>
            <a:r>
              <a:rPr b="1">
                <a:solidFill>
                  <a:srgbClr val="1E293B"/>
                </a:solidFill>
              </a:rPr>
              <a:t>• Ideal para: </a:t>
            </a:r>
            <a:r>
              <a:rPr b="0">
                <a:solidFill>
                  <a:srgbClr val="1E293B"/>
                </a:solidFill>
              </a:rPr>
              <a:t>Cualquier empresa con arquitecturas de microservicios a escala.</a:t>
            </a:r>
          </a:p>
        </p:txBody>
      </p:sp>
      <p:sp>
        <p:nvSpPr>
          <p:cNvPr id="6" name="Rounded Rectangle 5"/>
          <p:cNvSpPr/>
          <p:nvPr/>
        </p:nvSpPr>
        <p:spPr>
          <a:xfrm>
            <a:off x="8046720" y="1645920"/>
            <a:ext cx="33832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HashiCorp Nomad</a:t>
            </a:r>
          </a:p>
          <a:p>
            <a:pPr>
              <a:spcAft>
                <a:spcPts val="800"/>
              </a:spcAft>
              <a:defRPr sz="1300">
                <a:latin typeface="Calibri"/>
              </a:defRPr>
            </a:pPr>
            <a:r>
              <a:rPr b="1">
                <a:solidFill>
                  <a:srgbClr val="1E293B"/>
                </a:solidFill>
              </a:rPr>
              <a:t>• Filosofía: </a:t>
            </a:r>
            <a:r>
              <a:rPr b="0">
                <a:solidFill>
                  <a:srgbClr val="1E293B"/>
                </a:solidFill>
              </a:rPr>
              <a:t>Orquestador flexible, ligero y declarativo.</a:t>
            </a:r>
          </a:p>
          <a:p>
            <a:pPr>
              <a:spcAft>
                <a:spcPts val="800"/>
              </a:spcAft>
              <a:defRPr sz="1300">
                <a:latin typeface="Calibri"/>
              </a:defRPr>
            </a:pPr>
            <a:r>
              <a:rPr b="1">
                <a:solidFill>
                  <a:srgbClr val="1E293B"/>
                </a:solidFill>
              </a:rPr>
              <a:t>• Flexibilidad de Cargas: </a:t>
            </a:r>
            <a:r>
              <a:rPr b="0">
                <a:solidFill>
                  <a:srgbClr val="1E293B"/>
                </a:solidFill>
              </a:rPr>
              <a:t>No solo corre contenedores; corre binarios Java, ejecutables y VMs.</a:t>
            </a:r>
          </a:p>
          <a:p>
            <a:pPr>
              <a:spcAft>
                <a:spcPts val="800"/>
              </a:spcAft>
              <a:defRPr sz="1300">
                <a:latin typeface="Calibri"/>
              </a:defRPr>
            </a:pPr>
            <a:r>
              <a:rPr b="1">
                <a:solidFill>
                  <a:srgbClr val="1E293B"/>
                </a:solidFill>
              </a:rPr>
              <a:t>• Simplicidad Operativa: </a:t>
            </a:r>
            <a:r>
              <a:rPr b="0">
                <a:solidFill>
                  <a:srgbClr val="1E293B"/>
                </a:solidFill>
              </a:rPr>
              <a:t>Un solo binario Go tanto para servidor como para cliente.</a:t>
            </a:r>
          </a:p>
          <a:p>
            <a:pPr>
              <a:spcAft>
                <a:spcPts val="800"/>
              </a:spcAft>
              <a:defRPr sz="1300">
                <a:latin typeface="Calibri"/>
              </a:defRPr>
            </a:pPr>
            <a:r>
              <a:rPr b="1">
                <a:solidFill>
                  <a:srgbClr val="1E293B"/>
                </a:solidFill>
              </a:rPr>
              <a:t>• Integración HashiCorp: </a:t>
            </a:r>
            <a:r>
              <a:rPr b="0">
                <a:solidFill>
                  <a:srgbClr val="1E293B"/>
                </a:solidFill>
              </a:rPr>
              <a:t>Nativo con Consul (red/DNS) y Vault (secretos).</a:t>
            </a:r>
          </a:p>
          <a:p>
            <a:pPr>
              <a:spcAft>
                <a:spcPts val="800"/>
              </a:spcAft>
              <a:defRPr sz="1300">
                <a:latin typeface="Calibri"/>
              </a:defRPr>
            </a:pPr>
            <a:r>
              <a:rPr b="1">
                <a:solidFill>
                  <a:srgbClr val="1E293B"/>
                </a:solidFill>
              </a:rPr>
              <a:t>• Ideal para: </a:t>
            </a:r>
            <a:r>
              <a:rPr b="0">
                <a:solidFill>
                  <a:srgbClr val="1E293B"/>
                </a:solidFill>
              </a:rPr>
              <a:t>Entornos híbridos que mezclan contenedores y aplicaciones legacy.</a:t>
            </a:r>
          </a:p>
        </p:txBody>
      </p:sp>
      <p:sp>
        <p:nvSpPr>
          <p:cNvPr id="7" name="TextBox 6"/>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67 / 81</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5 • SWARM</a:t>
            </a:r>
          </a:p>
          <a:p>
            <a:pPr>
              <a:defRPr sz="2800" b="1">
                <a:solidFill>
                  <a:srgbClr val="1E293B"/>
                </a:solidFill>
                <a:latin typeface="Calibri"/>
              </a:defRPr>
            </a:pPr>
            <a:r>
              <a:t>Docker Swarm: El Orquestador Integrado</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Arquitectura de Docker Swarm</a:t>
            </a:r>
          </a:p>
          <a:p>
            <a:pPr>
              <a:spcAft>
                <a:spcPts val="800"/>
              </a:spcAft>
              <a:defRPr sz="1400">
                <a:latin typeface="Calibri"/>
              </a:defRPr>
            </a:pPr>
            <a:r>
              <a:rPr b="1">
                <a:solidFill>
                  <a:srgbClr val="1E293B"/>
                </a:solidFill>
              </a:rPr>
              <a:t>• Nativo en Docker Engine: </a:t>
            </a:r>
            <a:r>
              <a:rPr b="0">
                <a:solidFill>
                  <a:srgbClr val="1E293B"/>
                </a:solidFill>
              </a:rPr>
              <a:t>No requiere instalar nada adicional; viene apagado por defecto dentro del daemon `dockerd`.</a:t>
            </a:r>
          </a:p>
          <a:p>
            <a:pPr>
              <a:spcAft>
                <a:spcPts val="800"/>
              </a:spcAft>
              <a:defRPr sz="1400">
                <a:latin typeface="Calibri"/>
              </a:defRPr>
            </a:pPr>
            <a:r>
              <a:rPr b="1">
                <a:solidFill>
                  <a:srgbClr val="1E293B"/>
                </a:solidFill>
              </a:rPr>
              <a:t>• Nodos Manager y Worker: </a:t>
            </a:r>
            <a:r>
              <a:rPr b="0">
                <a:solidFill>
                  <a:srgbClr val="1E293B"/>
                </a:solidFill>
              </a:rPr>
              <a:t>Los Managers coordinan el clúster usando el algoritmo de consenso Raft (mínimo 3 o 5 para quórum); los Workers ejecutan tareas.</a:t>
            </a:r>
          </a:p>
          <a:p>
            <a:pPr>
              <a:spcAft>
                <a:spcPts val="800"/>
              </a:spcAft>
              <a:defRPr sz="1400">
                <a:latin typeface="Calibri"/>
              </a:defRPr>
            </a:pPr>
            <a:r>
              <a:rPr b="1">
                <a:solidFill>
                  <a:srgbClr val="1E293B"/>
                </a:solidFill>
              </a:rPr>
              <a:t>• Servicios (`docker service`): </a:t>
            </a:r>
            <a:r>
              <a:rPr b="0">
                <a:solidFill>
                  <a:srgbClr val="1E293B"/>
                </a:solidFill>
              </a:rPr>
              <a:t>Reemplaza a `docker run` para definir réplicas deseadas (ej. `--replicas 5`).</a:t>
            </a:r>
          </a:p>
          <a:p>
            <a:pPr>
              <a:spcAft>
                <a:spcPts val="800"/>
              </a:spcAft>
              <a:defRPr sz="1400">
                <a:latin typeface="Calibri"/>
              </a:defRPr>
            </a:pPr>
            <a:r>
              <a:rPr b="1">
                <a:solidFill>
                  <a:srgbClr val="1E293B"/>
                </a:solidFill>
              </a:rPr>
              <a:t>• Ingress Routing Mesh: </a:t>
            </a:r>
            <a:r>
              <a:rPr b="0">
                <a:solidFill>
                  <a:srgbClr val="1E293B"/>
                </a:solidFill>
              </a:rPr>
              <a:t>Los puertos publicados se exponen en TODOS los nodos del clúster; cualquier nodo redirige la conexión al contenedor adecuado.</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Comandos Básicos de Docker Swarm</a:t>
            </a:r>
          </a:p>
          <a:p>
            <a:pPr>
              <a:spcAft>
                <a:spcPts val="200"/>
              </a:spcAft>
              <a:defRPr sz="1100">
                <a:solidFill>
                  <a:srgbClr val="94A3B8"/>
                </a:solidFill>
                <a:latin typeface="Consolas"/>
              </a:defRPr>
            </a:pPr>
            <a:r>
              <a:t># 1. Inicializar el nodo actual como Manager</a:t>
            </a:r>
          </a:p>
          <a:p>
            <a:pPr>
              <a:spcAft>
                <a:spcPts val="200"/>
              </a:spcAft>
              <a:defRPr sz="1100" b="1">
                <a:solidFill>
                  <a:srgbClr val="38BDF8"/>
                </a:solidFill>
                <a:latin typeface="Consolas"/>
              </a:defRPr>
            </a:pPr>
            <a:r>
              <a:t>$ docker swarm init</a:t>
            </a:r>
          </a:p>
          <a:p>
            <a:pPr>
              <a:spcAft>
                <a:spcPts val="200"/>
              </a:spcAft>
              <a:defRPr sz="1100">
                <a:solidFill>
                  <a:srgbClr val="FFFFFF"/>
                </a:solidFill>
                <a:latin typeface="Consolas"/>
              </a:defRPr>
            </a:pPr>
            <a:r>
              <a:t>Swarm initialized: current node is now a manager.</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2. Crear un servicio replicado de Nginx con 3 réplicas</a:t>
            </a:r>
          </a:p>
          <a:p>
            <a:pPr>
              <a:spcAft>
                <a:spcPts val="200"/>
              </a:spcAft>
              <a:defRPr sz="1100" b="1">
                <a:solidFill>
                  <a:srgbClr val="38BDF8"/>
                </a:solidFill>
                <a:latin typeface="Consolas"/>
              </a:defRPr>
            </a:pPr>
            <a:r>
              <a:t>$ docker service create --name web-cluster \</a:t>
            </a:r>
          </a:p>
          <a:p>
            <a:pPr>
              <a:spcAft>
                <a:spcPts val="200"/>
              </a:spcAft>
              <a:defRPr sz="1100">
                <a:solidFill>
                  <a:srgbClr val="FFFFFF"/>
                </a:solidFill>
                <a:latin typeface="Consolas"/>
              </a:defRPr>
            </a:pPr>
            <a:r>
              <a:t>    --replicas 3 \</a:t>
            </a:r>
          </a:p>
          <a:p>
            <a:pPr>
              <a:spcAft>
                <a:spcPts val="200"/>
              </a:spcAft>
              <a:defRPr sz="1100">
                <a:solidFill>
                  <a:srgbClr val="FFFFFF"/>
                </a:solidFill>
                <a:latin typeface="Consolas"/>
              </a:defRPr>
            </a:pPr>
            <a:r>
              <a:t>    -p 80:80 \</a:t>
            </a:r>
          </a:p>
          <a:p>
            <a:pPr>
              <a:spcAft>
                <a:spcPts val="200"/>
              </a:spcAft>
              <a:defRPr sz="1100">
                <a:solidFill>
                  <a:srgbClr val="FFFFFF"/>
                </a:solidFill>
                <a:latin typeface="Consolas"/>
              </a:defRPr>
            </a:pPr>
            <a:r>
              <a:t>    nginx:alpine</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3. Escalar el servicio en caliente</a:t>
            </a:r>
          </a:p>
          <a:p>
            <a:pPr>
              <a:spcAft>
                <a:spcPts val="200"/>
              </a:spcAft>
              <a:defRPr sz="1100" b="1">
                <a:solidFill>
                  <a:srgbClr val="38BDF8"/>
                </a:solidFill>
                <a:latin typeface="Consolas"/>
              </a:defRPr>
            </a:pPr>
            <a:r>
              <a:t>$ docker service scale web-cluster=10</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4. Realizar actualización continua sin parada</a:t>
            </a:r>
          </a:p>
          <a:p>
            <a:pPr>
              <a:spcAft>
                <a:spcPts val="200"/>
              </a:spcAft>
              <a:defRPr sz="1100" b="1">
                <a:solidFill>
                  <a:srgbClr val="38BDF8"/>
                </a:solidFill>
                <a:latin typeface="Consolas"/>
              </a:defRPr>
            </a:pPr>
            <a:r>
              <a:t>$ docker service update --image nginx:1.25 web-cluster</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5. Salir del modo Swarm</a:t>
            </a:r>
          </a:p>
          <a:p>
            <a:pPr>
              <a:spcAft>
                <a:spcPts val="200"/>
              </a:spcAft>
              <a:defRPr sz="1100" b="1">
                <a:solidFill>
                  <a:srgbClr val="38BDF8"/>
                </a:solidFill>
                <a:latin typeface="Consolas"/>
              </a:defRPr>
            </a:pPr>
            <a:r>
              <a:t>$ docker swarm leave --force</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68 / 81</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5 • KUBERNETES</a:t>
            </a:r>
          </a:p>
          <a:p>
            <a:pPr>
              <a:defRPr sz="2800" b="1">
                <a:solidFill>
                  <a:srgbClr val="1E293B"/>
                </a:solidFill>
                <a:latin typeface="Calibri"/>
              </a:defRPr>
            </a:pPr>
            <a:r>
              <a:t>Introducción a Kubernetes: El Estándar de la Industria</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Historia y Misión de K8s</a:t>
            </a:r>
          </a:p>
          <a:p>
            <a:pPr>
              <a:spcAft>
                <a:spcPts val="800"/>
              </a:spcAft>
              <a:defRPr sz="1400">
                <a:latin typeface="Calibri"/>
              </a:defRPr>
            </a:pPr>
            <a:r>
              <a:rPr b="1">
                <a:solidFill>
                  <a:srgbClr val="1E293B"/>
                </a:solidFill>
              </a:rPr>
              <a:t>• Etimología: </a:t>
            </a:r>
            <a:r>
              <a:rPr b="0">
                <a:solidFill>
                  <a:srgbClr val="1E293B"/>
                </a:solidFill>
              </a:rPr>
              <a:t>Del griego κυβερνήτης (*kubernētēs*), que significa 'timonel' o 'capitán de barco' (de ahí el logo del timón de 7 radios).</a:t>
            </a:r>
          </a:p>
          <a:p>
            <a:pPr>
              <a:spcAft>
                <a:spcPts val="800"/>
              </a:spcAft>
              <a:defRPr sz="1400">
                <a:latin typeface="Calibri"/>
              </a:defRPr>
            </a:pPr>
            <a:r>
              <a:rPr b="1">
                <a:solidFill>
                  <a:srgbClr val="1E293B"/>
                </a:solidFill>
              </a:rPr>
              <a:t>• Abreviatura 'K8s': </a:t>
            </a:r>
            <a:r>
              <a:rPr b="0">
                <a:solidFill>
                  <a:srgbClr val="1E293B"/>
                </a:solidFill>
              </a:rPr>
              <a:t>Porque hay 8 letras entre la 'K' y la 's'.</a:t>
            </a:r>
          </a:p>
          <a:p>
            <a:pPr>
              <a:spcAft>
                <a:spcPts val="800"/>
              </a:spcAft>
              <a:defRPr sz="1400">
                <a:latin typeface="Calibri"/>
              </a:defRPr>
            </a:pPr>
            <a:r>
              <a:rPr b="1">
                <a:solidFill>
                  <a:srgbClr val="1E293B"/>
                </a:solidFill>
              </a:rPr>
              <a:t>• Herencia de Google Borg: </a:t>
            </a:r>
            <a:r>
              <a:rPr b="0">
                <a:solidFill>
                  <a:srgbClr val="1E293B"/>
                </a:solidFill>
              </a:rPr>
              <a:t>Creado por ingenieros de Google en 2014 basándose en una década de experiencia gestionando Borg y Omega.</a:t>
            </a:r>
          </a:p>
          <a:p>
            <a:pPr>
              <a:spcAft>
                <a:spcPts val="800"/>
              </a:spcAft>
              <a:defRPr sz="1400">
                <a:latin typeface="Calibri"/>
              </a:defRPr>
            </a:pPr>
            <a:r>
              <a:rPr b="1">
                <a:solidFill>
                  <a:srgbClr val="1E293B"/>
                </a:solidFill>
              </a:rPr>
              <a:t>• Donación a la CNCF: </a:t>
            </a:r>
            <a:r>
              <a:rPr b="0">
                <a:solidFill>
                  <a:srgbClr val="1E293B"/>
                </a:solidFill>
              </a:rPr>
              <a:t>Google donó el proyecto a la Cloud Native Computing Foundation (Linux Foundation) para garantizar gobernanza neutra.</a:t>
            </a:r>
          </a:p>
          <a:p>
            <a:pPr>
              <a:spcAft>
                <a:spcPts val="800"/>
              </a:spcAft>
              <a:defRPr sz="1400">
                <a:latin typeface="Calibri"/>
              </a:defRPr>
            </a:pPr>
            <a:r>
              <a:rPr b="1">
                <a:solidFill>
                  <a:srgbClr val="1E293B"/>
                </a:solidFill>
              </a:rPr>
              <a:t>• El Sistema Operativo de la Nube: </a:t>
            </a:r>
            <a:r>
              <a:rPr b="0">
                <a:solidFill>
                  <a:srgbClr val="1E293B"/>
                </a:solidFill>
              </a:rPr>
              <a:t>Hoy es el sustrato universal soportado por todos los grandes proveedores tecnológicos del planeta.</a:t>
            </a:r>
          </a:p>
        </p:txBody>
      </p:sp>
      <p:sp>
        <p:nvSpPr>
          <p:cNvPr id="5" name="Rounded Rectangle 4"/>
          <p:cNvSpPr/>
          <p:nvPr/>
        </p:nvSpPr>
        <p:spPr>
          <a:xfrm>
            <a:off x="6217920" y="1645920"/>
            <a:ext cx="52120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Los Principios de Diseño de K8s</a:t>
            </a:r>
          </a:p>
          <a:p>
            <a:pPr>
              <a:spcAft>
                <a:spcPts val="800"/>
              </a:spcAft>
              <a:defRPr sz="1400">
                <a:latin typeface="Calibri"/>
              </a:defRPr>
            </a:pPr>
            <a:r>
              <a:rPr b="1">
                <a:solidFill>
                  <a:srgbClr val="1E293B"/>
                </a:solidFill>
              </a:rPr>
              <a:t>• Enfoque Declarativo: </a:t>
            </a:r>
            <a:r>
              <a:rPr b="0">
                <a:solidFill>
                  <a:srgbClr val="1E293B"/>
                </a:solidFill>
              </a:rPr>
              <a:t>Tú describes el **QUÉ** quieres (en archivos YAML); Kubernetes averigua el **CÓMO** conseguirlo y mantenerlo.</a:t>
            </a:r>
          </a:p>
          <a:p>
            <a:pPr>
              <a:spcAft>
                <a:spcPts val="800"/>
              </a:spcAft>
              <a:defRPr sz="1400">
                <a:latin typeface="Calibri"/>
              </a:defRPr>
            </a:pPr>
            <a:r>
              <a:rPr b="1">
                <a:solidFill>
                  <a:srgbClr val="1E293B"/>
                </a:solidFill>
              </a:rPr>
              <a:t>• Inmutabilidad de la Infraestructura: </a:t>
            </a:r>
            <a:r>
              <a:rPr b="0">
                <a:solidFill>
                  <a:srgbClr val="1E293B"/>
                </a:solidFill>
              </a:rPr>
              <a:t>No se modifican contenedores en caliente; se reemplazan por nuevas instancias.</a:t>
            </a:r>
          </a:p>
          <a:p>
            <a:pPr>
              <a:spcAft>
                <a:spcPts val="800"/>
              </a:spcAft>
              <a:defRPr sz="1400">
                <a:latin typeface="Calibri"/>
              </a:defRPr>
            </a:pPr>
            <a:r>
              <a:rPr b="1">
                <a:solidFill>
                  <a:srgbClr val="1E293B"/>
                </a:solidFill>
              </a:rPr>
              <a:t>• Desacoplamiento Absoluto: </a:t>
            </a:r>
            <a:r>
              <a:rPr b="0">
                <a:solidFill>
                  <a:srgbClr val="1E293B"/>
                </a:solidFill>
              </a:rPr>
              <a:t>Los componentes se comunican exclusivamente a través de la API REST central (`kube-apiserver`).</a:t>
            </a:r>
          </a:p>
          <a:p>
            <a:pPr>
              <a:spcAft>
                <a:spcPts val="800"/>
              </a:spcAft>
              <a:defRPr sz="1400">
                <a:latin typeface="Calibri"/>
              </a:defRPr>
            </a:pPr>
            <a:r>
              <a:rPr b="1">
                <a:solidFill>
                  <a:srgbClr val="1E293B"/>
                </a:solidFill>
              </a:rPr>
              <a:t>• Extensibilidad Extrema: </a:t>
            </a:r>
            <a:r>
              <a:rPr b="0">
                <a:solidFill>
                  <a:srgbClr val="1E293B"/>
                </a:solidFill>
              </a:rPr>
              <a:t>Puedes ampliar Kubernetes con tus propios tipos de objetos mediante CRDs (Custom Resource Definitions) y Operadores.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69 / 81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5 • ARQUITECTURA K8S</a:t>
            </a:r>
          </a:p>
          <a:p>
            <a:pPr>
              <a:defRPr sz="2800" b="1">
                <a:solidFill>
                  <a:srgbClr val="1E293B"/>
                </a:solidFill>
                <a:latin typeface="Calibri"/>
              </a:defRPr>
            </a:pPr>
            <a:r>
              <a:t>Arquitectura de Kubernetes: Control Plane y Workers</a:t>
            </a:r>
          </a:p>
        </p:txBody>
      </p:sp>
      <p:sp>
        <p:nvSpPr>
          <p:cNvPr id="4" name="Rounded Rectangle 3"/>
          <p:cNvSpPr/>
          <p:nvPr/>
        </p:nvSpPr>
        <p:spPr>
          <a:xfrm>
            <a:off x="731520" y="1645920"/>
            <a:ext cx="5166360" cy="4572000"/>
          </a:xfrm>
          <a:prstGeom prst="roundRect">
            <a:avLst/>
          </a:prstGeom>
          <a:solidFill>
            <a:srgbClr val="0B1D3A"/>
          </a:solidFill>
          <a:ln>
            <a:solidFill>
              <a:srgbClr val="0DB7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DB7ED"/>
                </a:solidFill>
                <a:latin typeface="Calibri"/>
              </a:defRPr>
            </a:pPr>
            <a:r>
              <a:t>CONTROL PLANE (Cerebro del Clúster)</a:t>
            </a:r>
          </a:p>
          <a:p>
            <a:pPr>
              <a:defRPr sz="1050">
                <a:solidFill>
                  <a:srgbClr val="FFFFFF"/>
                </a:solidFill>
                <a:latin typeface="Calibri"/>
              </a:defRPr>
            </a:pPr>
            <a:r>
              <a:t>• kube-apiserver: Puerta de entrada REST API y validación</a:t>
            </a:r>
          </a:p>
          <a:p>
            <a:pPr>
              <a:defRPr sz="1050">
                <a:solidFill>
                  <a:srgbClr val="FFFFFF"/>
                </a:solidFill>
                <a:latin typeface="Calibri"/>
              </a:defRPr>
            </a:pPr>
            <a:r>
              <a:t>• etcd: Almacén clave-valor distribuido del estado</a:t>
            </a:r>
          </a:p>
          <a:p>
            <a:pPr>
              <a:defRPr sz="1050">
                <a:solidFill>
                  <a:srgbClr val="FFFFFF"/>
                </a:solidFill>
                <a:latin typeface="Calibri"/>
              </a:defRPr>
            </a:pPr>
            <a:r>
              <a:t>• kube-scheduler: Asigna Pods a Nodos según recursos</a:t>
            </a:r>
          </a:p>
          <a:p>
            <a:pPr>
              <a:defRPr sz="1050">
                <a:solidFill>
                  <a:srgbClr val="FFFFFF"/>
                </a:solidFill>
                <a:latin typeface="Calibri"/>
              </a:defRPr>
            </a:pPr>
            <a:r>
              <a:t>• kube-controller-manager: Bucles de reconciliación</a:t>
            </a:r>
          </a:p>
        </p:txBody>
      </p:sp>
      <p:sp>
        <p:nvSpPr>
          <p:cNvPr id="5" name="Rounded Rectangle 4"/>
          <p:cNvSpPr/>
          <p:nvPr/>
        </p:nvSpPr>
        <p:spPr>
          <a:xfrm>
            <a:off x="6263640" y="1645920"/>
            <a:ext cx="5166360" cy="4572000"/>
          </a:xfrm>
          <a:prstGeom prst="roundRect">
            <a:avLst/>
          </a:prstGeom>
          <a:solidFill>
            <a:srgbClr val="FFFFFF"/>
          </a:solidFill>
          <a:ln w="19050">
            <a:solidFill>
              <a:srgbClr val="1D6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D63ED"/>
                </a:solidFill>
                <a:latin typeface="Calibri"/>
              </a:defRPr>
            </a:pPr>
            <a:r>
              <a:t>WORKER NODE (Ejecución de Cargas)</a:t>
            </a:r>
          </a:p>
          <a:p>
            <a:pPr>
              <a:defRPr sz="1050">
                <a:solidFill>
                  <a:srgbClr val="1E293B"/>
                </a:solidFill>
                <a:latin typeface="Calibri"/>
              </a:defRPr>
            </a:pPr>
            <a:r>
              <a:t>• kubelet: Agente de nodo que reporta al API Server</a:t>
            </a:r>
          </a:p>
          <a:p>
            <a:pPr>
              <a:defRPr sz="1050">
                <a:solidFill>
                  <a:srgbClr val="1E293B"/>
                </a:solidFill>
                <a:latin typeface="Calibri"/>
              </a:defRPr>
            </a:pPr>
            <a:r>
              <a:t>• kube-proxy: Gestión de reglas de red y Service IPs</a:t>
            </a:r>
          </a:p>
          <a:p>
            <a:pPr>
              <a:defRPr sz="1050">
                <a:solidFill>
                  <a:srgbClr val="1E293B"/>
                </a:solidFill>
                <a:latin typeface="Calibri"/>
              </a:defRPr>
            </a:pPr>
            <a:r>
              <a:t>• Container Runtime: containerd / CRI-O</a:t>
            </a:r>
          </a:p>
          <a:p>
            <a:pPr>
              <a:defRPr sz="1050">
                <a:solidFill>
                  <a:srgbClr val="1E293B"/>
                </a:solidFill>
                <a:latin typeface="Calibri"/>
              </a:defRPr>
            </a:pPr>
            <a:r>
              <a:t>• Pods: Contenedores de la aplicación (Carga real)</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70 / 81</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5 • ARQUITECTURA K8S</a:t>
            </a:r>
          </a:p>
          <a:p>
            <a:pPr>
              <a:defRPr sz="2800" b="1">
                <a:solidFill>
                  <a:srgbClr val="1E293B"/>
                </a:solidFill>
                <a:latin typeface="Calibri"/>
              </a:defRPr>
            </a:pPr>
            <a:r>
              <a:t>El Plano de Control (Control Plane) al Detalle</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Componentes del Master</a:t>
            </a:r>
          </a:p>
          <a:p>
            <a:pPr>
              <a:spcAft>
                <a:spcPts val="800"/>
              </a:spcAft>
              <a:defRPr sz="1400">
                <a:latin typeface="Calibri"/>
              </a:defRPr>
            </a:pPr>
            <a:r>
              <a:rPr b="1">
                <a:solidFill>
                  <a:srgbClr val="1E293B"/>
                </a:solidFill>
              </a:rPr>
              <a:t>• `kube-apiserver`: </a:t>
            </a:r>
            <a:r>
              <a:rPr b="0">
                <a:solidFill>
                  <a:srgbClr val="1E293B"/>
                </a:solidFill>
              </a:rPr>
              <a:t>El único punto de entrada de todo el clúster. Expone la API REST, autentica a los usuarios y valida los esquemas JSON/YAML.</a:t>
            </a:r>
          </a:p>
          <a:p>
            <a:pPr>
              <a:spcAft>
                <a:spcPts val="800"/>
              </a:spcAft>
              <a:defRPr sz="1400">
                <a:latin typeface="Calibri"/>
              </a:defRPr>
            </a:pPr>
            <a:r>
              <a:rPr b="1">
                <a:solidFill>
                  <a:srgbClr val="1E293B"/>
                </a:solidFill>
              </a:rPr>
              <a:t>• `etcd`: </a:t>
            </a:r>
            <a:r>
              <a:rPr b="0">
                <a:solidFill>
                  <a:srgbClr val="1E293B"/>
                </a:solidFill>
              </a:rPr>
              <a:t>Base de datos distribuida clave-valor altamente consistente (protocolo Raft). Es la ÚNICA fuente de la verdad donde se almacena todo el estado del clúster.</a:t>
            </a:r>
          </a:p>
          <a:p>
            <a:pPr>
              <a:spcAft>
                <a:spcPts val="800"/>
              </a:spcAft>
              <a:defRPr sz="1400">
                <a:latin typeface="Calibri"/>
              </a:defRPr>
            </a:pPr>
            <a:r>
              <a:rPr b="1">
                <a:solidFill>
                  <a:srgbClr val="1E293B"/>
                </a:solidFill>
              </a:rPr>
              <a:t>• `kube-scheduler`: </a:t>
            </a:r>
            <a:r>
              <a:rPr b="0">
                <a:solidFill>
                  <a:srgbClr val="1E293B"/>
                </a:solidFill>
              </a:rPr>
              <a:t>Observa los Pods recién creados que no tienen nodo asignado y elige el mejor nodo según recursos libres, afinidad y restricciones.</a:t>
            </a:r>
          </a:p>
          <a:p>
            <a:pPr>
              <a:spcAft>
                <a:spcPts val="800"/>
              </a:spcAft>
              <a:defRPr sz="1400">
                <a:latin typeface="Calibri"/>
              </a:defRPr>
            </a:pPr>
            <a:r>
              <a:rPr b="1">
                <a:solidFill>
                  <a:srgbClr val="1E293B"/>
                </a:solidFill>
              </a:rPr>
              <a:t>• `kube-controller-manager`: </a:t>
            </a:r>
            <a:r>
              <a:rPr b="0">
                <a:solidFill>
                  <a:srgbClr val="1E293B"/>
                </a:solidFill>
              </a:rPr>
              <a:t>Ejecuta los bucles de control (Node Controller, Deployment Controller, Endpoint Controller) que fuerzan al clúster a alcanzar el estado deseado.</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Interacción con el API Server</a:t>
            </a:r>
          </a:p>
          <a:p>
            <a:pPr>
              <a:spcAft>
                <a:spcPts val="200"/>
              </a:spcAft>
              <a:defRPr sz="1100">
                <a:solidFill>
                  <a:srgbClr val="94A3B8"/>
                </a:solidFill>
                <a:latin typeface="Consolas"/>
              </a:defRPr>
            </a:pPr>
            <a:r>
              <a:t># ¿Cómo interactúa el administrador con el API Server?</a:t>
            </a:r>
          </a:p>
          <a:p>
            <a:pPr>
              <a:spcAft>
                <a:spcPts val="200"/>
              </a:spcAft>
              <a:defRPr sz="1100">
                <a:solidFill>
                  <a:srgbClr val="94A3B8"/>
                </a:solidFill>
                <a:latin typeface="Consolas"/>
              </a:defRPr>
            </a:pPr>
            <a:r>
              <a:t># Utiliza la herramienta oficial de línea de comandos: kubectl</a:t>
            </a:r>
          </a:p>
          <a:p>
            <a:pPr>
              <a:spcAft>
                <a:spcPts val="200"/>
              </a:spcAft>
              <a:defRPr sz="1100">
                <a:solidFill>
                  <a:srgbClr val="FFFFFF"/>
                </a:solidFill>
                <a:latin typeface="Consolas"/>
              </a:defRPr>
            </a:pPr>
          </a:p>
          <a:p>
            <a:pPr>
              <a:spcAft>
                <a:spcPts val="200"/>
              </a:spcAft>
              <a:defRPr sz="1100" b="1">
                <a:solidFill>
                  <a:srgbClr val="38BDF8"/>
                </a:solidFill>
                <a:latin typeface="Consolas"/>
              </a:defRPr>
            </a:pPr>
            <a:r>
              <a:t>$ kubectl get nodes</a:t>
            </a:r>
          </a:p>
          <a:p>
            <a:pPr>
              <a:spcAft>
                <a:spcPts val="200"/>
              </a:spcAft>
              <a:defRPr sz="1100">
                <a:solidFill>
                  <a:srgbClr val="FFFFFF"/>
                </a:solidFill>
                <a:latin typeface="Consolas"/>
              </a:defRPr>
            </a:pPr>
            <a:r>
              <a:t>NAME             STATUS   ROLES           AGE   VERSION</a:t>
            </a:r>
          </a:p>
          <a:p>
            <a:pPr>
              <a:spcAft>
                <a:spcPts val="200"/>
              </a:spcAft>
              <a:defRPr sz="1100">
                <a:solidFill>
                  <a:srgbClr val="FFFFFF"/>
                </a:solidFill>
                <a:latin typeface="Consolas"/>
              </a:defRPr>
            </a:pPr>
            <a:r>
              <a:t>k8s-control-01   Ready    control-plane   30d   v1.29.2</a:t>
            </a:r>
          </a:p>
          <a:p>
            <a:pPr>
              <a:spcAft>
                <a:spcPts val="200"/>
              </a:spcAft>
              <a:defRPr sz="1100">
                <a:solidFill>
                  <a:srgbClr val="FFFFFF"/>
                </a:solidFill>
                <a:latin typeface="Consolas"/>
              </a:defRPr>
            </a:pPr>
            <a:r>
              <a:t>k8s-worker-01    Ready    &lt;none&gt;          30d   v1.29.2</a:t>
            </a:r>
          </a:p>
          <a:p>
            <a:pPr>
              <a:spcAft>
                <a:spcPts val="200"/>
              </a:spcAft>
              <a:defRPr sz="1100">
                <a:solidFill>
                  <a:srgbClr val="FFFFFF"/>
                </a:solidFill>
                <a:latin typeface="Consolas"/>
              </a:defRPr>
            </a:pPr>
            <a:r>
              <a:t>k8s-worker-02    Ready    &lt;none&gt;          30d   v1.29.2</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Todo comando de kubectl es traducido a llamadas</a:t>
            </a:r>
          </a:p>
          <a:p>
            <a:pPr>
              <a:spcAft>
                <a:spcPts val="200"/>
              </a:spcAft>
              <a:defRPr sz="1100">
                <a:solidFill>
                  <a:srgbClr val="94A3B8"/>
                </a:solidFill>
                <a:latin typeface="Consolas"/>
              </a:defRPr>
            </a:pPr>
            <a:r>
              <a:t># HTTP REST hacia el kube-apiserver (puerto 6443):</a:t>
            </a:r>
          </a:p>
          <a:p>
            <a:pPr>
              <a:spcAft>
                <a:spcPts val="200"/>
              </a:spcAft>
              <a:defRPr sz="1100">
                <a:solidFill>
                  <a:srgbClr val="94A3B8"/>
                </a:solidFill>
                <a:latin typeface="Consolas"/>
              </a:defRPr>
            </a:pPr>
            <a:r>
              <a:t># GET /api/v1/nodes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71 / 81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5 • ARQUITECTURA K8S</a:t>
            </a:r>
          </a:p>
          <a:p>
            <a:pPr>
              <a:defRPr sz="2800" b="1">
                <a:solidFill>
                  <a:srgbClr val="1E293B"/>
                </a:solidFill>
                <a:latin typeface="Calibri"/>
              </a:defRPr>
            </a:pPr>
            <a:r>
              <a:t>Los Nodos de Trabajo (Worker Nodes) al Detalle</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Componentes en cada Servidor Worker</a:t>
            </a:r>
          </a:p>
          <a:p>
            <a:pPr>
              <a:spcAft>
                <a:spcPts val="800"/>
              </a:spcAft>
              <a:defRPr sz="1400">
                <a:latin typeface="Calibri"/>
              </a:defRPr>
            </a:pPr>
            <a:r>
              <a:rPr b="1">
                <a:solidFill>
                  <a:srgbClr val="1E293B"/>
                </a:solidFill>
              </a:rPr>
              <a:t>• `kubelet`: </a:t>
            </a:r>
            <a:r>
              <a:rPr b="0">
                <a:solidFill>
                  <a:srgbClr val="1E293B"/>
                </a:solidFill>
              </a:rPr>
              <a:t>El agente principal del nodo. Se comunica con el API Server, recibe las especificaciones de los Pods (PodSpecs) y se asegura de que sus contenedores estén vivos y sanos.</a:t>
            </a:r>
          </a:p>
          <a:p>
            <a:pPr>
              <a:spcAft>
                <a:spcPts val="800"/>
              </a:spcAft>
              <a:defRPr sz="1400">
                <a:latin typeface="Calibri"/>
              </a:defRPr>
            </a:pPr>
            <a:r>
              <a:rPr b="1">
                <a:solidFill>
                  <a:srgbClr val="1E293B"/>
                </a:solidFill>
              </a:rPr>
              <a:t>• `kube-proxy`: </a:t>
            </a:r>
            <a:r>
              <a:rPr b="0">
                <a:solidFill>
                  <a:srgbClr val="1E293B"/>
                </a:solidFill>
              </a:rPr>
              <a:t>El gestor de red del nodo. Mantiene las reglas de red e iptables/IPVS en el host para permitir que los Services balanceen tráfico hacia los Pods correctos.</a:t>
            </a:r>
          </a:p>
          <a:p>
            <a:pPr>
              <a:spcAft>
                <a:spcPts val="800"/>
              </a:spcAft>
              <a:defRPr sz="1400">
                <a:latin typeface="Calibri"/>
              </a:defRPr>
            </a:pPr>
            <a:r>
              <a:rPr b="1">
                <a:solidFill>
                  <a:srgbClr val="1E293B"/>
                </a:solidFill>
              </a:rPr>
              <a:t>• Container Runtime (CRI): </a:t>
            </a:r>
            <a:r>
              <a:rPr b="0">
                <a:solidFill>
                  <a:srgbClr val="1E293B"/>
                </a:solidFill>
              </a:rPr>
              <a:t>El motor de bajo nivel responsable de descargar imágenes y ejecutar los contenedores reales (ej. `containerd` o `CRI-O`).</a:t>
            </a:r>
          </a:p>
          <a:p>
            <a:pPr>
              <a:spcAft>
                <a:spcPts val="800"/>
              </a:spcAft>
              <a:defRPr sz="1400">
                <a:latin typeface="Calibri"/>
              </a:defRPr>
            </a:pPr>
            <a:r>
              <a:rPr b="1">
                <a:solidFill>
                  <a:srgbClr val="1E293B"/>
                </a:solidFill>
              </a:rPr>
              <a:t>• Pods: </a:t>
            </a:r>
            <a:r>
              <a:rPr b="0">
                <a:solidFill>
                  <a:srgbClr val="1E293B"/>
                </a:solidFill>
              </a:rPr>
              <a:t>La carga de trabajo real (tu aplicación Node.js, Python, PostgreSQL, etc.) ejecutándose dentro de contenedores.</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Flujo Interno del Worker</a:t>
            </a:r>
          </a:p>
          <a:p>
            <a:pPr>
              <a:spcAft>
                <a:spcPts val="200"/>
              </a:spcAft>
              <a:defRPr sz="1100">
                <a:solidFill>
                  <a:srgbClr val="94A3B8"/>
                </a:solidFill>
                <a:latin typeface="Consolas"/>
              </a:defRPr>
            </a:pPr>
            <a:r>
              <a:t># El flujo de ejecución en el Worker:</a:t>
            </a:r>
          </a:p>
          <a:p>
            <a:pPr>
              <a:spcAft>
                <a:spcPts val="200"/>
              </a:spcAft>
              <a:defRPr sz="1100">
                <a:solidFill>
                  <a:srgbClr val="94A3B8"/>
                </a:solidFill>
                <a:latin typeface="Consolas"/>
              </a:defRPr>
            </a:pPr>
            <a:r>
              <a:t># 1. kube-scheduler asigna Pod al nodo 'k8s-worker-01'</a:t>
            </a:r>
          </a:p>
          <a:p>
            <a:pPr>
              <a:spcAft>
                <a:spcPts val="200"/>
              </a:spcAft>
              <a:defRPr sz="1100">
                <a:solidFill>
                  <a:srgbClr val="94A3B8"/>
                </a:solidFill>
                <a:latin typeface="Consolas"/>
              </a:defRPr>
            </a:pPr>
            <a:r>
              <a:t># 2. kubelet en k8s-worker-01 detecta la asignación</a:t>
            </a:r>
          </a:p>
          <a:p>
            <a:pPr>
              <a:spcAft>
                <a:spcPts val="200"/>
              </a:spcAft>
              <a:defRPr sz="1100">
                <a:solidFill>
                  <a:srgbClr val="94A3B8"/>
                </a:solidFill>
                <a:latin typeface="Consolas"/>
              </a:defRPr>
            </a:pPr>
            <a:r>
              <a:t># 3. kubelet habla con containerd vía CRI (gRPC):</a:t>
            </a:r>
          </a:p>
          <a:p>
            <a:pPr>
              <a:spcAft>
                <a:spcPts val="200"/>
              </a:spcAft>
              <a:defRPr sz="1100">
                <a:solidFill>
                  <a:srgbClr val="94A3B8"/>
                </a:solidFill>
                <a:latin typeface="Consolas"/>
              </a:defRPr>
            </a:pPr>
            <a:r>
              <a:t>#    - PullImage(mi-app:1.0)</a:t>
            </a:r>
          </a:p>
          <a:p>
            <a:pPr>
              <a:spcAft>
                <a:spcPts val="200"/>
              </a:spcAft>
              <a:defRPr sz="1100">
                <a:solidFill>
                  <a:srgbClr val="94A3B8"/>
                </a:solidFill>
                <a:latin typeface="Consolas"/>
              </a:defRPr>
            </a:pPr>
            <a:r>
              <a:t>#    - CreateContainer()</a:t>
            </a:r>
          </a:p>
          <a:p>
            <a:pPr>
              <a:spcAft>
                <a:spcPts val="200"/>
              </a:spcAft>
              <a:defRPr sz="1100">
                <a:solidFill>
                  <a:srgbClr val="94A3B8"/>
                </a:solidFill>
                <a:latin typeface="Consolas"/>
              </a:defRPr>
            </a:pPr>
            <a:r>
              <a:t>#    - StartContainer()</a:t>
            </a:r>
          </a:p>
          <a:p>
            <a:pPr>
              <a:spcAft>
                <a:spcPts val="200"/>
              </a:spcAft>
              <a:defRPr sz="1100">
                <a:solidFill>
                  <a:srgbClr val="94A3B8"/>
                </a:solidFill>
                <a:latin typeface="Consolas"/>
              </a:defRPr>
            </a:pPr>
            <a:r>
              <a:t># 4. kube-proxy actualiza reglas iptables en el nodo</a:t>
            </a:r>
          </a:p>
          <a:p>
            <a:pPr>
              <a:spcAft>
                <a:spcPts val="200"/>
              </a:spcAft>
              <a:defRPr sz="1100">
                <a:solidFill>
                  <a:srgbClr val="94A3B8"/>
                </a:solidFill>
                <a:latin typeface="Consolas"/>
              </a:defRPr>
            </a:pPr>
            <a:r>
              <a:t># 5. kubelet monitoriza periódicamente con liveness probes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72 / 81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5 • CONCEPTOS K8S</a:t>
            </a:r>
          </a:p>
          <a:p>
            <a:pPr>
              <a:defRPr sz="2800" b="1">
                <a:solidFill>
                  <a:srgbClr val="1E293B"/>
                </a:solidFill>
                <a:latin typeface="Calibri"/>
              </a:defRPr>
            </a:pPr>
            <a:r>
              <a:t>El Bucle de Reconciliación: Magia Declarativa</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La Filosofía del Bucle Infinito</a:t>
            </a:r>
          </a:p>
          <a:p>
            <a:pPr>
              <a:spcAft>
                <a:spcPts val="800"/>
              </a:spcAft>
              <a:defRPr sz="1400">
                <a:latin typeface="Calibri"/>
              </a:defRPr>
            </a:pPr>
            <a:r>
              <a:rPr b="1">
                <a:solidFill>
                  <a:srgbClr val="1E293B"/>
                </a:solidFill>
              </a:rPr>
              <a:t>• Estado Deseado (Desired State): </a:t>
            </a:r>
            <a:r>
              <a:rPr b="0">
                <a:solidFill>
                  <a:srgbClr val="1E293B"/>
                </a:solidFill>
              </a:rPr>
              <a:t>Lo que tú defines en los archivos `.yaml` (ej. 'Quiero 3 réplicas de la API').</a:t>
            </a:r>
          </a:p>
          <a:p>
            <a:pPr>
              <a:spcAft>
                <a:spcPts val="800"/>
              </a:spcAft>
              <a:defRPr sz="1400">
                <a:latin typeface="Calibri"/>
              </a:defRPr>
            </a:pPr>
            <a:r>
              <a:rPr b="1">
                <a:solidFill>
                  <a:srgbClr val="1E293B"/>
                </a:solidFill>
              </a:rPr>
              <a:t>• Estado Actual (Current State): </a:t>
            </a:r>
            <a:r>
              <a:rPr b="0">
                <a:solidFill>
                  <a:srgbClr val="1E293B"/>
                </a:solidFill>
              </a:rPr>
              <a:t>Lo que realmente está corriendo en los servidores en este milisegundo.</a:t>
            </a:r>
          </a:p>
          <a:p>
            <a:pPr>
              <a:spcAft>
                <a:spcPts val="800"/>
              </a:spcAft>
              <a:defRPr sz="1400">
                <a:latin typeface="Calibri"/>
              </a:defRPr>
            </a:pPr>
            <a:r>
              <a:rPr b="1">
                <a:solidFill>
                  <a:srgbClr val="1E293B"/>
                </a:solidFill>
              </a:rPr>
              <a:t>• El Ciclo de Reconciliación: </a:t>
            </a:r>
            <a:r>
              <a:rPr b="0">
                <a:solidFill>
                  <a:srgbClr val="1E293B"/>
                </a:solidFill>
              </a:rPr>
              <a:t>Los controladores de K8s ejecutan continuamente un bucle infinito: `OBSERVAR -&gt; COMPARAR -&gt; ACTUAR`.</a:t>
            </a:r>
          </a:p>
          <a:p>
            <a:pPr>
              <a:spcAft>
                <a:spcPts val="800"/>
              </a:spcAft>
              <a:defRPr sz="1400">
                <a:latin typeface="Calibri"/>
              </a:defRPr>
            </a:pPr>
            <a:r>
              <a:rPr b="1">
                <a:solidFill>
                  <a:srgbClr val="1E293B"/>
                </a:solidFill>
              </a:rPr>
              <a:t>• Resiliencia Continua: </a:t>
            </a:r>
            <a:r>
              <a:rPr b="0">
                <a:solidFill>
                  <a:srgbClr val="1E293B"/>
                </a:solidFill>
              </a:rPr>
              <a:t>Si un contenedor muere por OOM o un kernel panic, el estado actual pasa a ser 2; el controlador detecta que 2 != 3 y arranca uno nuevo inmediatamente.</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Lógica de Reconciliación</a:t>
            </a:r>
          </a:p>
          <a:p>
            <a:pPr>
              <a:spcAft>
                <a:spcPts val="200"/>
              </a:spcAft>
              <a:defRPr sz="1100">
                <a:solidFill>
                  <a:srgbClr val="94A3B8"/>
                </a:solidFill>
                <a:latin typeface="Consolas"/>
              </a:defRPr>
            </a:pPr>
            <a:r>
              <a:t># Pseudocódigo del bucle de reconciliación:</a:t>
            </a:r>
          </a:p>
          <a:p>
            <a:pPr>
              <a:spcAft>
                <a:spcPts val="200"/>
              </a:spcAft>
              <a:defRPr sz="1100">
                <a:solidFill>
                  <a:srgbClr val="FFFFFF"/>
                </a:solidFill>
                <a:latin typeface="Consolas"/>
              </a:defRPr>
            </a:pPr>
            <a:r>
              <a:t>while True:</a:t>
            </a:r>
          </a:p>
          <a:p>
            <a:pPr>
              <a:spcAft>
                <a:spcPts val="200"/>
              </a:spcAft>
              <a:defRPr sz="1100">
                <a:solidFill>
                  <a:srgbClr val="FFFFFF"/>
                </a:solidFill>
                <a:latin typeface="Consolas"/>
              </a:defRPr>
            </a:pPr>
            <a:r>
              <a:t>    desired_state = read_from_etcd()</a:t>
            </a:r>
          </a:p>
          <a:p>
            <a:pPr>
              <a:spcAft>
                <a:spcPts val="200"/>
              </a:spcAft>
              <a:defRPr sz="1100">
                <a:solidFill>
                  <a:srgbClr val="FFFFFF"/>
                </a:solidFill>
                <a:latin typeface="Consolas"/>
              </a:defRPr>
            </a:pPr>
            <a:r>
              <a:t>    current_state = inspect_actual_cluster()</a:t>
            </a:r>
          </a:p>
          <a:p>
            <a:pPr>
              <a:spcAft>
                <a:spcPts val="200"/>
              </a:spcAft>
              <a:defRPr sz="1100">
                <a:solidFill>
                  <a:srgbClr val="FFFFFF"/>
                </a:solidFill>
                <a:latin typeface="Consolas"/>
              </a:defRPr>
            </a:pPr>
            <a:r>
              <a:t>    </a:t>
            </a:r>
          </a:p>
          <a:p>
            <a:pPr>
              <a:spcAft>
                <a:spcPts val="200"/>
              </a:spcAft>
              <a:defRPr sz="1100">
                <a:solidFill>
                  <a:srgbClr val="FFFFFF"/>
                </a:solidFill>
                <a:latin typeface="Consolas"/>
              </a:defRPr>
            </a:pPr>
            <a:r>
              <a:t>    if current_state != desired_state:</a:t>
            </a:r>
          </a:p>
          <a:p>
            <a:pPr>
              <a:spcAft>
                <a:spcPts val="200"/>
              </a:spcAft>
              <a:defRPr sz="1100">
                <a:solidFill>
                  <a:srgbClr val="FFFFFF"/>
                </a:solidFill>
                <a:latin typeface="Consolas"/>
              </a:defRPr>
            </a:pPr>
            <a:r>
              <a:t>        diff = calculate_difference(desired, current)</a:t>
            </a:r>
          </a:p>
          <a:p>
            <a:pPr>
              <a:spcAft>
                <a:spcPts val="200"/>
              </a:spcAft>
              <a:defRPr sz="1100">
                <a:solidFill>
                  <a:srgbClr val="FFFFFF"/>
                </a:solidFill>
                <a:latin typeface="Consolas"/>
              </a:defRPr>
            </a:pPr>
            <a:r>
              <a:t>        execute_remedy(diff) # Crear o matar Pods</a:t>
            </a:r>
          </a:p>
          <a:p>
            <a:pPr>
              <a:spcAft>
                <a:spcPts val="200"/>
              </a:spcAft>
              <a:defRPr sz="1100">
                <a:solidFill>
                  <a:srgbClr val="FFFFFF"/>
                </a:solidFill>
                <a:latin typeface="Consolas"/>
              </a:defRPr>
            </a:pPr>
            <a:r>
              <a:t>    </a:t>
            </a:r>
          </a:p>
          <a:p>
            <a:pPr>
              <a:spcAft>
                <a:spcPts val="200"/>
              </a:spcAft>
              <a:defRPr sz="1100">
                <a:solidFill>
                  <a:srgbClr val="FFFFFF"/>
                </a:solidFill>
                <a:latin typeface="Consolas"/>
              </a:defRPr>
            </a:pPr>
            <a:r>
              <a:t>    sleep(poll_interval)</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¡Esto ocurre 24/7 sin intervención humana!</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73 / 81</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5 • OBJETOS K8S</a:t>
            </a:r>
          </a:p>
          <a:p>
            <a:pPr>
              <a:defRPr sz="2800" b="1">
                <a:solidFill>
                  <a:srgbClr val="1E293B"/>
                </a:solidFill>
                <a:latin typeface="Calibri"/>
              </a:defRPr>
            </a:pPr>
            <a:r>
              <a:t>Primitiva Fundamental 1: El Pod</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La Unidad Mínima de Cómputo</a:t>
            </a:r>
          </a:p>
          <a:p>
            <a:pPr>
              <a:spcAft>
                <a:spcPts val="800"/>
              </a:spcAft>
              <a:defRPr sz="1400">
                <a:latin typeface="Calibri"/>
              </a:defRPr>
            </a:pPr>
            <a:r>
              <a:rPr b="1">
                <a:solidFill>
                  <a:srgbClr val="1E293B"/>
                </a:solidFill>
              </a:rPr>
              <a:t>• Kubernetes no ejecuta contenedores sueltos: </a:t>
            </a:r>
            <a:r>
              <a:rPr b="0">
                <a:solidFill>
                  <a:srgbClr val="1E293B"/>
                </a:solidFill>
              </a:rPr>
              <a:t>La unidad básica de despliegue y escalado siempre es el **Pod**.</a:t>
            </a:r>
          </a:p>
          <a:p>
            <a:pPr>
              <a:spcAft>
                <a:spcPts val="800"/>
              </a:spcAft>
              <a:defRPr sz="1400">
                <a:latin typeface="Calibri"/>
              </a:defRPr>
            </a:pPr>
            <a:r>
              <a:rPr b="1">
                <a:solidFill>
                  <a:srgbClr val="1E293B"/>
                </a:solidFill>
              </a:rPr>
              <a:t>• Un grupo de 1 o más Contenedores: </a:t>
            </a:r>
            <a:r>
              <a:rPr b="0">
                <a:solidFill>
                  <a:srgbClr val="1E293B"/>
                </a:solidFill>
              </a:rPr>
              <a:t>Habitualmente aloja un único contenedor principal de aplicación, pero puede alojar contenedores auxiliares ('Sidecars').</a:t>
            </a:r>
          </a:p>
          <a:p>
            <a:pPr>
              <a:spcAft>
                <a:spcPts val="800"/>
              </a:spcAft>
              <a:defRPr sz="1400">
                <a:latin typeface="Calibri"/>
              </a:defRPr>
            </a:pPr>
            <a:r>
              <a:rPr b="1">
                <a:solidFill>
                  <a:srgbClr val="1E293B"/>
                </a:solidFill>
              </a:rPr>
              <a:t>• Red Compartida: </a:t>
            </a:r>
            <a:r>
              <a:rPr b="0">
                <a:solidFill>
                  <a:srgbClr val="1E293B"/>
                </a:solidFill>
              </a:rPr>
              <a:t>Todos los contenedores de un Pod comparten el mismo Network Namespace: tienen la misma IP y se comunican entre sí por `localhost`.</a:t>
            </a:r>
          </a:p>
          <a:p>
            <a:pPr>
              <a:spcAft>
                <a:spcPts val="800"/>
              </a:spcAft>
              <a:defRPr sz="1400">
                <a:latin typeface="Calibri"/>
              </a:defRPr>
            </a:pPr>
            <a:r>
              <a:rPr b="1">
                <a:solidFill>
                  <a:srgbClr val="1E293B"/>
                </a:solidFill>
              </a:rPr>
              <a:t>• Almacenamiento Compartido: </a:t>
            </a:r>
            <a:r>
              <a:rPr b="0">
                <a:solidFill>
                  <a:srgbClr val="1E293B"/>
                </a:solidFill>
              </a:rPr>
              <a:t>Los volúmenes montados en el Pod son accesibles por todos los contenedores que residen en su interior.</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Ejemplo de Pod en YAML</a:t>
            </a:r>
          </a:p>
          <a:p>
            <a:pPr>
              <a:spcAft>
                <a:spcPts val="200"/>
              </a:spcAft>
              <a:defRPr sz="1100">
                <a:solidFill>
                  <a:srgbClr val="94A3B8"/>
                </a:solidFill>
                <a:latin typeface="Consolas"/>
              </a:defRPr>
            </a:pPr>
            <a:r>
              <a:t># Manifiesto YAML de un Pod simple (pod.yaml)</a:t>
            </a:r>
          </a:p>
          <a:p>
            <a:pPr>
              <a:spcAft>
                <a:spcPts val="200"/>
              </a:spcAft>
              <a:defRPr sz="1100">
                <a:solidFill>
                  <a:srgbClr val="FFFFFF"/>
                </a:solidFill>
                <a:latin typeface="Consolas"/>
              </a:defRPr>
            </a:pPr>
            <a:r>
              <a:t>apiVersion: v1</a:t>
            </a:r>
          </a:p>
          <a:p>
            <a:pPr>
              <a:spcAft>
                <a:spcPts val="200"/>
              </a:spcAft>
              <a:defRPr sz="1100">
                <a:solidFill>
                  <a:srgbClr val="FFFFFF"/>
                </a:solidFill>
                <a:latin typeface="Consolas"/>
              </a:defRPr>
            </a:pPr>
            <a:r>
              <a:t>kind: Pod</a:t>
            </a:r>
          </a:p>
          <a:p>
            <a:pPr>
              <a:spcAft>
                <a:spcPts val="200"/>
              </a:spcAft>
              <a:defRPr sz="1100">
                <a:solidFill>
                  <a:srgbClr val="FFFFFF"/>
                </a:solidFill>
                <a:latin typeface="Consolas"/>
              </a:defRPr>
            </a:pPr>
            <a:r>
              <a:t>metadata:</a:t>
            </a:r>
          </a:p>
          <a:p>
            <a:pPr>
              <a:spcAft>
                <a:spcPts val="200"/>
              </a:spcAft>
              <a:defRPr sz="1100">
                <a:solidFill>
                  <a:srgbClr val="FFFFFF"/>
                </a:solidFill>
                <a:latin typeface="Consolas"/>
              </a:defRPr>
            </a:pPr>
            <a:r>
              <a:t>  name: mi-pod-web</a:t>
            </a:r>
          </a:p>
          <a:p>
            <a:pPr>
              <a:spcAft>
                <a:spcPts val="200"/>
              </a:spcAft>
              <a:defRPr sz="1100">
                <a:solidFill>
                  <a:srgbClr val="FFFFFF"/>
                </a:solidFill>
                <a:latin typeface="Consolas"/>
              </a:defRPr>
            </a:pPr>
            <a:r>
              <a:t>  labels:</a:t>
            </a:r>
          </a:p>
          <a:p>
            <a:pPr>
              <a:spcAft>
                <a:spcPts val="200"/>
              </a:spcAft>
              <a:defRPr sz="1100">
                <a:solidFill>
                  <a:srgbClr val="FFFFFF"/>
                </a:solidFill>
                <a:latin typeface="Consolas"/>
              </a:defRPr>
            </a:pPr>
            <a:r>
              <a:t>    app: frontend</a:t>
            </a:r>
          </a:p>
          <a:p>
            <a:pPr>
              <a:spcAft>
                <a:spcPts val="200"/>
              </a:spcAft>
              <a:defRPr sz="1100">
                <a:solidFill>
                  <a:srgbClr val="FFFFFF"/>
                </a:solidFill>
                <a:latin typeface="Consolas"/>
              </a:defRPr>
            </a:pPr>
            <a:r>
              <a:t>spec:</a:t>
            </a:r>
          </a:p>
          <a:p>
            <a:pPr>
              <a:spcAft>
                <a:spcPts val="200"/>
              </a:spcAft>
              <a:defRPr sz="1100">
                <a:solidFill>
                  <a:srgbClr val="FFFFFF"/>
                </a:solidFill>
                <a:latin typeface="Consolas"/>
              </a:defRPr>
            </a:pPr>
            <a:r>
              <a:t>  containers:</a:t>
            </a:r>
          </a:p>
          <a:p>
            <a:pPr>
              <a:spcAft>
                <a:spcPts val="200"/>
              </a:spcAft>
              <a:defRPr sz="1100">
                <a:solidFill>
                  <a:srgbClr val="FFFFFF"/>
                </a:solidFill>
                <a:latin typeface="Consolas"/>
              </a:defRPr>
            </a:pPr>
            <a:r>
              <a:t>  - name: nginx-server</a:t>
            </a:r>
          </a:p>
          <a:p>
            <a:pPr>
              <a:spcAft>
                <a:spcPts val="200"/>
              </a:spcAft>
              <a:defRPr sz="1100">
                <a:solidFill>
                  <a:srgbClr val="FFFFFF"/>
                </a:solidFill>
                <a:latin typeface="Consolas"/>
              </a:defRPr>
            </a:pPr>
            <a:r>
              <a:t>    image: nginx:alpine</a:t>
            </a:r>
          </a:p>
          <a:p>
            <a:pPr>
              <a:spcAft>
                <a:spcPts val="200"/>
              </a:spcAft>
              <a:defRPr sz="1100">
                <a:solidFill>
                  <a:srgbClr val="FFFFFF"/>
                </a:solidFill>
                <a:latin typeface="Consolas"/>
              </a:defRPr>
            </a:pPr>
            <a:r>
              <a:t>    ports:</a:t>
            </a:r>
          </a:p>
          <a:p>
            <a:pPr>
              <a:spcAft>
                <a:spcPts val="200"/>
              </a:spcAft>
              <a:defRPr sz="1100">
                <a:solidFill>
                  <a:srgbClr val="FFFFFF"/>
                </a:solidFill>
                <a:latin typeface="Consolas"/>
              </a:defRPr>
            </a:pPr>
            <a:r>
              <a:t>    - containerPort: 80</a:t>
            </a:r>
          </a:p>
          <a:p>
            <a:pPr>
              <a:spcAft>
                <a:spcPts val="200"/>
              </a:spcAft>
              <a:defRPr sz="1100">
                <a:solidFill>
                  <a:srgbClr val="FFFFFF"/>
                </a:solidFill>
                <a:latin typeface="Consolas"/>
              </a:defRPr>
            </a:pPr>
            <a:r>
              <a:t>    resources:</a:t>
            </a:r>
          </a:p>
          <a:p>
            <a:pPr>
              <a:spcAft>
                <a:spcPts val="200"/>
              </a:spcAft>
              <a:defRPr sz="1100">
                <a:solidFill>
                  <a:srgbClr val="FFFFFF"/>
                </a:solidFill>
                <a:latin typeface="Consolas"/>
              </a:defRPr>
            </a:pPr>
            <a:r>
              <a:t>      limits:</a:t>
            </a:r>
          </a:p>
          <a:p>
            <a:pPr>
              <a:spcAft>
                <a:spcPts val="200"/>
              </a:spcAft>
              <a:defRPr sz="1100">
                <a:solidFill>
                  <a:srgbClr val="FFFFFF"/>
                </a:solidFill>
                <a:latin typeface="Consolas"/>
              </a:defRPr>
            </a:pPr>
            <a:r>
              <a:t>        memory: "128Mi"</a:t>
            </a:r>
          </a:p>
          <a:p>
            <a:pPr>
              <a:spcAft>
                <a:spcPts val="200"/>
              </a:spcAft>
              <a:defRPr sz="1100">
                <a:solidFill>
                  <a:srgbClr val="FFFFFF"/>
                </a:solidFill>
                <a:latin typeface="Consolas"/>
              </a:defRPr>
            </a:pPr>
            <a:r>
              <a:t>        cpu: "500m"</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74 / 81</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5 • OBJETOS K8S</a:t>
            </a:r>
          </a:p>
          <a:p>
            <a:pPr>
              <a:defRPr sz="2800" b="1">
                <a:solidFill>
                  <a:srgbClr val="1E293B"/>
                </a:solidFill>
                <a:latin typeface="Calibri"/>
              </a:defRPr>
            </a:pPr>
            <a:r>
              <a:t>Primitiva Fundamental 2: Deployments y Réplicas</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Gestión de Ciclo de Vida y Réplicas</a:t>
            </a:r>
          </a:p>
          <a:p>
            <a:pPr>
              <a:spcAft>
                <a:spcPts val="800"/>
              </a:spcAft>
              <a:defRPr sz="1400">
                <a:latin typeface="Calibri"/>
              </a:defRPr>
            </a:pPr>
            <a:r>
              <a:rPr b="1">
                <a:solidFill>
                  <a:srgbClr val="1E293B"/>
                </a:solidFill>
              </a:rPr>
              <a:t>• Jamás Desplegar Pods Sueltos en Producción: </a:t>
            </a:r>
            <a:r>
              <a:rPr b="0">
                <a:solidFill>
                  <a:srgbClr val="1E293B"/>
                </a:solidFill>
              </a:rPr>
              <a:t>Si un Pod suelto muere, nadie lo recrea. Siempre se gestionan mediante un **Deployment**.</a:t>
            </a:r>
          </a:p>
          <a:p>
            <a:pPr>
              <a:spcAft>
                <a:spcPts val="800"/>
              </a:spcAft>
              <a:defRPr sz="1400">
                <a:latin typeface="Calibri"/>
              </a:defRPr>
            </a:pPr>
            <a:r>
              <a:rPr b="1">
                <a:solidFill>
                  <a:srgbClr val="1E293B"/>
                </a:solidFill>
              </a:rPr>
              <a:t>• Controlador de Réplicas (ReplicaSet): </a:t>
            </a:r>
            <a:r>
              <a:rPr b="0">
                <a:solidFill>
                  <a:srgbClr val="1E293B"/>
                </a:solidFill>
              </a:rPr>
              <a:t>Garantiza que siempre exista el número exacto de réplicas saludables especificadas en `spec.replicas`.</a:t>
            </a:r>
          </a:p>
          <a:p>
            <a:pPr>
              <a:spcAft>
                <a:spcPts val="800"/>
              </a:spcAft>
              <a:defRPr sz="1400">
                <a:latin typeface="Calibri"/>
              </a:defRPr>
            </a:pPr>
            <a:r>
              <a:rPr b="1">
                <a:solidFill>
                  <a:srgbClr val="1E293B"/>
                </a:solidFill>
              </a:rPr>
              <a:t>• Estrategia RollingUpdate: </a:t>
            </a:r>
            <a:r>
              <a:rPr b="0">
                <a:solidFill>
                  <a:srgbClr val="1E293B"/>
                </a:solidFill>
              </a:rPr>
              <a:t>Actualiza los Pods de forma gradual (ej. 25% a la vez) asegurando que siempre hay réplicas sirviendo tráfico sin downtime.</a:t>
            </a:r>
          </a:p>
          <a:p>
            <a:pPr>
              <a:spcAft>
                <a:spcPts val="800"/>
              </a:spcAft>
              <a:defRPr sz="1400">
                <a:latin typeface="Calibri"/>
              </a:defRPr>
            </a:pPr>
            <a:r>
              <a:rPr b="1">
                <a:solidFill>
                  <a:srgbClr val="1E293B"/>
                </a:solidFill>
              </a:rPr>
              <a:t>• Rollback Instantáneo: </a:t>
            </a:r>
            <a:r>
              <a:rPr b="0">
                <a:solidFill>
                  <a:srgbClr val="1E293B"/>
                </a:solidFill>
              </a:rPr>
              <a:t>Si la versión nueva falla, puedes volver a la versión anterior con un solo comando: `kubectl rollout undo deployment/mi-app`.</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Ejemplo de Deployment</a:t>
            </a:r>
          </a:p>
          <a:p>
            <a:pPr>
              <a:spcAft>
                <a:spcPts val="200"/>
              </a:spcAft>
              <a:defRPr sz="1100">
                <a:solidFill>
                  <a:srgbClr val="94A3B8"/>
                </a:solidFill>
                <a:latin typeface="Consolas"/>
              </a:defRPr>
            </a:pPr>
            <a:r>
              <a:t># Manifiesto YAML de un Deployment (deployment.yaml)</a:t>
            </a:r>
          </a:p>
          <a:p>
            <a:pPr>
              <a:spcAft>
                <a:spcPts val="200"/>
              </a:spcAft>
              <a:defRPr sz="1100">
                <a:solidFill>
                  <a:srgbClr val="FFFFFF"/>
                </a:solidFill>
                <a:latin typeface="Consolas"/>
              </a:defRPr>
            </a:pPr>
            <a:r>
              <a:t>apiVersion: apps/v1</a:t>
            </a:r>
          </a:p>
          <a:p>
            <a:pPr>
              <a:spcAft>
                <a:spcPts val="200"/>
              </a:spcAft>
              <a:defRPr sz="1100">
                <a:solidFill>
                  <a:srgbClr val="FFFFFF"/>
                </a:solidFill>
                <a:latin typeface="Consolas"/>
              </a:defRPr>
            </a:pPr>
            <a:r>
              <a:t>kind: Deployment</a:t>
            </a:r>
          </a:p>
          <a:p>
            <a:pPr>
              <a:spcAft>
                <a:spcPts val="200"/>
              </a:spcAft>
              <a:defRPr sz="1100">
                <a:solidFill>
                  <a:srgbClr val="FFFFFF"/>
                </a:solidFill>
                <a:latin typeface="Consolas"/>
              </a:defRPr>
            </a:pPr>
            <a:r>
              <a:t>metadata:</a:t>
            </a:r>
          </a:p>
          <a:p>
            <a:pPr>
              <a:spcAft>
                <a:spcPts val="200"/>
              </a:spcAft>
              <a:defRPr sz="1100">
                <a:solidFill>
                  <a:srgbClr val="FFFFFF"/>
                </a:solidFill>
                <a:latin typeface="Consolas"/>
              </a:defRPr>
            </a:pPr>
            <a:r>
              <a:t>  name: api-pedidos</a:t>
            </a:r>
          </a:p>
          <a:p>
            <a:pPr>
              <a:spcAft>
                <a:spcPts val="200"/>
              </a:spcAft>
              <a:defRPr sz="1100">
                <a:solidFill>
                  <a:srgbClr val="FFFFFF"/>
                </a:solidFill>
                <a:latin typeface="Consolas"/>
              </a:defRPr>
            </a:pPr>
            <a:r>
              <a:t>spec:</a:t>
            </a:r>
          </a:p>
          <a:p>
            <a:pPr>
              <a:spcAft>
                <a:spcPts val="200"/>
              </a:spcAft>
              <a:defRPr sz="1100">
                <a:solidFill>
                  <a:srgbClr val="FFFFFF"/>
                </a:solidFill>
                <a:latin typeface="Consolas"/>
              </a:defRPr>
            </a:pPr>
            <a:r>
              <a:t>  replicas: 3</a:t>
            </a:r>
          </a:p>
          <a:p>
            <a:pPr>
              <a:spcAft>
                <a:spcPts val="200"/>
              </a:spcAft>
              <a:defRPr sz="1100">
                <a:solidFill>
                  <a:srgbClr val="FFFFFF"/>
                </a:solidFill>
                <a:latin typeface="Consolas"/>
              </a:defRPr>
            </a:pPr>
            <a:r>
              <a:t>  selector:</a:t>
            </a:r>
          </a:p>
          <a:p>
            <a:pPr>
              <a:spcAft>
                <a:spcPts val="200"/>
              </a:spcAft>
              <a:defRPr sz="1100">
                <a:solidFill>
                  <a:srgbClr val="FFFFFF"/>
                </a:solidFill>
                <a:latin typeface="Consolas"/>
              </a:defRPr>
            </a:pPr>
            <a:r>
              <a:t>    matchLabels:</a:t>
            </a:r>
          </a:p>
          <a:p>
            <a:pPr>
              <a:spcAft>
                <a:spcPts val="200"/>
              </a:spcAft>
              <a:defRPr sz="1100">
                <a:solidFill>
                  <a:srgbClr val="FFFFFF"/>
                </a:solidFill>
                <a:latin typeface="Consolas"/>
              </a:defRPr>
            </a:pPr>
            <a:r>
              <a:t>      app: pedidos</a:t>
            </a:r>
          </a:p>
          <a:p>
            <a:pPr>
              <a:spcAft>
                <a:spcPts val="200"/>
              </a:spcAft>
              <a:defRPr sz="1100">
                <a:solidFill>
                  <a:srgbClr val="FFFFFF"/>
                </a:solidFill>
                <a:latin typeface="Consolas"/>
              </a:defRPr>
            </a:pPr>
            <a:r>
              <a:t>  template:</a:t>
            </a:r>
          </a:p>
          <a:p>
            <a:pPr>
              <a:spcAft>
                <a:spcPts val="200"/>
              </a:spcAft>
              <a:defRPr sz="1100">
                <a:solidFill>
                  <a:srgbClr val="FFFFFF"/>
                </a:solidFill>
                <a:latin typeface="Consolas"/>
              </a:defRPr>
            </a:pPr>
            <a:r>
              <a:t>    metadata:</a:t>
            </a:r>
          </a:p>
          <a:p>
            <a:pPr>
              <a:spcAft>
                <a:spcPts val="200"/>
              </a:spcAft>
              <a:defRPr sz="1100">
                <a:solidFill>
                  <a:srgbClr val="FFFFFF"/>
                </a:solidFill>
                <a:latin typeface="Consolas"/>
              </a:defRPr>
            </a:pPr>
            <a:r>
              <a:t>      labels:</a:t>
            </a:r>
          </a:p>
          <a:p>
            <a:pPr>
              <a:spcAft>
                <a:spcPts val="200"/>
              </a:spcAft>
              <a:defRPr sz="1100">
                <a:solidFill>
                  <a:srgbClr val="FFFFFF"/>
                </a:solidFill>
                <a:latin typeface="Consolas"/>
              </a:defRPr>
            </a:pPr>
            <a:r>
              <a:t>        app: pedidos</a:t>
            </a:r>
          </a:p>
          <a:p>
            <a:pPr>
              <a:spcAft>
                <a:spcPts val="200"/>
              </a:spcAft>
              <a:defRPr sz="1100">
                <a:solidFill>
                  <a:srgbClr val="FFFFFF"/>
                </a:solidFill>
                <a:latin typeface="Consolas"/>
              </a:defRPr>
            </a:pPr>
            <a:r>
              <a:t>    spec:</a:t>
            </a:r>
          </a:p>
          <a:p>
            <a:pPr>
              <a:spcAft>
                <a:spcPts val="200"/>
              </a:spcAft>
              <a:defRPr sz="1100">
                <a:solidFill>
                  <a:srgbClr val="FFFFFF"/>
                </a:solidFill>
                <a:latin typeface="Consolas"/>
              </a:defRPr>
            </a:pPr>
            <a:r>
              <a:t>      containers:</a:t>
            </a:r>
          </a:p>
          <a:p>
            <a:pPr>
              <a:spcAft>
                <a:spcPts val="200"/>
              </a:spcAft>
              <a:defRPr sz="1100">
                <a:solidFill>
                  <a:srgbClr val="FFFFFF"/>
                </a:solidFill>
                <a:latin typeface="Consolas"/>
              </a:defRPr>
            </a:pPr>
            <a:r>
              <a:t>      - name: api</a:t>
            </a:r>
          </a:p>
          <a:p>
            <a:pPr>
              <a:spcAft>
                <a:spcPts val="200"/>
              </a:spcAft>
              <a:defRPr sz="1100">
                <a:solidFill>
                  <a:srgbClr val="FFFFFF"/>
                </a:solidFill>
                <a:latin typeface="Consolas"/>
              </a:defRPr>
            </a:pPr>
            <a:r>
              <a:t>        image: mi-repo/pedidos:2.0</a:t>
            </a:r>
          </a:p>
          <a:p>
            <a:pPr>
              <a:spcAft>
                <a:spcPts val="200"/>
              </a:spcAft>
              <a:defRPr sz="1100">
                <a:solidFill>
                  <a:srgbClr val="FFFFFF"/>
                </a:solidFill>
                <a:latin typeface="Consolas"/>
              </a:defRPr>
            </a:pPr>
            <a:r>
              <a:t>        ports:</a:t>
            </a:r>
          </a:p>
          <a:p>
            <a:pPr>
              <a:spcAft>
                <a:spcPts val="200"/>
              </a:spcAft>
              <a:defRPr sz="1100">
                <a:solidFill>
                  <a:srgbClr val="FFFFFF"/>
                </a:solidFill>
                <a:latin typeface="Consolas"/>
              </a:defRPr>
            </a:pPr>
            <a:r>
              <a:t>        - containerPort: 3000</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75 / 81</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5 • OBJETOS K8S</a:t>
            </a:r>
          </a:p>
          <a:p>
            <a:pPr>
              <a:defRPr sz="2800" b="1">
                <a:solidFill>
                  <a:srgbClr val="1E293B"/>
                </a:solidFill>
                <a:latin typeface="Calibri"/>
              </a:defRPr>
            </a:pPr>
            <a:r>
              <a:t>Primitiva Fundamental 3: Services y Balanceo L4</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La Abstracción de Red Estable</a:t>
            </a:r>
          </a:p>
          <a:p>
            <a:pPr>
              <a:spcAft>
                <a:spcPts val="800"/>
              </a:spcAft>
              <a:defRPr sz="1400">
                <a:latin typeface="Calibri"/>
              </a:defRPr>
            </a:pPr>
            <a:r>
              <a:rPr b="1">
                <a:solidFill>
                  <a:srgbClr val="1E293B"/>
                </a:solidFill>
              </a:rPr>
              <a:t>• El Problema: </a:t>
            </a:r>
            <a:r>
              <a:rPr b="0">
                <a:solidFill>
                  <a:srgbClr val="1E293B"/>
                </a:solidFill>
              </a:rPr>
              <a:t>Los Pods son efímeros y sus IPs cambian constantemente cada vez que se reinician o escalan.</a:t>
            </a:r>
          </a:p>
          <a:p>
            <a:pPr>
              <a:spcAft>
                <a:spcPts val="800"/>
              </a:spcAft>
              <a:defRPr sz="1400">
                <a:latin typeface="Calibri"/>
              </a:defRPr>
            </a:pPr>
            <a:r>
              <a:rPr b="1">
                <a:solidFill>
                  <a:srgbClr val="1E293B"/>
                </a:solidFill>
              </a:rPr>
              <a:t>• La Solución (Service): </a:t>
            </a:r>
            <a:r>
              <a:rPr b="0">
                <a:solidFill>
                  <a:srgbClr val="1E293B"/>
                </a:solidFill>
              </a:rPr>
              <a:t>Proporciona una IP virtual fija (ClusterIP) y un nombre DNS interno estable (`api-pedidos.default.svc.cluster.local`).</a:t>
            </a:r>
          </a:p>
          <a:p>
            <a:pPr>
              <a:spcAft>
                <a:spcPts val="800"/>
              </a:spcAft>
              <a:defRPr sz="1400">
                <a:latin typeface="Calibri"/>
              </a:defRPr>
            </a:pPr>
            <a:r>
              <a:rPr b="1">
                <a:solidFill>
                  <a:srgbClr val="1E293B"/>
                </a:solidFill>
              </a:rPr>
              <a:t>• Mecanismo de Selección por Labels: </a:t>
            </a:r>
            <a:r>
              <a:rPr b="0">
                <a:solidFill>
                  <a:srgbClr val="1E293B"/>
                </a:solidFill>
              </a:rPr>
              <a:t>El Service utiliza `spec.selector` para encontrar dinámicamente qué Pods coinciden con la etiqueta.</a:t>
            </a:r>
          </a:p>
          <a:p>
            <a:pPr>
              <a:spcAft>
                <a:spcPts val="800"/>
              </a:spcAft>
              <a:defRPr sz="1400">
                <a:latin typeface="Calibri"/>
              </a:defRPr>
            </a:pPr>
            <a:r>
              <a:rPr b="1">
                <a:solidFill>
                  <a:srgbClr val="1E293B"/>
                </a:solidFill>
              </a:rPr>
              <a:t>• Tipos de Service: </a:t>
            </a:r>
            <a:r>
              <a:rPr b="0">
                <a:solidFill>
                  <a:srgbClr val="1E293B"/>
                </a:solidFill>
              </a:rPr>
              <a:t>`ClusterIP` (solo interno), `NodePort` (abre puerto 30000-32767 en todos los nodos), `LoadBalancer` (provisiona un balanceador en AWS/Azure/GCP).</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Ejemplo de Service en YAML</a:t>
            </a:r>
          </a:p>
          <a:p>
            <a:pPr>
              <a:spcAft>
                <a:spcPts val="200"/>
              </a:spcAft>
              <a:defRPr sz="1100">
                <a:solidFill>
                  <a:srgbClr val="94A3B8"/>
                </a:solidFill>
                <a:latin typeface="Consolas"/>
              </a:defRPr>
            </a:pPr>
            <a:r>
              <a:t># Manifiesto YAML de un Service (service.yaml)</a:t>
            </a:r>
          </a:p>
          <a:p>
            <a:pPr>
              <a:spcAft>
                <a:spcPts val="200"/>
              </a:spcAft>
              <a:defRPr sz="1100">
                <a:solidFill>
                  <a:srgbClr val="FFFFFF"/>
                </a:solidFill>
                <a:latin typeface="Consolas"/>
              </a:defRPr>
            </a:pPr>
            <a:r>
              <a:t>apiVersion: v1</a:t>
            </a:r>
          </a:p>
          <a:p>
            <a:pPr>
              <a:spcAft>
                <a:spcPts val="200"/>
              </a:spcAft>
              <a:defRPr sz="1100">
                <a:solidFill>
                  <a:srgbClr val="FFFFFF"/>
                </a:solidFill>
                <a:latin typeface="Consolas"/>
              </a:defRPr>
            </a:pPr>
            <a:r>
              <a:t>kind: Service</a:t>
            </a:r>
          </a:p>
          <a:p>
            <a:pPr>
              <a:spcAft>
                <a:spcPts val="200"/>
              </a:spcAft>
              <a:defRPr sz="1100">
                <a:solidFill>
                  <a:srgbClr val="FFFFFF"/>
                </a:solidFill>
                <a:latin typeface="Consolas"/>
              </a:defRPr>
            </a:pPr>
            <a:r>
              <a:t>metadata:</a:t>
            </a:r>
          </a:p>
          <a:p>
            <a:pPr>
              <a:spcAft>
                <a:spcPts val="200"/>
              </a:spcAft>
              <a:defRPr sz="1100">
                <a:solidFill>
                  <a:srgbClr val="FFFFFF"/>
                </a:solidFill>
                <a:latin typeface="Consolas"/>
              </a:defRPr>
            </a:pPr>
            <a:r>
              <a:t>  name: servicio-pedidos</a:t>
            </a:r>
          </a:p>
          <a:p>
            <a:pPr>
              <a:spcAft>
                <a:spcPts val="200"/>
              </a:spcAft>
              <a:defRPr sz="1100">
                <a:solidFill>
                  <a:srgbClr val="FFFFFF"/>
                </a:solidFill>
                <a:latin typeface="Consolas"/>
              </a:defRPr>
            </a:pPr>
            <a:r>
              <a:t>spec:</a:t>
            </a:r>
          </a:p>
          <a:p>
            <a:pPr>
              <a:spcAft>
                <a:spcPts val="200"/>
              </a:spcAft>
              <a:defRPr sz="1100">
                <a:solidFill>
                  <a:srgbClr val="FFFFFF"/>
                </a:solidFill>
                <a:latin typeface="Consolas"/>
              </a:defRPr>
            </a:pPr>
            <a:r>
              <a:t>  type: ClusterIP</a:t>
            </a:r>
          </a:p>
          <a:p>
            <a:pPr>
              <a:spcAft>
                <a:spcPts val="200"/>
              </a:spcAft>
              <a:defRPr sz="1100">
                <a:solidFill>
                  <a:srgbClr val="FFFFFF"/>
                </a:solidFill>
                <a:latin typeface="Consolas"/>
              </a:defRPr>
            </a:pPr>
            <a:r>
              <a:t>  selector:</a:t>
            </a:r>
          </a:p>
          <a:p>
            <a:pPr>
              <a:spcAft>
                <a:spcPts val="200"/>
              </a:spcAft>
              <a:defRPr sz="1100">
                <a:solidFill>
                  <a:srgbClr val="FFFFFF"/>
                </a:solidFill>
                <a:latin typeface="Consolas"/>
              </a:defRPr>
            </a:pPr>
            <a:r>
              <a:t>    app: pedidos    # Conecta con los Pods etiquetados</a:t>
            </a:r>
          </a:p>
          <a:p>
            <a:pPr>
              <a:spcAft>
                <a:spcPts val="200"/>
              </a:spcAft>
              <a:defRPr sz="1100">
                <a:solidFill>
                  <a:srgbClr val="FFFFFF"/>
                </a:solidFill>
                <a:latin typeface="Consolas"/>
              </a:defRPr>
            </a:pPr>
            <a:r>
              <a:t>  ports:</a:t>
            </a:r>
          </a:p>
          <a:p>
            <a:pPr>
              <a:spcAft>
                <a:spcPts val="200"/>
              </a:spcAft>
              <a:defRPr sz="1100">
                <a:solidFill>
                  <a:srgbClr val="FFFFFF"/>
                </a:solidFill>
                <a:latin typeface="Consolas"/>
              </a:defRPr>
            </a:pPr>
            <a:r>
              <a:t>  - port: 80         # Puerto del servicio</a:t>
            </a:r>
          </a:p>
          <a:p>
            <a:pPr>
              <a:spcAft>
                <a:spcPts val="200"/>
              </a:spcAft>
              <a:defRPr sz="1100">
                <a:solidFill>
                  <a:srgbClr val="FFFFFF"/>
                </a:solidFill>
                <a:latin typeface="Consolas"/>
              </a:defRPr>
            </a:pPr>
            <a:r>
              <a:t>    targetPort: 3000 # Puerto del contenedor</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Cualquier Pod del clúster puede consumir la API</a:t>
            </a:r>
          </a:p>
          <a:p>
            <a:pPr>
              <a:spcAft>
                <a:spcPts val="200"/>
              </a:spcAft>
              <a:defRPr sz="1100">
                <a:solidFill>
                  <a:srgbClr val="94A3B8"/>
                </a:solidFill>
                <a:latin typeface="Consolas"/>
              </a:defRPr>
            </a:pPr>
            <a:r>
              <a:t># haciendo una petición HTTP simple a:</a:t>
            </a:r>
          </a:p>
          <a:p>
            <a:pPr>
              <a:spcAft>
                <a:spcPts val="200"/>
              </a:spcAft>
              <a:defRPr sz="1100">
                <a:solidFill>
                  <a:srgbClr val="94A3B8"/>
                </a:solidFill>
                <a:latin typeface="Consolas"/>
              </a:defRPr>
            </a:pPr>
            <a:r>
              <a:t># http://servicio-pedidos:80</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76 / 81</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5 • OBJETOS K8S</a:t>
            </a:r>
          </a:p>
          <a:p>
            <a:pPr>
              <a:defRPr sz="2800" b="1">
                <a:solidFill>
                  <a:srgbClr val="1E293B"/>
                </a:solidFill>
                <a:latin typeface="Calibri"/>
              </a:defRPr>
            </a:pPr>
            <a:r>
              <a:t>Configuración y Persistencia: ConfigMaps, Secrets y PVCs</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Configuración Externa</a:t>
            </a:r>
          </a:p>
          <a:p>
            <a:pPr>
              <a:spcAft>
                <a:spcPts val="800"/>
              </a:spcAft>
              <a:defRPr sz="1400">
                <a:latin typeface="Calibri"/>
              </a:defRPr>
            </a:pPr>
            <a:r>
              <a:rPr b="1">
                <a:solidFill>
                  <a:srgbClr val="1E293B"/>
                </a:solidFill>
              </a:rPr>
              <a:t>• ConfigMaps: </a:t>
            </a:r>
            <a:r>
              <a:rPr b="0">
                <a:solidFill>
                  <a:srgbClr val="1E293B"/>
                </a:solidFill>
              </a:rPr>
              <a:t>Almacenan pares clave-valor de configuración no sensible desacoplados de la imagen del contenedor.</a:t>
            </a:r>
          </a:p>
          <a:p>
            <a:pPr>
              <a:spcAft>
                <a:spcPts val="800"/>
              </a:spcAft>
              <a:defRPr sz="1400">
                <a:latin typeface="Calibri"/>
              </a:defRPr>
            </a:pPr>
            <a:r>
              <a:rPr b="1">
                <a:solidFill>
                  <a:srgbClr val="1E293B"/>
                </a:solidFill>
              </a:rPr>
              <a:t>• Secrets: </a:t>
            </a:r>
            <a:r>
              <a:rPr b="0">
                <a:solidFill>
                  <a:srgbClr val="1E293B"/>
                </a:solidFill>
              </a:rPr>
              <a:t>Almacenan contraseñas, certificados y tokens codificados en Base64 (o cifrados con KMS/Vault).</a:t>
            </a:r>
          </a:p>
          <a:p>
            <a:pPr>
              <a:spcAft>
                <a:spcPts val="800"/>
              </a:spcAft>
              <a:defRPr sz="1400">
                <a:latin typeface="Calibri"/>
              </a:defRPr>
            </a:pPr>
            <a:r>
              <a:rPr b="1">
                <a:solidFill>
                  <a:srgbClr val="1E293B"/>
                </a:solidFill>
              </a:rPr>
              <a:t>• Inyección Flexible: </a:t>
            </a:r>
            <a:r>
              <a:rPr b="0">
                <a:solidFill>
                  <a:srgbClr val="1E293B"/>
                </a:solidFill>
              </a:rPr>
              <a:t>Ambos objetos se pueden inyectar en los Pods como variables de entorno (`env`) o montados como archivos en carpetas de solo lectura.</a:t>
            </a:r>
          </a:p>
          <a:p>
            <a:pPr>
              <a:spcAft>
                <a:spcPts val="800"/>
              </a:spcAft>
              <a:defRPr sz="1400">
                <a:latin typeface="Calibri"/>
              </a:defRPr>
            </a:pPr>
            <a:r>
              <a:rPr b="1">
                <a:solidFill>
                  <a:srgbClr val="1E293B"/>
                </a:solidFill>
              </a:rPr>
              <a:t>• Inmutabilidad del Código: </a:t>
            </a:r>
            <a:r>
              <a:rPr b="0">
                <a:solidFill>
                  <a:srgbClr val="1E293B"/>
                </a:solidFill>
              </a:rPr>
              <a:t>La misma imagen de contenedor se despliega en Desarrollo, Staging y Producción cambiando únicamente el ConfigMap.</a:t>
            </a:r>
          </a:p>
        </p:txBody>
      </p:sp>
      <p:sp>
        <p:nvSpPr>
          <p:cNvPr id="5" name="Rounded Rectangle 4"/>
          <p:cNvSpPr/>
          <p:nvPr/>
        </p:nvSpPr>
        <p:spPr>
          <a:xfrm>
            <a:off x="6217920" y="1645920"/>
            <a:ext cx="52120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Persistencia: PVC y StorageClass</a:t>
            </a:r>
          </a:p>
          <a:p>
            <a:pPr>
              <a:spcAft>
                <a:spcPts val="800"/>
              </a:spcAft>
              <a:defRPr sz="1400">
                <a:latin typeface="Calibri"/>
              </a:defRPr>
            </a:pPr>
            <a:r>
              <a:rPr b="1">
                <a:solidFill>
                  <a:srgbClr val="1E293B"/>
                </a:solidFill>
              </a:rPr>
              <a:t>• PersistentVolumeClaim (PVC): </a:t>
            </a:r>
            <a:r>
              <a:rPr b="0">
                <a:solidFill>
                  <a:srgbClr val="1E293B"/>
                </a:solidFill>
              </a:rPr>
              <a:t>Petición formal de almacenamiento que realiza el Pod (ej. 'Necesito 50GB en modo ReadWriteOnce').</a:t>
            </a:r>
          </a:p>
          <a:p>
            <a:pPr>
              <a:spcAft>
                <a:spcPts val="800"/>
              </a:spcAft>
              <a:defRPr sz="1400">
                <a:latin typeface="Calibri"/>
              </a:defRPr>
            </a:pPr>
            <a:r>
              <a:rPr b="1">
                <a:solidFill>
                  <a:srgbClr val="1E293B"/>
                </a:solidFill>
              </a:rPr>
              <a:t>• PersistentVolume (PV): </a:t>
            </a:r>
            <a:r>
              <a:rPr b="0">
                <a:solidFill>
                  <a:srgbClr val="1E293B"/>
                </a:solidFill>
              </a:rPr>
              <a:t>El disco físico real aprovisionado en la nube (AWS EBS, Azure Managed Disk, Ceph, NFS).</a:t>
            </a:r>
          </a:p>
          <a:p>
            <a:pPr>
              <a:spcAft>
                <a:spcPts val="800"/>
              </a:spcAft>
              <a:defRPr sz="1400">
                <a:latin typeface="Calibri"/>
              </a:defRPr>
            </a:pPr>
            <a:r>
              <a:rPr b="1">
                <a:solidFill>
                  <a:srgbClr val="1E293B"/>
                </a:solidFill>
              </a:rPr>
              <a:t>• StorageClass: </a:t>
            </a:r>
            <a:r>
              <a:rPr b="0">
                <a:solidFill>
                  <a:srgbClr val="1E293B"/>
                </a:solidFill>
              </a:rPr>
              <a:t>Mecanismo de aprovisionamiento dinámico: si el Pod pide un PVC, K8s contacta con la API cloud y crea el disco al vuelo.</a:t>
            </a:r>
          </a:p>
          <a:p>
            <a:pPr>
              <a:spcAft>
                <a:spcPts val="800"/>
              </a:spcAft>
              <a:defRPr sz="1400">
                <a:latin typeface="Calibri"/>
              </a:defRPr>
            </a:pPr>
            <a:r>
              <a:rPr b="1">
                <a:solidFill>
                  <a:srgbClr val="1E293B"/>
                </a:solidFill>
              </a:rPr>
              <a:t>• StatefulSets: </a:t>
            </a:r>
            <a:r>
              <a:rPr b="0">
                <a:solidFill>
                  <a:srgbClr val="1E293B"/>
                </a:solidFill>
              </a:rPr>
              <a:t>El controlador especializado para cargas de trabajo con estado persistente (bases de datos con réplicas primario/réplica ordenadas).</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77 / 81</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5 • TRANSICIÓN</a:t>
            </a:r>
          </a:p>
          <a:p>
            <a:pPr>
              <a:defRPr sz="2800" b="1">
                <a:solidFill>
                  <a:srgbClr val="1E293B"/>
                </a:solidFill>
                <a:latin typeface="Calibri"/>
              </a:defRPr>
            </a:pPr>
            <a:r>
              <a:t>De Docker a Kubernetes: Diccionario de Conceptos</a:t>
            </a:r>
          </a:p>
        </p:txBody>
      </p:sp>
      <p:sp>
        <p:nvSpPr>
          <p:cNvPr id="4" name="Rounded Rectangle 3"/>
          <p:cNvSpPr/>
          <p:nvPr/>
        </p:nvSpPr>
        <p:spPr>
          <a:xfrm>
            <a:off x="731520" y="1645920"/>
            <a:ext cx="106984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Tabla de Equivalencias Conceptuales</a:t>
            </a:r>
          </a:p>
          <a:p>
            <a:pPr>
              <a:spcAft>
                <a:spcPts val="1200"/>
              </a:spcAft>
              <a:defRPr sz="1400">
                <a:latin typeface="Calibri"/>
              </a:defRPr>
            </a:pPr>
            <a:r>
              <a:rPr>
                <a:solidFill>
                  <a:srgbClr val="1E293B"/>
                </a:solidFill>
              </a:rPr>
              <a:t>• `docker run -d ...`  --&gt;  Kubernetes **Pod** (ejecución básica) o **Deployment** (ejecución gestionada).</a:t>
            </a:r>
          </a:p>
          <a:p>
            <a:pPr>
              <a:spcAft>
                <a:spcPts val="1200"/>
              </a:spcAft>
              <a:defRPr sz="1400">
                <a:latin typeface="Calibri"/>
              </a:defRPr>
            </a:pPr>
            <a:r>
              <a:rPr>
                <a:solidFill>
                  <a:srgbClr val="1E293B"/>
                </a:solidFill>
              </a:rPr>
              <a:t>• `docker build -t mi-app .`  --&gt;  El proceso de build sigue siendo **100% idéntico** (las imágenes OCI se consumen directamente en K8s).</a:t>
            </a:r>
          </a:p>
          <a:p>
            <a:pPr>
              <a:spcAft>
                <a:spcPts val="1200"/>
              </a:spcAft>
              <a:defRPr sz="1400">
                <a:latin typeface="Calibri"/>
              </a:defRPr>
            </a:pPr>
            <a:r>
              <a:rPr b="1">
                <a:solidFill>
                  <a:srgbClr val="1E293B"/>
                </a:solidFill>
              </a:rPr>
              <a:t>• `-p 8080: </a:t>
            </a:r>
            <a:r>
              <a:rPr b="0">
                <a:solidFill>
                  <a:srgbClr val="1E293B"/>
                </a:solidFill>
              </a:rPr>
              <a:t>80` (Port mapping)  --&gt;  Kubernetes **Service** (ClusterIP, NodePort o LoadBalancer con selector de etiquetas).</a:t>
            </a:r>
          </a:p>
          <a:p>
            <a:pPr>
              <a:spcAft>
                <a:spcPts val="1200"/>
              </a:spcAft>
              <a:defRPr sz="1400">
                <a:latin typeface="Calibri"/>
              </a:defRPr>
            </a:pPr>
            <a:r>
              <a:rPr>
                <a:solidFill>
                  <a:srgbClr val="1E293B"/>
                </a:solidFill>
              </a:rPr>
              <a:t>• `docker network create`  --&gt;  **CNI Plugin** (red plana donde todos los Pods se ven entre sí por IP sin NAT) + **NetworkPolicies**.</a:t>
            </a:r>
          </a:p>
          <a:p>
            <a:pPr>
              <a:spcAft>
                <a:spcPts val="1200"/>
              </a:spcAft>
              <a:defRPr sz="1400">
                <a:latin typeface="Calibri"/>
              </a:defRPr>
            </a:pPr>
            <a:r>
              <a:rPr b="1">
                <a:solidFill>
                  <a:srgbClr val="1E293B"/>
                </a:solidFill>
              </a:rPr>
              <a:t>• `-v mi_vol: </a:t>
            </a:r>
            <a:r>
              <a:rPr b="0">
                <a:solidFill>
                  <a:srgbClr val="1E293B"/>
                </a:solidFill>
              </a:rPr>
              <a:t>/datos` (Named Volume)  --&gt;  **PersistentVolumeClaim (PVC)** respaldado por un StorageClass del proveedor.</a:t>
            </a:r>
          </a:p>
          <a:p>
            <a:pPr>
              <a:spcAft>
                <a:spcPts val="1200"/>
              </a:spcAft>
              <a:defRPr sz="1400">
                <a:latin typeface="Calibri"/>
              </a:defRPr>
            </a:pPr>
            <a:r>
              <a:rPr>
                <a:solidFill>
                  <a:srgbClr val="1E293B"/>
                </a:solidFill>
              </a:rPr>
              <a:t>• `docker compose up`  --&gt;  Colección de manifiestos YAML aplicados con `kubectl apply -f ./manifests/` o empaquetados con **Helm Charts**.</a:t>
            </a:r>
          </a:p>
        </p:txBody>
      </p:sp>
      <p:sp>
        <p:nvSpPr>
          <p:cNvPr id="5" name="TextBox 4"/>
          <p:cNvSpPr txBox="1"/>
          <p:nvPr/>
        </p:nvSpPr>
        <p:spPr>
          <a:xfrm>
            <a:off x="10332720" y="6446520"/>
            <a:ext cx="1645920" cy="320040"/>
          </a:xfrm>
          <a:prstGeom prst="rect">
            <a:avLst/>
          </a:prstGeom>
          <a:noFill/>
        </p:spPr>
        <p:txBody>
          <a:bodyPr wrap="none" lIns="0" tIns="0" rIns="0" bIns="0">
            <a:spAutoFit/>
          </a:bodyPr>
          <a:lstStyle/>
          <a:p>
            <a:pPr algn="r">
              <a:defRPr sz="900">
                <a:solidFill>
                  <a:srgbClr val="0DB7ED"/>
                </a:solidFill>
                <a:latin typeface="Calibri"/>
              </a:defRPr>
            </a:pPr>
            <a:r>
              <a:t>78 / 81</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MÓDULO 5 • ENTORNOS</a:t>
            </a:r>
          </a:p>
          <a:p>
            <a:pPr>
              <a:defRPr sz="2800" b="1">
                <a:solidFill>
                  <a:srgbClr val="1E293B"/>
                </a:solidFill>
                <a:latin typeface="Calibri"/>
              </a:defRPr>
            </a:pPr>
            <a:r>
              <a:t>Entornos Locales para Aprender Kubernetes</a:t>
            </a:r>
          </a:p>
        </p:txBody>
      </p:sp>
      <p:sp>
        <p:nvSpPr>
          <p:cNvPr id="4" name="Rounded Rectangle 3"/>
          <p:cNvSpPr/>
          <p:nvPr/>
        </p:nvSpPr>
        <p:spPr>
          <a:xfrm>
            <a:off x="731520" y="1645920"/>
            <a:ext cx="512064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Opciones para Practicar en tu Portátil</a:t>
            </a:r>
          </a:p>
          <a:p>
            <a:pPr>
              <a:spcAft>
                <a:spcPts val="800"/>
              </a:spcAft>
              <a:defRPr sz="1400">
                <a:latin typeface="Calibri"/>
              </a:defRPr>
            </a:pPr>
            <a:r>
              <a:rPr b="1">
                <a:solidFill>
                  <a:srgbClr val="1E293B"/>
                </a:solidFill>
              </a:rPr>
              <a:t>• Docker Desktop Kubernetes: </a:t>
            </a:r>
            <a:r>
              <a:rPr b="0">
                <a:solidFill>
                  <a:srgbClr val="1E293B"/>
                </a:solidFill>
              </a:rPr>
              <a:t>La opción más fácil si usas Docker Desktop. Basta marcar una casilla en 'Settings &gt; Kubernetes &gt; Enable' y tienes un clúster de un nodo.</a:t>
            </a:r>
          </a:p>
          <a:p>
            <a:pPr>
              <a:spcAft>
                <a:spcPts val="800"/>
              </a:spcAft>
              <a:defRPr sz="1400">
                <a:latin typeface="Calibri"/>
              </a:defRPr>
            </a:pPr>
            <a:r>
              <a:rPr b="1">
                <a:solidFill>
                  <a:srgbClr val="1E293B"/>
                </a:solidFill>
              </a:rPr>
              <a:t>• Kind (Kubernetes in Docker): </a:t>
            </a:r>
            <a:r>
              <a:rPr b="0">
                <a:solidFill>
                  <a:srgbClr val="1E293B"/>
                </a:solidFill>
              </a:rPr>
              <a:t>Ejecuta nodos de Kubernetes como contenedores Docker en tu host. Ultrarrápido, excelente para pruebas de CI/CD.</a:t>
            </a:r>
          </a:p>
          <a:p>
            <a:pPr>
              <a:spcAft>
                <a:spcPts val="800"/>
              </a:spcAft>
              <a:defRPr sz="1400">
                <a:latin typeface="Calibri"/>
              </a:defRPr>
            </a:pPr>
            <a:r>
              <a:rPr b="1">
                <a:solidFill>
                  <a:srgbClr val="1E293B"/>
                </a:solidFill>
              </a:rPr>
              <a:t>• Minikube: </a:t>
            </a:r>
            <a:r>
              <a:rPr b="0">
                <a:solidFill>
                  <a:srgbClr val="1E293B"/>
                </a:solidFill>
              </a:rPr>
              <a:t>La herramienta histórica oficial de la comunidad K8s. Soporta múltiples hipervisores, drivers de Docker y addons (ingress, dashboard, métricas).</a:t>
            </a:r>
          </a:p>
          <a:p>
            <a:pPr>
              <a:spcAft>
                <a:spcPts val="800"/>
              </a:spcAft>
              <a:defRPr sz="1400">
                <a:latin typeface="Calibri"/>
              </a:defRPr>
            </a:pPr>
            <a:r>
              <a:rPr b="1">
                <a:solidFill>
                  <a:srgbClr val="1E293B"/>
                </a:solidFill>
              </a:rPr>
              <a:t>• K3s (de Rancher/SUSE): </a:t>
            </a:r>
            <a:r>
              <a:rPr b="0">
                <a:solidFill>
                  <a:srgbClr val="1E293B"/>
                </a:solidFill>
              </a:rPr>
              <a:t>Distribución certificada ultraligera (&lt;100MB) compilada en un solo binario, ideal para Edge, IoT y portátiles con recursos modestos.</a:t>
            </a:r>
          </a:p>
        </p:txBody>
      </p:sp>
      <p:sp>
        <p:nvSpPr>
          <p:cNvPr id="5" name="Rounded Rectangle 4"/>
          <p:cNvSpPr/>
          <p:nvPr/>
        </p:nvSpPr>
        <p:spPr>
          <a:xfrm>
            <a:off x="6217920" y="1645920"/>
            <a:ext cx="5212080" cy="4572000"/>
          </a:xfrm>
          <a:prstGeom prst="round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28600" rIns="228600" tIns="182880"/>
          <a:lstStyle/>
          <a:p>
            <a:pPr algn="ctr">
              <a:spcAft>
                <a:spcPts val="600"/>
              </a:spcAft>
              <a:defRPr sz="1200" b="1">
                <a:solidFill>
                  <a:srgbClr val="0DB7ED"/>
                </a:solidFill>
                <a:latin typeface="Consolas"/>
              </a:defRPr>
            </a:pPr>
            <a:r>
              <a:t>$ Clúster con Kind</a:t>
            </a:r>
          </a:p>
          <a:p>
            <a:pPr>
              <a:spcAft>
                <a:spcPts val="200"/>
              </a:spcAft>
              <a:defRPr sz="1100">
                <a:solidFill>
                  <a:srgbClr val="94A3B8"/>
                </a:solidFill>
                <a:latin typeface="Consolas"/>
              </a:defRPr>
            </a:pPr>
            <a:r>
              <a:t># Arrancar un clúster con Kind en 30 segundos:</a:t>
            </a:r>
          </a:p>
          <a:p>
            <a:pPr>
              <a:spcAft>
                <a:spcPts val="200"/>
              </a:spcAft>
              <a:defRPr sz="1100" b="1">
                <a:solidFill>
                  <a:srgbClr val="38BDF8"/>
                </a:solidFill>
                <a:latin typeface="Consolas"/>
              </a:defRPr>
            </a:pPr>
            <a:r>
              <a:t>$ kind create cluster --name curso-docker</a:t>
            </a:r>
          </a:p>
          <a:p>
            <a:pPr>
              <a:spcAft>
                <a:spcPts val="200"/>
              </a:spcAft>
              <a:defRPr sz="1100">
                <a:solidFill>
                  <a:srgbClr val="FFFFFF"/>
                </a:solidFill>
                <a:latin typeface="Consolas"/>
              </a:defRPr>
            </a:pPr>
            <a:r>
              <a:t>Creating cluster "curso-docker" ...</a:t>
            </a:r>
          </a:p>
          <a:p>
            <a:pPr>
              <a:spcAft>
                <a:spcPts val="200"/>
              </a:spcAft>
              <a:defRPr sz="1100">
                <a:solidFill>
                  <a:srgbClr val="FFFFFF"/>
                </a:solidFill>
                <a:latin typeface="Consolas"/>
              </a:defRPr>
            </a:pPr>
            <a:r>
              <a:t> ✓ Ensuring node image (kindest/node:v1.29.2)</a:t>
            </a:r>
          </a:p>
          <a:p>
            <a:pPr>
              <a:spcAft>
                <a:spcPts val="200"/>
              </a:spcAft>
              <a:defRPr sz="1100">
                <a:solidFill>
                  <a:srgbClr val="FFFFFF"/>
                </a:solidFill>
                <a:latin typeface="Consolas"/>
              </a:defRPr>
            </a:pPr>
            <a:r>
              <a:t> ✓ Preparing nodes</a:t>
            </a:r>
          </a:p>
          <a:p>
            <a:pPr>
              <a:spcAft>
                <a:spcPts val="200"/>
              </a:spcAft>
              <a:defRPr sz="1100">
                <a:solidFill>
                  <a:srgbClr val="FFFFFF"/>
                </a:solidFill>
                <a:latin typeface="Consolas"/>
              </a:defRPr>
            </a:pPr>
            <a:r>
              <a:t> ✓ Writing configuration</a:t>
            </a:r>
          </a:p>
          <a:p>
            <a:pPr>
              <a:spcAft>
                <a:spcPts val="200"/>
              </a:spcAft>
              <a:defRPr sz="1100">
                <a:solidFill>
                  <a:srgbClr val="FFFFFF"/>
                </a:solidFill>
                <a:latin typeface="Consolas"/>
              </a:defRPr>
            </a:pPr>
            <a:r>
              <a:t> ✓ Starting control-plane</a:t>
            </a:r>
          </a:p>
          <a:p>
            <a:pPr>
              <a:spcAft>
                <a:spcPts val="200"/>
              </a:spcAft>
              <a:defRPr sz="1100">
                <a:solidFill>
                  <a:srgbClr val="FFFFFF"/>
                </a:solidFill>
                <a:latin typeface="Consolas"/>
              </a:defRPr>
            </a:pPr>
            <a:r>
              <a:t>Set kubectl context to "kind-curso-docker"</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Verificar conexión:</a:t>
            </a:r>
          </a:p>
          <a:p>
            <a:pPr>
              <a:spcAft>
                <a:spcPts val="200"/>
              </a:spcAft>
              <a:defRPr sz="1100" b="1">
                <a:solidFill>
                  <a:srgbClr val="38BDF8"/>
                </a:solidFill>
                <a:latin typeface="Consolas"/>
              </a:defRPr>
            </a:pPr>
            <a:r>
              <a:t>$ kubectl cluster-info</a:t>
            </a:r>
          </a:p>
          <a:p>
            <a:pPr>
              <a:spcAft>
                <a:spcPts val="200"/>
              </a:spcAft>
              <a:defRPr sz="1100">
                <a:solidFill>
                  <a:srgbClr val="FFFFFF"/>
                </a:solidFill>
                <a:latin typeface="Consolas"/>
              </a:defRPr>
            </a:pPr>
            <a:r>
              <a:t>Kubernetes control plane is running at https://127.0.0.1:...</a:t>
            </a:r>
          </a:p>
          <a:p>
            <a:pPr>
              <a:spcAft>
                <a:spcPts val="200"/>
              </a:spcAft>
              <a:defRPr sz="1100">
                <a:solidFill>
                  <a:srgbClr val="FFFFFF"/>
                </a:solidFill>
                <a:latin typeface="Consolas"/>
              </a:defRPr>
            </a:pPr>
          </a:p>
          <a:p>
            <a:pPr>
              <a:spcAft>
                <a:spcPts val="200"/>
              </a:spcAft>
              <a:defRPr sz="1100">
                <a:solidFill>
                  <a:srgbClr val="94A3B8"/>
                </a:solidFill>
                <a:latin typeface="Consolas"/>
              </a:defRPr>
            </a:pPr>
            <a:r>
              <a:t># Destruir el clúster de prueba:</a:t>
            </a:r>
          </a:p>
          <a:p>
            <a:pPr>
              <a:spcAft>
                <a:spcPts val="200"/>
              </a:spcAft>
              <a:defRPr sz="1100" b="1">
                <a:solidFill>
                  <a:srgbClr val="38BDF8"/>
                </a:solidFill>
                <a:latin typeface="Consolas"/>
              </a:defRPr>
            </a:pPr>
            <a:r>
              <a:t>$ kind delete cluster --name curso-docker</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79 / 81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lIns="0" tIns="0">
            <a:spAutoFit/>
          </a:bodyPr>
          <a:lstStyle/>
          <a:p>
            <a:pPr>
              <a:defRPr sz="1100" b="1">
                <a:solidFill>
                  <a:srgbClr val="1D63ED"/>
                </a:solidFill>
                <a:latin typeface="Calibri"/>
              </a:defRPr>
            </a:pPr>
            <a:r>
              <a:t>DÍA 4 • TALLER PRÁCTICO</a:t>
            </a:r>
          </a:p>
          <a:p>
            <a:pPr>
              <a:defRPr sz="2800" b="1">
                <a:solidFill>
                  <a:srgbClr val="1E293B"/>
                </a:solidFill>
                <a:latin typeface="Calibri"/>
              </a:defRPr>
            </a:pPr>
            <a:r>
              <a:t>Laboratorio 5: Despliegue de App en Kubernetes</a:t>
            </a:r>
          </a:p>
        </p:txBody>
      </p:sp>
      <p:sp>
        <p:nvSpPr>
          <p:cNvPr id="4" name="Rounded Rectangle 3"/>
          <p:cNvSpPr/>
          <p:nvPr/>
        </p:nvSpPr>
        <p:spPr>
          <a:xfrm>
            <a:off x="731520" y="1645920"/>
            <a:ext cx="10698480" cy="4572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274320" rIns="274320" tIns="228600"/>
          <a:lstStyle/>
          <a:p>
            <a:pPr algn="ctr">
              <a:defRPr sz="1800" b="1">
                <a:solidFill>
                  <a:srgbClr val="1E293B"/>
                </a:solidFill>
                <a:latin typeface="Calibri"/>
              </a:defRPr>
            </a:pPr>
            <a:r>
              <a:t>Objetivos y Pasos del Ejercicio Práctico</a:t>
            </a:r>
          </a:p>
          <a:p>
            <a:pPr>
              <a:spcAft>
                <a:spcPts val="1000"/>
              </a:spcAft>
              <a:defRPr sz="1400">
                <a:latin typeface="Calibri"/>
              </a:defRPr>
            </a:pPr>
            <a:r>
              <a:rPr b="1">
                <a:solidFill>
                  <a:srgbClr val="1E293B"/>
                </a:solidFill>
              </a:rPr>
              <a:t>• Paso 1: </a:t>
            </a:r>
            <a:r>
              <a:rPr b="0">
                <a:solidFill>
                  <a:srgbClr val="1E293B"/>
                </a:solidFill>
              </a:rPr>
              <a:t>Verificar el acceso al clúster local (`kubectl get nodes`, `kubectl cluster-info`).</a:t>
            </a:r>
          </a:p>
          <a:p>
            <a:pPr>
              <a:spcAft>
                <a:spcPts val="1000"/>
              </a:spcAft>
              <a:defRPr sz="1400">
                <a:latin typeface="Calibri"/>
              </a:defRPr>
            </a:pPr>
            <a:r>
              <a:rPr b="1">
                <a:solidFill>
                  <a:srgbClr val="1E293B"/>
                </a:solidFill>
              </a:rPr>
              <a:t>• Paso 2: </a:t>
            </a:r>
            <a:r>
              <a:rPr b="0">
                <a:solidFill>
                  <a:srgbClr val="1E293B"/>
                </a:solidFill>
              </a:rPr>
              <a:t>Redactar el manifiesto `deployment.yaml` para una aplicación web con 3 réplicas y límites de recursos de memoria y CPU.</a:t>
            </a:r>
          </a:p>
          <a:p>
            <a:pPr>
              <a:spcAft>
                <a:spcPts val="1000"/>
              </a:spcAft>
              <a:defRPr sz="1400">
                <a:latin typeface="Calibri"/>
              </a:defRPr>
            </a:pPr>
            <a:r>
              <a:rPr b="1">
                <a:solidFill>
                  <a:srgbClr val="1E293B"/>
                </a:solidFill>
              </a:rPr>
              <a:t>• Paso 3: </a:t>
            </a:r>
            <a:r>
              <a:rPr b="0">
                <a:solidFill>
                  <a:srgbClr val="1E293B"/>
                </a:solidFill>
              </a:rPr>
              <a:t>Aplicar el manifiesto declarativamente (`kubectl apply -f deployment.yaml`) y observar la creación concurrente de los Pods.</a:t>
            </a:r>
          </a:p>
          <a:p>
            <a:pPr>
              <a:spcAft>
                <a:spcPts val="1000"/>
              </a:spcAft>
              <a:defRPr sz="1400">
                <a:latin typeface="Calibri"/>
              </a:defRPr>
            </a:pPr>
            <a:r>
              <a:rPr b="1">
                <a:solidFill>
                  <a:srgbClr val="1E293B"/>
                </a:solidFill>
              </a:rPr>
              <a:t>• Paso 4: </a:t>
            </a:r>
            <a:r>
              <a:rPr b="0">
                <a:solidFill>
                  <a:srgbClr val="1E293B"/>
                </a:solidFill>
              </a:rPr>
              <a:t>Redactar y aplicar el manifiesto `service.yaml` exponiendo el puerto del servicio mediante `NodePort` o `ClusterIP`.</a:t>
            </a:r>
          </a:p>
          <a:p>
            <a:pPr>
              <a:spcAft>
                <a:spcPts val="1000"/>
              </a:spcAft>
              <a:defRPr sz="1400">
                <a:latin typeface="Calibri"/>
              </a:defRPr>
            </a:pPr>
            <a:r>
              <a:rPr b="1">
                <a:solidFill>
                  <a:srgbClr val="1E293B"/>
                </a:solidFill>
              </a:rPr>
              <a:t>• Paso 5: </a:t>
            </a:r>
            <a:r>
              <a:rPr b="0">
                <a:solidFill>
                  <a:srgbClr val="1E293B"/>
                </a:solidFill>
              </a:rPr>
              <a:t>Probar la conectividad y el balanceo de carga automático entre las 3 réplicas mediante peticiones repetidas.</a:t>
            </a:r>
          </a:p>
          <a:p>
            <a:pPr>
              <a:spcAft>
                <a:spcPts val="1000"/>
              </a:spcAft>
              <a:defRPr sz="1400">
                <a:latin typeface="Calibri"/>
              </a:defRPr>
            </a:pPr>
            <a:r>
              <a:rPr b="1">
                <a:solidFill>
                  <a:srgbClr val="1E293B"/>
                </a:solidFill>
              </a:rPr>
              <a:t>• Paso 6: </a:t>
            </a:r>
            <a:r>
              <a:rPr b="0">
                <a:solidFill>
                  <a:srgbClr val="1E293B"/>
                </a:solidFill>
              </a:rPr>
              <a:t>Simular la caída de un Pod con `kubectl delete pod &lt;nombre&gt;` y comprobar cómo el bucle de reconciliación levanta uno nuevo en segundos.</a:t>
            </a:r>
          </a:p>
          <a:p>
            <a:pPr>
              <a:spcAft>
                <a:spcPts val="1000"/>
              </a:spcAft>
              <a:defRPr sz="1400">
                <a:latin typeface="Calibri"/>
              </a:defRPr>
            </a:pPr>
            <a:r>
              <a:rPr b="1">
                <a:solidFill>
                  <a:srgbClr val="1E293B"/>
                </a:solidFill>
              </a:rPr>
              <a:t>• Paso 7: </a:t>
            </a:r>
            <a:r>
              <a:rPr b="0">
                <a:solidFill>
                  <a:srgbClr val="1E293B"/>
                </a:solidFill>
              </a:rPr>
              <a:t>Realizar un Rolling Update modificando la versión de la imagen en el Deployment y observar el proceso de actualización sin corte de servicio.</a:t>
            </a:r>
          </a:p>
        </p:txBody>
      </p:sp>
      <p:sp>
        <p:nvSpPr>
          <p:cNvPr id="5" name="TextBox 4"/>
          <p:cNvSpPr txBox="1"/>
          <p:nvPr/>
        </p:nvSpPr>
        <p:spPr>
          <a:xfrm>
            <a:off x="10332720" y="6446520"/>
            <a:ext cx="1645920" cy="320040"/>
          </a:xfrm>
          <a:prstGeom prst="rect">
            <a:avLst/>
          </a:prstGeom>
          <a:noFill/>
        </p:spPr>
        <p:txBody>
          <a:bodyPr wrap="none" lIns="0" tIns="0" rIns="0" bIns="0">
            <a:spAutoFit/>
          </a:bodyPr>
          <a:lstStyle/>
          <a:p>
            <a:pPr algn="r">
              <a:defRPr sz="900">
                <a:solidFill>
                  <a:srgbClr val="0DB7ED"/>
                </a:solidFill>
                <a:latin typeface="Calibri"/>
              </a:defRPr>
            </a:pPr>
            <a:r>
              <a:t>80 / 81</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D3A"/>
          </a:solidFill>
          <a:ln>
            <a:solidFill>
              <a:srgbClr val="0B1D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32720" cy="457200"/>
          </a:xfrm>
          <a:prstGeom prst="rect">
            <a:avLst/>
          </a:prstGeom>
          <a:noFill/>
        </p:spPr>
        <p:txBody>
          <a:bodyPr wrap="square">
            <a:spAutoFit/>
          </a:bodyPr>
          <a:lstStyle/>
          <a:p>
            <a:pPr>
              <a:defRPr sz="1300" b="1">
                <a:solidFill>
                  <a:srgbClr val="0DB7ED"/>
                </a:solidFill>
                <a:latin typeface="Calibri"/>
              </a:defRPr>
            </a:pPr>
            <a:r>
              <a:t>CIERRE DEL CURSO • CERTIFICACIÓN</a:t>
            </a:r>
          </a:p>
        </p:txBody>
      </p:sp>
      <p:sp>
        <p:nvSpPr>
          <p:cNvPr id="4" name="TextBox 3"/>
          <p:cNvSpPr txBox="1"/>
          <p:nvPr/>
        </p:nvSpPr>
        <p:spPr>
          <a:xfrm>
            <a:off x="914400" y="1828800"/>
            <a:ext cx="10332720" cy="2194560"/>
          </a:xfrm>
          <a:prstGeom prst="rect">
            <a:avLst/>
          </a:prstGeom>
          <a:noFill/>
        </p:spPr>
        <p:txBody>
          <a:bodyPr wrap="square">
            <a:spAutoFit/>
          </a:bodyPr>
          <a:lstStyle/>
          <a:p>
            <a:pPr>
              <a:defRPr sz="4000" b="1">
                <a:solidFill>
                  <a:srgbClr val="FFFFFF"/>
                </a:solidFill>
                <a:latin typeface="Calibri"/>
              </a:defRPr>
            </a:pPr>
            <a:r>
              <a:t>¡ENHORABUENA! CURSO COMPLETADO</a:t>
            </a:r>
          </a:p>
        </p:txBody>
      </p:sp>
      <p:sp>
        <p:nvSpPr>
          <p:cNvPr id="5" name="TextBox 4"/>
          <p:cNvSpPr txBox="1"/>
          <p:nvPr/>
        </p:nvSpPr>
        <p:spPr>
          <a:xfrm>
            <a:off x="914400" y="4114800"/>
            <a:ext cx="10332720" cy="1645920"/>
          </a:xfrm>
          <a:prstGeom prst="rect">
            <a:avLst/>
          </a:prstGeom>
          <a:noFill/>
        </p:spPr>
        <p:txBody>
          <a:bodyPr wrap="square">
            <a:spAutoFit/>
          </a:bodyPr>
          <a:lstStyle/>
          <a:p>
            <a:pPr>
              <a:defRPr sz="2000">
                <a:solidFill>
                  <a:srgbClr val="64748B"/>
                </a:solidFill>
                <a:latin typeface="Calibri"/>
              </a:defRPr>
            </a:pPr>
            <a:r>
              <a:t>20 Horas Lectivas • Docker Fundamentals</a:t>
            </a:r>
            <a:br/>
            <a:r>
              <a:t>Has dominado: Motor OCI, Seguridad de Kernel, Redes, Persistencia, Cloud y Kubernetes.</a:t>
            </a:r>
            <a:br/>
            <a:r>
              <a:t>¡El camino hacia Cloud Native continúa!</a:t>
            </a:r>
          </a:p>
        </p:txBody>
      </p:sp>
      <p:sp>
        <p:nvSpPr>
          <p:cNvPr id="6" name="TextBox 5"/>
          <p:cNvSpPr txBox="1"/>
          <p:nvPr/>
        </p:nvSpPr>
        <p:spPr>
          <a:xfrm>
            <a:off x="10332720" y="6446520"/>
            <a:ext cx="1645920" cy="320040"/>
          </a:xfrm>
          <a:prstGeom prst="rect">
            <a:avLst/>
          </a:prstGeom>
          <a:noFill/>
        </p:spPr>
        <p:txBody>
          <a:bodyPr wrap="none" lIns="0" tIns="0" rIns="0" bIns="0">
            <a:spAutoFit/>
          </a:bodyPr>
          <a:lstStyle/>
          <a:p>
            <a:pPr algn="r">
              <a:defRPr sz="900">
                <a:solidFill>
                  <a:srgbClr val="64748B"/>
                </a:solidFill>
                <a:latin typeface="Calibri"/>
              </a:defRPr>
            </a:pPr>
            <a:r>
              <a:t>81 / 81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