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Dar la bienvenida a los alumnos, presentar la estructura formativa de 20 horas (4 días de 5 horas) y contextualizar el papel de Docker como estándar industrial de facto.
📖 Guion y Explicación Técnica:
- Docker revolucionó la industria en 2013 al estandarizar el empaquetado de aplicaciones basándose en capacidades preexistentes del kernel de Linux (LXC, cgroups, namespaces).
- Evolucionó creando libcontainer y donando las especificaciones centrales a la Open Container Initiative (OCI), lo que garantiza portabilidad absoluta entre entornos.
- Durante esta primera jornada de 5 horas dominaremos los fundamentos internos, la arquitectura del motor, el modelo de aislamiento del kernel y la creación profesional de imágenes mediante Dockerfile.
💬 Puntos de Interacción / Preguntas:
¿Cuántos de vosotros habéis sufrido el síndrome de "en mi máquina funciona pero en producción falla"? ¿Qué discrepancias de entorno solían originarlo?
🛠️ Instrucciones de Laboratorio:
Comprobación de conectividad y entorno local: ejecutar `docker version` y `docker info` para verificar que el socket del motor responde sin requerir sudo.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al alumno por qué la industria migró de servidores físicos y máquinas virtuales a contenedores.
📖 Guion y Explicación Técnica:
- Analizar la "Matriz del Infierno": N aplicaciones desarrolladas con distintas versiones de Python, Node.js o Java, desplegadas sobre M entornos físicos, virtuales y en la nube.
- La metáfora del contenedor marítimo estándar (ISO 668 de 1956): no importa el contenido ni el medio de transporte; la interfaz de carga y manipulación es universal.
- El contenedor proporciona inmutabilidad: el artefacto generado por el desarrollador es bit a bit el mismo que se ejecuta en producción.
💬 Puntos de Interacción / Preguntas:
¿Cuánto tiempo tarda vuestra organización en preparar un nuevo entorno para un desarrollador o desplegar un parche urgente en producción?
🛠️ Instrucciones de Laboratorio:
Ejecutar `time docker run --rm alpine echo "Arranque en milisegundos"` para observar la velocidad de inicio de un proceso contenedorizado.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Desmitificar que un contenedor es una máquina virtual ligera. Comparar la virtualización por hipervisor frente al aislamiento a nivel de sistema operativo.
📖 Guion y Explicación Técnica:
- Las máquinas virtuales introducen un Hipervisor (Tipo 1 o Tipo 2) que emula controladores de hardware, tablas de páginas y tarjetas de red virtuales.
- Cada VM carga un kernel completo en memoria RAM (500MB a 2GB de overhead por máquina solo para el sistema operativo huésped).
- Los contenedores comparten un único kernel de Linux en el host. La CPU ejecuta las instrucciones del contenedor nativamente en Ring 3 (espacio de usuario).
💬 Puntos de Interacción / Preguntas:
Si ejecutamos "uname -r" dentro de un contenedor Debian y luego en el host anfitrión Ubuntu, ¿qué versión vemos y por qué?
🛠️ Instrucciones de Laboratorio:
Comprobar en la terminal: `uname -r &amp;&amp; docker run --rm debian uname -r`.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Demostrar que en el código fuente de Linux no existe el objeto "contenedor"; es solo un proceso regular con restricciones de visibilidad y cuotas.
📖 Guion y Explicación Técnica:
- Explicar la estructura de datos `task_struct` en el código fuente de Linux.
- Cada proceso tiene en `/proc/&lt;PID&gt;/ns/` enlaces simbólicos a sus namespaces activos.
- Con `ps -ef` en el host vemos exactamente el mismo proceso que dentro del contenedor se ve como PID 1.
- Si enviamos un `kill -9` al PID en el host, el contenedor muere instantáneamente porque es el mismo proceso.
💬 Puntos de Interacción / Preguntas:
Si un contenedor es solo un proceso, ¿qué ocurre si un atacante escapa del contenedor? ¿En qué usuario aterriza?
🛠️ Instrucciones de Laboratorio:
Lanzar un Nginx en segundo plano, inspeccionar su PID con `docker inspect` y buscarlo en el árbol de procesos del sistema anfitrión.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las capas internas del motor y la transición de un daemon monolítico a una arquitectura modular conforme a estándares OCI.
📖 Guion y Explicación Técnica:
- Históricamente, si el daemon dockerd se detenía o actualizaba, todos los contenedores en ejecución morían.
- Hoy en día dockerd delega en containerd (gestor del ciclo de vida) y este en runc (ejecutable OCI que hace los clone() y namespaces).
- Gracias a containerd-shim y la opción Live Restore, el daemon puede reiniciarse o actualizarse sin interrumpir el tráfico de los contenedores.
💬 Puntos de Interacción / Preguntas:
¿Qué estándar gobierna el formato de imágenes y el runtime de ejecución? (Open Container Initiative - OCI).
🛠️ Instrucciones de Laboratorio:
Inspeccionar los procesos del motor con `ps -ef | grep -E "dockerd|containerd|containerd-shim"`.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Aclarar una de las confusiones más comunes en Linux: la diferencia entre el paquete oficial de Docker Inc y el empaquetado por las distribuciones.
📖 Guion y Explicación Técnica:
- El paquete "docker.io" de los repositorios de Ubuntu/Debian suele estar meses o años desfasado y no incluye los plugins modernos.
- El paquete oficial "docker-ce" (Community Edition) proporciona las últimas actualizaciones de seguridad, Buildx y Docker Compose v2.
- Siempre se debe añadir el repositorio oficial de Docker (`download.docker.com`) con su clave GPG para servidores de desarrollo y producción.
💬 Puntos de Interacción / Preguntas:
¿Qué problemas pueden ocurrir si ejecutamos un fichero docker-compose.yml moderno sobre una versión antigua de docker.io?
🛠️ Instrucciones de Laboratorio:
Verificar la procedencia del paquete instalado con `apt-cache policy docker-ce docker.io`.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el modelo de seguridad en capas: aislamiento de visibilidad (namespaces), contención de recursos (cgroups) y minimización de privilegios.
📖 Guion y Explicación Técnica:
- El modelo de seguridad de Docker no depende de una única barrera sino de capas concéntricas defensivas.
- Por defecto, Docker aplica un perfil Seccomp con más de 300 syscalls bloqueadas (como reboot, mount, swapon, ioperm).
- Incluso si un atacante obtiene root en el contenedor, el kernel le prohíbe realizar operaciones que afecten al anfitrión.
💬 Puntos de Interacción / Preguntas:
Si un atacante consigue ser root en un contenedor por defecto, ¿puede reiniciar el servidor físico con el comando reboot?
🛠️ Instrucciones de Laboratorio:
Probar a ejecutar reboot dentro de un contenedor: `docker run --rm alpine reboot` y observar el error Operation not permitted.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Detallar los 6 namespaces del kernel de Linux y cómo cada uno proporciona aislamiento a una dimensión del sistema operativo.
📖 Guion y Explicación Técnica:
- Explicar cómo la syscall clone() combina las flags CLONE_NEW* para crear el proceso.
- PID: árbol de procesos propio; NET: interfaces virtuales y puertos; MNT: puntos de montaje; IPC: memoria compartida; UTS: hostname; USER: asignación de UID.
- El User Namespace es la clave del modo Rootless, permitiendo que el root dentro del contenedor sea un UID no privilegiado (ej. 100000) en el host.
💬 Puntos de Interacción / Preguntas:
¿Por qué es fundamental que cada contenedor tenga su propio UTS namespace? (Permite nombres de host independientes).
🛠️ Instrucciones de Laboratorio:
Verificar el hostname aislado: `hostname &amp;&amp; docker run --rm alpine hostname`.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Instruir a los alumnos en el uso de límites de CPU, memoria y PIDs como buena práctica obligatoria en producción.
📖 Guion y Explicación Técnica:
- El problema del "vecino ruidoso" (noisy neighbor): un contenedor con un bucle infinito o una fuga de memoria puede tirar el servidor entero.
- Cgroups v2 introduce una jerarquía unificada en `/sys/fs/cgroup` con métricas de presión de recursos (PSI).
- Si un contenedor supera su límite `--memory`, el kernel OOM Killer liquida el proceso del contenedor pero el host permanece intacto.
💬 Puntos de Interacción / Preguntas:
¿Qué ocurre en un servidor sin límites si un microservicio experimenta una fuga de memoria (memory leak) incontrolada?
🛠️ Instrucciones de Laboratorio:
Arrancar un contenedor con límite de memoria y observar las métricas con `docker stats --no-stream`.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Enseñar a blindar la ejecución de contenedores eliminando permisos innecesarios y prohibir el uso de `--privileged`.
📖 Guion y Explicación Técnica:
- Linux divide el poder tradicional de root en unas 40 capabilities independientes (CAP_NET_BIND_SERVICE, CAP_CHOWN, CAP_KILL).
- Por defecto Docker retira capabilities peligrosas como CAP_SYS_ADMIN.
- El flag `--privileged` es el antipatrón más peligroso: desactiva Seccomp, AppArmor y concede acceso directo a todos los dispositivos del host.
- La mejor práctica es `--cap-drop=ALL` y añadir únicamente las indispensables.
💬 Puntos de Interacción / Preguntas:
¿Por qué un servidor web en un puerto bajo (&lt;1024) necesita CAP_NET_BIND_SERVICE si se ejecuta como usuario no root?
🛠️ Instrucciones de Laboratorio:
Comprobar el bloqueo de red con `--cap-drop=ALL`: `docker run --rm --cap-drop=ALL alpine ping -c 1 8.8.8.8`.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Fijar el concepto de imagen como plantilla estática de solo lectura y alertar sobre los riesgos de usar el tag :latest en producción.
📖 Guion y Explicación Técnica:
- Una imagen es un archivo binario empaquetado que contiene el código, el runtime, librerías y metadatos.
- Es estrictamente inmutable: una vez compilada, jamás se altera; se genera una nueva versión con nuevo digest SHA-256.
- Estructura de referencia: [registry]/[namespace]/[repositorio]:[tag].
- El tag :latest no significa "última versión estable", sino la etiqueta por defecto al hacer build. En producción siempre usar versiones semánticas fijas.
💬 Puntos de Interacción / Preguntas:
Si descargamos "node:20" hoy y dentro de 6 meses volvemos a hacer pull, ¿tendremos los mismos bytes si el autor actualizó la imagen?
🛠️ Instrucciones de Laboratorio:
Inspeccionar el hash criptográfico único: `docker inspect --format="{{.RepoDigests}}" nginx:alpine`.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cómo se apilan las capas de solo lectura y por qué múltiples contenedores comparten las mismas capas sin duplicar espacio en disco.
📖 Guion y Explicación Técnica:
- Cada instrucción en un Dockerfile genera una capa inmutable que representa un diff del sistema de archivos.
- Overlay2 combina los directorios lowerdir (capas de imagen) con el upperdir (capa del contenedor) presentándolo como un único árbol merged.
- Múltiples contenedores basados en la misma imagen consumen 0 bytes adicionales para la imagen base.
💬 Puntos de Interacción / Preguntas:
Si 100 contenedores arrancan desde una imagen de 1GB, ¿cuánto espacio real en disco ocupan las capas base en el servidor?
🛠️ Instrucciones de Laboratorio:
Inspeccionar el historial de capas de una imagen: `docker image history nginx:alpine`.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la relación Clase-Objeto y cómo funciona la capa efímera de lectura/escritura mediante Copy-on-Write.
📖 Guion y Explicación Técnica:
- Analogía de programación: la Imagen es la Clase (definición inmutable); el Contenedor es el Objeto instanciado en memoria.
- Al instanciar un contenedor, Docker añade una delgada capa R/W en la parte superior.
- Si el contenedor modifica un fichero de la imagen, el kernel hace un copy_up hacia la capa superior antes de escribir.
- Con `docker diff` podemos auditar en tiempo real qué ficheros han sido modificados (C), añadidos (A) o borrados (D).
💬 Puntos de Interacción / Preguntas:
¿Qué penalización de rendimiento tiene modificar por primera vez un archivo de 5GB que reside en una capa de la imagen?
🛠️ Instrucciones de Laboratorio:
Modificar un archivo en un contenedor y auditar los cambios con `docker diff`.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Enseñar los estados del contenedor y la importancia crítica de cómo el proceso PID 1 gestiona las señales de apagado limpio (SIGTERM vs SIGKILL).
📖 Guion y Explicación Técnica:
- Recorrer los estados: Created, Running, Paused, Stopped (Exited) y Dead.
- Al parar un contenedor (`docker stop`), se envía primero una señal SIGTERM (señal 15) para permitir cierre limpio.
- Si la aplicación no finaliza en el periodo de gracia (por defecto 10 segundos), el daemon envía SIGKILL (señal 9).
- En Linux el PID 1 ignora por defecto señales si la aplicación no registra un manejador explícito; de ahí la importancia del flag `--init`.
💬 Puntos de Interacción / Preguntas:
¿Por qué a veces "docker stop" tarda exactamente 10 segundos en detener un contenedor de Node.js o Python?
🛠️ Instrucciones de Laboratorio:
Crear un contenedor en estado Created con `docker create`, verificar con `docker ps -a` y arrancarlo con `docker start`.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Familiarizar a los alumnos con los comandos de terminal que utilizarán el 90% del tiempo durante el curso.
📖 Guion y Explicación Técnica:
- Explicar la diferencia entre la sintaxis tradicional (`docker run`, `docker ps`) y la sintaxis estructurada por objetos (`docker container run`, `docker image ls`).
- Destacar los flags obligatorios: `-d` (segundo plano / detached), `-p` (publicación de puertos), `--name` (nombre explícito).
- Enseñar el uso de `docker system df` y `docker system prune -af` para liberar espacio en disco en servidores de desarrollo.
💬 Puntos de Interacción / Preguntas:
¿Cuál es la diferencia entre "docker stop" y "docker rm -f"? ¿Por qué no deberíamos abusar de -f?
🛠️ Instrucciones de Laboratorio:
Lanzar un contenedor Nginx publicando el puerto 8080:80, probar con curl y verificar logs con `docker logs -f`.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Introducir la sintaxis y filosofía del Dockerfile como receta auditable y reproducible bajo Infraestructura como Código.
📖 Guion y Explicación Técnica:
- Un Dockerfile es un archivo declarativo de texto plano con instrucciones secuenciales.
- Se almacena en el repositorio Git junto al código fuente, permitiendo trazabilidad y CI/CD automatizado.
- El motor moderno BuildKit analiza las dependencias del Dockerfile y puede paralelizar ramas de compilación independientes.
- Repasar la anatomía básica: FROM, WORKDIR, COPY, RUN, USER, EXPOSE y CMD.
💬 Puntos de Interacción / Preguntas:
¿Por qué copiamos package.json antes que el resto de archivos de la aplicación? (Aprovechamiento de caché).
🛠️ Instrucciones de Laboratorio:
Inspeccionar la ayuda de BuildKit: `DOCKER_BUILDKIT=1 docker build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Clarificar la diferencia vital entre RUN (momento build) y CMD/ENTRYPOINT (momento ejecución), y la diferencia entre la forma exec y shell.
📖 Guion y Explicación Técnica:
- RUN ejecuta comandos durante la creación de la imagen y genera una nueva capa inmutable en el sistema de archivos.
- ENTRYPOINT define el ejecutable inamovible que siempre corre al arrancar el contenedor.
- CMD define argumentos por defecto que se pasan a ENTRYPOINT, o el comando ejecutable por defecto si no hay ENTRYPOINT.
- Sintaxis Exec obligatoria: ["prog", "arg"] ejecuta directamente como PID 1. La sintaxis shell `CMD prog` arranca `/bin/sh -c` como PID 1 impidiendo la recepción de señales.
💬 Puntos de Interacción / Preguntas:
¿Cuál es la diferencia entre EXPOSE 80 en el Dockerfile y -p 8080:80 en docker run?
🛠️ Instrucciones de Laboratorio:
Probar la ejecución de comandos en formato shell vs exec con `docker run --rm alpine sh -c "echo Formato shell"`.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que el orden de las instrucciones en el Dockerfile determina directamente la velocidad del pipeline de CI/CD.
📖 Guion y Explicación Técnica:
- Regla de oro: colocar las instrucciones que menos cambian al principio del Dockerfile y las que más cambian al final.
- Invalidación en cascada: en cuanto una capa cambia (un `COPY . .`), todas las instrucciones posteriores rompen caché y se recompilan.
- Uso estricto de `.dockerignore` para no subir `node_modules` ni `.git` al contexto de build.
- Encadenar `apt-get update &amp;&amp; apt-get install &amp;&amp; rm -rf /var/lib/apt/lists/*` en un solo RUN para no almacenar cachés de paquetes.
💬 Puntos de Interacción / Preguntas:
Si en un RUN haces apt-get update y en otro RUN haces apt-get install, ¿qué problema de caché ocurrirá cuando pasen los meses?
🛠️ Instrucciones de Laboratorio:
Inspeccionar cómo BuildKit muestra `CACHED` en la terminal durante reconstrucciones consecutivas.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los Multi-Stage Builds como el estándar profesional obligatorio para construir imágenes listas para producción.
📖 Guion y Explicación Técnica:
- Separar el entorno de compilación (builder) del runtime final de producción.
- La etapa builder contiene compiladores pesados (gcc, Go, Maven, Node completo) que pesan cientos de megabytes.
- La etapa final utiliza una imagen minimalista (Alpine, Distroless o Scratch) y solo copia el binario compilado mediante `COPY --from=builder`.
- Reduce el tamaño de 800MB a 15MB y elimina más del 95% de los CVEs al no contener herramientas de desarrollo explotables.
💬 Puntos de Interacción / Preguntas:
¿Por qué dejar herramientas como gcc, git o curl en una imagen de producción facilita el trabajo a un atacante que logre ejecutar comandos remotos?
🛠️ Instrucciones de Laboratorio:
Construir una imagen con multi-stage en Go o Node y comparar su tamaño final con `docker images`.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Establecer las bases arquitectónicas de microservicios y anticipar los problemas que resolveremos en los Módulos 2 (Redes) y 3 (Almacenamiento).
📖 Guion y Explicación Técnica:
- La regla de oro: un proceso principal por contenedor. No empaquetar Apache, PHP y MySQL en la misma imagen.
- Permite escalado independiente: si el frontend se satura, escalamos solo los contenedores frontend sin duplicar la base de datos.
- Aislamiento de fallos: si un microservicio experimenta una fuga de memoria, no tumba el resto de componentes.
- Plantea los retos que resolveremos a continuación: ¿Cómo se comunican entre sí? (Redes). ¿Dónde guardan datos persistentes? (Volúmenes).
💬 Puntos de Interacción / Preguntas:
¿Qué problemas presenta usar systemd dentro de un contenedor para arrancar varios demonios a la vez?
🛠️ Instrucciones de Laboratorio:
Inspeccionar cómo varios contenedores independientes aparecen en la lista de `docker ps`.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Guiar a los alumnos en su primer laboratorio práctico de 60-75 minutos para afianzar todos los conceptos y comandos vistos en la jornada 1.
📖 Guion y Explicación Técnica:
- Los alumnos seguirán los 7 pasos en sus terminales.
- Puntos críticos a vigilar: el punto final en `docker build -t mi-app:1.0 .` (el build context) y los posibles conflictos de puertos en el host.
- Verificar que todos consiguen invocar `curl http://localhost:8080` y comprobar las métricas de `docker stats`.
💬 Puntos de Interacción / Preguntas:
¿Quién ha experimentado un fallo al compilar por olvidar el punto final del build context? ¿Por qué es necesario ese punto?
🛠️ Instrucciones de Laboratorio:
- 1. Verificar instalación: `docker version` y `docker info`.
- 2. Explorar contenedor interactivo: `docker run -it alpine sh`.
- 3. Crear Dockerfile para app web e incluir `.dockerignore`.
- 4. Construir imagen: `docker build -t lab1-app:1.0 .`.
- 5. Ejecutar contenedor: `docker run -d -p 8080:80 --name web lab1-app:1.0`.
- 6. Verificar con `curl http://localhost:8080` y revisar `docker logs web`.
- 7. Limpieza ordenada con `docker stop web` y `docker rm web`.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Recapitular los aprendizajes de las 5 horas del Día 1, resolver dudas abiertas y hacer el puente pedagógico hacia el Día 2.
📖 Guion y Explicación Técnica:
- Hacer un repaso rápido de los conceptos clave aprendidos: un contenedor es un proceso de Linux protegido por namespaces y limitado por cgroups.
- Recordar que mañana entraremos en el Módulo 2 (Redes: bridge, host, overlay, DNS integrado e iptables) y Módulo 3 (Persistencia de datos: volúmenes vs bind mounts vs tmpfs).
- Atender preguntas finales de los alumnos sobre el laboratorio.
💬 Puntos de Interacción / Preguntas:
¿Cuál ha sido el concepto técnico que más os ha sorprendido hoy sobre cómo funcionan realmente los contenedores?
🛠️ Instrucciones de Laboratorio:
Verificar que todos los alumnos han limpiado sus contenedores de prueba con `docker ps -a` antes de cerrar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Introducir los principios de conectividad en contenedores y presentar la agenda del Módulo 2.
📖 Guion y Explicación Técnica:
- Cada contenedor dispone de su propio Network Namespace con interfaces y tablas de enrutamiento privadas.
- Docker conecta el contenedor al host mediante cables virtuales denominados pares veth (virtual ethernet).
- Analizaremos por qué la red bridge por defecto carece de resolución DNS y por qué las redes personalizadas son obligatorias en microservicios.
💬 Puntos de Interacción / Preguntas:
¿Cómo puede un contenedor hablar con otro en la misma máquina si cada uno tiene su propia IP privada?
🛠️ Instrucciones de Laboratorio:
Listar las redes predeterminadas con `docker network ls` e inspeccionar el bridge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visualmente cómo se conectan los contenedores al host usando pares veth y conmutación L2.
📖 Guion y Explicación Técnica:
- La llamada del kernel `ip link add veth0 type veth peer name veth1` crea un cable virtual bidireccional.
- Un extremo se traslada al Network Namespace del contenedor y se renombra a `eth0`. El otro se conecta al puente `docker0` del host.
- El puente `docker0` opera como un switch Ethernet de nivel 2 (L2) conmutando paquetes entre las interfaces conectadas.
- El acceso a Internet se realiza mediante reglas iptables MASQUERADE (NAT) sobre la tarjeta física `eth0` del anfitrión.
💬 Puntos de Interacción / Preguntas:
¿Puede un contenedor capturar el tráfico de otro si no están en la misma subred ni comparten bridge?
🛠️ Instrucciones de Laboratorio:
Inspeccionar el bridge en el host con `ip addr show docker0` y listar las interfaces veth activas con `ip link show type veth`.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Advertir sobre la trampa común de usar la red bridge por defecto y la ausencia de servidor DNS automático.
📖 Guion y Explicación Técnica:
- Por defecto, todo contenedor sin flag `--network` se conecta a `bridge` (habitualmente subred 172.17.0.0/16).
- En el bridge por defecto NO hay resolución DNS automática: `ping backend` fallará irremediablemente.
- Forzar comunicación por IPs fijas es un antipatrón grave: al reiniciar un contenedor su IP puede cambiar.
- El flag legacy `--link` está obsoleto desde Docker 1.9 y jamás debe emplearse en proyectos modernos.
💬 Puntos de Interacción / Preguntas:
¿Por qué conectar una base de datos y un backend en la red bridge por defecto es una fuente garantizada de incidencias?
🛠️ Instrucciones de Laboratorio:
Comprobar el fallo de DNS en la red bridge por defecto arrancando dos contenedores e intentando hacer ping por nombre.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Demostrar el uso de redes creadas por el usuario con resolución de nombres DNS automática mediante el servidor embebido 127.0.0.11.
📖 Guion y Explicación Técnica:
- En las redes personalizadas, Docker levanta un resolver DNS embebido en 127.0.0.11.
- Si un contenedor consulta por el nombre de otro en la misma red, Docker devuelve instantáneamente su IP actual.
- Si la consulta es por un dominio externo (google.com), la reenvía a los servidores DNS configurados en el host.
- Permite aislamiento estricto: contenedores en redes distintas no pueden enviarse paquetes entre sí aunque estén en el mismo host.
💬 Puntos de Interacción / Preguntas:
¿Qué sucede si conectamos un contenedor simultáneamente a dos redes personalizadas distintas? (Doble interfaz y acceso a ambos entornos).
🛠️ Instrucciones de Laboratorio:
Crear una red personalizada con `docker network create red-interna` y verificar la resolución de nombres con 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con precisión técnica cómo el tráfico entrante llega desde el exterior al contenedor vía iptables DNAT y docker-proxy.
📖 Guion y Explicación Técnica:
- Diferenciar `-p` (mapeo explícito) de `-P` (mapeo efímero a puertos aleatorios altos 32768-60999).
- Al omitir la IP del host (`-p 8080:80`), Docker vincula a 0.0.0.0 (todas las interfaces, incluyendo Internet público).
- Para desarrollo local seguro, especificar siempre `-p 127.0.0.1:8080:80`.
- En el kernel de Linux, Docker añade reglas en la cadena PREROUTING de la tabla nat (DNAT) y arranca el demonio docker-proxy.
💬 Puntos de Interacción / Preguntas:
¿Por qué en Ubuntu las reglas de Docker pueden saltarse las restricciones de UFW si no se configura explícitamente iptables=false?
🛠️ Instrucciones de Laboratorio:
Inspeccionar el mapeo activo con `docker port mi-contenedor`.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Evaluar el trade-off de rendimiento frente a seguridad del modo `--network host`.
📖 Guion y Explicación Técnica:
- Al omitir CLONE_NEWNET, el contenedor comparte íntegramente la pila de red del anfitrión.
- Cero penalización de NAT: no hay veth, ni bridge ni overhead de iptables.
- Los flags `-p` se ignoran por completo: si el servicio escucha en el 80, estará directamente en el 80 del host.
- Riesgo: colisión de puertos si dos contenedores escuchan en el mismo puerto y pérdida de aislamiento L2.
💬 Puntos de Interacción / Preguntas:
¿Por qué en Docker Desktop para Mac o Windows `--network host` no se conecta a la tarjeta física del Mac/PC sino a la VM Linux oculta?
🛠️ Instrucciones de Laboratorio:
Inspeccionar las interfaces en modo host con `docker run --rm --network host alpine ip addr`.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el modo none como herramienta de máxima contención para procesamiento seguro y aislado.
📖 Guion y Explicación Técnica:
- El contenedor tiene su propio Network Namespace, pero únicamente se configura la interfaz loopback `127.0.0.1`.
- Sin tarjetas externas, sin gateway y sin acceso a Internet ni a la red local.
- Si un atacante logra ejecución remota de código, le resulta imposible descargar herramientas ni exfiltrar datos por red.
- Los datos se ingresan y extraen exclusivamente mediante volúmenes montados en disco.
💬 Puntos de Interacción / Preguntas:
¿Para qué casos de uso en el sector bancario o médico es imprescindible usar contenedores sin conectividad de red?
🛠️ Instrucciones de Laboratorio:
Comprobar las interfaces disponibles en modo none con `docker run --rm --network none alpine ifconfig`.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Introducir el concepto de redes overlay y encapsulación VXLAN para preparar a los alumnos para la orquestación distribuida.
📖 Guion y Explicación Técnica:
- La red bridge solo conecta contenedores en el mismo servidor. En un clúster necesitamos comunicación multi-host.
- Overlay utiliza VXLAN (puerto 4789 UDP) para encapsular las tramas Ethernet del contenedor dentro de paquetes IP estándar.
- Permite cifrado nativo de tráfico mediante túneles IPsec con `--opt encrypted`.
- Es el controlador predeterminado en Docker Swarm y la base de los plugins CNI en Kubernetes (Flannel, Calico).
💬 Puntos de Interacción / Preguntas:
¿Qué sobrecarga de bytes añade la cabecera VXLAN (50 bytes) y por qué obliga a ajustar el MTU de red a 1450 en lugar de 1500?
🛠️ Instrucciones de Laboratorio:
Comprobar que crear una red overlay requiere inicializar Swarm o disponer de un almacén de claves distribuido.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cuándo utilizar Macvlan para integrar contenedores directamente en la LAN de la empresa y cómo los plugins amplían las funciones de red.
📖 Guion y Explicación Técnica:
- En Macvlan cada contenedor obtiene una dirección MAC propia y una IP asignada por el router físico de la red corporativa.
- Aparece como un servidor físico más en el switch L2 sin pasar por NAT ni docker-proxy.
- Crucial para migración de aplicaciones legacy que no toleran NAT o requieren inspección de tráfico en firewalls físicos.
- Plugins avanzados (Calico, Cilium) permiten aplicar políticas de red por software e inspección con eBPF.
💬 Puntos de Interacción / Preguntas:
¿Por qué en nubes como AWS o Azure el modo Macvlan suele estar bloqueado por el proveedor de cloud? (Prevención de spoofing de MACs).
🛠️ Instrucciones de Laboratorio:
Examinar los plugins instalados y la ayuda de plugins con `docker plugin ls`.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Asegurar que los alumnos dominen la creación de redes bridge personalizadas y la resolución de nombres antes de pasar a almacenamiento.
📖 Guion y Explicación Técnica:
- Guiar a los alumnos en la creación de `mi-red-app` y el despliegue de una base de datos Redis junto a un cliente Alpine.
- Comprobar que el ping al nombre del contenedor funciona inmediatamente.
- Crear una segunda red aislada para evidenciar que el aislamiento por diseño bloquea el tráfico no autorizado.
- Conectar en caliente con `docker network connect` y verificar la conectividad múltiple.
💬 Puntos de Interacción / Preguntas:
¿Alguien puede explicar por qué el ping funcionó con el nombre "cache-redis" sin editar /etc/hosts?
🛠️ Instrucciones de Laboratorio:
- 1. Inspeccionar bridge por defecto: `docker network inspect bridge`.
- 2. Crear red: `docker network create --driver bridge mi-red-app`.
- 3. Arrancar Redis en la red: `docker run -d --name cache-redis --network mi-red-app redis:alpine`.
- 4. Probar DNS: `docker run --rm --network mi-red-app alpine ping -c 2 cache-redis`.
- 5. Crear red aislada y verificar bloqueo entre redes.
- 6. Conexión en caliente: `docker network connect mi-red-app contenedor-externo`.
- 7. Limpieza final con `docker rm -f` y `docker network rm`.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Introducir la necesidad de persistencia de datos y desmontar el mito de que "Docker no sirve para bases de datos".
📖 Guion y Explicación Técnica:
- Los datos almacenados en la capa del contenedor se pierden al destruirlo con `docker rm`.
- Los volúmenes montan sistemas de archivos que omiten el storage driver, ofreciendo rendimiento nativo de E/S.
- Exploraremos las tres opciones: Named Volumes (producción), Bind Mounts (desarrollo ágil) y Tmpfs (memoria volátil segura).
💬 Puntos de Interacción / Preguntas:
¿Qué pasa con los registros de una base de datos MySQL si actualizamos la versión de la imagen y recreamos el contenedor?
🛠️ Instrucciones de Laboratorio:
Listar volúmenes locales con `docker volume ls` y comprobar el driver de almacenamiento con `docker info`.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que los contenedores son efímeros pero los datos deben ser sagrados e independientes.
📖 Guion y Explicación Técnica:
- La capa Copy-on-Write de Overlay2 es excelente para binarios estáticos pero ineficiente para motores de base de datos con escrituras continuas.
- Destruir un contenedor sin volúmenes elimina de forma irrecuperable toda la información generada.
- La solución profesional consiste en desacoplar el cómputo (contenedor desechable) del almacenamiento (volumen permanente).
💬 Puntos de Interacción / Preguntas:
¿Por qué no es recomendable escribir terabytes de logs o datos de base de datos en la capa de escritura del contenedor?
🛠️ Instrucciones de Laboratorio:
Comprobar el driver de almacenamiento activo en el sistema con `docker info | grep -i "Storage Driver"`.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técnicamente los 4 directorios de Overlay2 (lowerdir, upperdir, workdir, merged) y los ficheros whiteout.
📖 Guion y Explicación Técnica:
- `lowerdir`: capas de solo lectura de la imagen apiladas.
- `upperdir`: capa de lectura/escritura del contenedor.
- `workdir`: directorio interno de Linux para preparar copias atómicas.
- `merged`: punto de montaje unificado que ve el contenedor en `/`.
- Si el contenedor borra un archivo de la imagen base, Overlay2 crea un archivo especial "whiteout" (character device 0,0) que lo enmascara en la vista merged.
💬 Puntos de Interacción / Preguntas:
Si borras un archivo de 2GB de la imagen base dentro del contenedor, ¿se reduce el espacio ocupado en disco? (¡No, solo se crea un whiteout!).
🛠️ Instrucciones de Laboratorio:
Inspeccionar los directorios exactos con `docker inspect -f "{{json .GraphDriver.Data}}" mi-contenedor`.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la comparativa canónica entre Named Volumes, Bind Mounts y Tmpfs.
📖 Guion y Explicación Técnica:
- Named Volumes: administrados por Docker en `/var/lib/docker/volumes/`, aislados de usuarios comunes y óptimos para producción.
- Bind Mounts: vinculan cualquier ruta arbitraria del host hacia el contenedor, ideales para desarrollo local con recarga en caliente.
- Tmpfs Mounts: montajes volátiles en memoria RAM, ideales para secretos, tokens temporales y rendimiento extremo sin rastro en disco.
💬 Puntos de Interacción / Preguntas:
¿Cuál de los tres mecanismos elegirías para guardar el código fuente mientras programas en tu portátil con VS Code?
🛠️ Instrucciones de Laboratorio:
Crear un volumen con `docker volume create test-vol` e inspeccionar sus propiedades.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Demostrar que destruir el contenedor no elimina los datos si residen en un Named Volume.
📖 Guion y Explicación Técnica:
- Los Named Volumes poseen ciclo de vida independiente: `docker rm` no los toca.
- Inicialización automática: si montas un volumen vacío sobre un directorio de la imagen que ya contiene archivos (ej. `/var/lib/postgresql/data`), Docker copia esos archivos al volumen.
- Recomendar la sintaxis moderna `--mount` frente al flag clásico `-v` por ser explícita y auto-documentada.
- Uso de `docker volume prune` para eliminar volúmenes huérfanos que no estén atados a ningún contenedor activo.
💬 Puntos de Interacción / Preguntas:
¿Qué ocurre si dos contenedores montan el mismo Named Volume a la vez? (Ambos pueden escribir, ojo con bloqueos en la aplicación).
🛠️ Instrucciones de Laboratorio:
Crear un volumen, escribir un archivo desde un contenedor efímero y leerlo desde otro contenedor distinto.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Enseñar el uso adecuado de Bind Mounts en desarrollo y prevenir el dolor de cabeza clásico de permisos UID/GID desalineados.
📖 Guion y Explicación Técnica:
- Permite montar una carpeta del host dentro del contenedor para hot-reloading (editar en VS Code y ver el cambio sin reconstruir la imagen).
- Atención: montar una carpeta vacía del host sobre una carpeta con archivos en el contenedor oculta los archivos del contenedor.
- Problema de permisos: si el contenedor corre como root (UID 0), creará archivos en el host pertenecientes a root que el desarrollador no podrá editar sin sudo.
- Solución: pasar el UID del usuario actual con `--user "$(id -u):$(id -g)"` y usar `:ro` para montajes de sólo lectura.
💬 Puntos de Interacción / Preguntas:
¿A cuántos os ha pasado crear archivos desde Docker y luego no poder editarlos ni borrarlos en vuestro host?
🛠️ Instrucciones de Laboratorio:
Montar el directorio actual con Bind Mount en modo lectura: `docker run --rm -v "$(pwd):/app:ro" alpine ls /app`.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Instruir en el uso de tmpfs para optimizar el rendimiento y la seguridad de datos volátiles y credenciales.
📖 Guion y Explicación Técnica:
- Los ficheros residen exclusivamente en la memoria RAM del host; jamás se escriben en disco físico.
- Al detener el contenedor, los datos desaparecen al instante sin dejar fragmentos recuperables en el sistema de archivos.
- Ideal para certificados TLS temporales, llaves privadas, tokens OAuth o carpetas de caché de alta rotación.
- Es fundamental limitar el tamaño con `tmpfs-size=64m` para evitar que un proceso llene la memoria RAM del host.
💬 Puntos de Interacción / Preguntas:
¿Por qué es una pésima práctica dejar tokens de API o claves privadas en el sistema de archivos del contenedor en lugar de tmpfs?
🛠️ Instrucciones de Laboratorio:
Montar una carpeta en memoria RAM y verificar el tipo de filesystem con `docker run --rm --tmpfs /ram_dir alpine df -T /ram_dir`.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el punto del temario oficial "Contenedores de volúmenes de datos" contextualizándolo históricamente.
📖 Guion y Explicación Técnica:
- En las primeras versiones de Docker (2013-2014) no existía el comando `docker volume` ni los Named Volumes.
- Se utilizaba el patrón Data Volume Container: un contenedor en estado Exited que servía de "ancla" para compartir carpetas vía `--volumes-from`.
- Con la llegada de Docker 1.9 en 2015, los volúmenes pasaron a ser ciudadanos de primera clase gestionables de forma independiente.
- Hoy este patrón está completamente en desuso y no debe aplicarse en nuevos despliegues.
💬 Puntos de Interacción / Preguntas:
¿Por qué mantener un contenedor en estado Exited solo para sujetar una carpeta era una solución poco elegante y frágil?
🛠️ Instrucciones de Laboratorio:
Probar el comando histórico con `docker create -v /datos --name data-holder alpine` y entender su funcionamiento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Mostrar cómo los volúmenes de Docker pueden conectarse a almacenamiento en red corporativo y discos elásticos en la nube.
📖 Guion y Explicación Técnica:
- Un volumen local está atado físicamente al disco del servidor donde corre dockerd.
- El driver `local` nativo de Docker permite pasar opciones del comando `mount` de Linux para montar recursos compartidos NFS o CIFS.
- Plugins de nube permiten atar volúmenes a discos persistentes gestionados (AWS EBS, Azure Files, Google Persistent Disk).
- Si un contenedor se mueve de nodo en un clúster, puede reconectarse al mismo volumen remoto sin pérdida de estado.
💬 Puntos de Interacción / Preguntas:
¿Qué precauciones de latencia de red debemos tener si una base de datos escribe intensivamente en un volumen NFS montado remotamente?
🛠️ Instrucciones de Laboratorio:
Inspeccionar la ayuda de drivers de volumen con `docker volume create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Proporcionar la receta canónica para hacer copias de seguridad reproducibles de volúmenes sin detener el motor Docker.
📖 Guion y Explicación Técnica:
- No se debe copiar a mano `/var/lib/docker/volumes` con el contenedor escribiendo en él (riesgo de corrupción).
- Patrón contenedor de backup: un contenedor efímero Alpine monta el volumen en solo lectura (`:ro`) y un directorio del host donde genera un `.tar.gz`.
- La restauración realiza el proceso inverso descomprimiendo el archivo tar dentro de un volumen nuevo.
- Esta técnica es integrable en scripts de cron o pipelines de CI/CD para automatizar respaldos periódicos.
💬 Puntos de Interacción / Preguntas:
¿Por qué montar el volumen en modo :ro durante la copia de seguridad es vital para la integridad del archivo tar?
🛠️ Instrucciones de Laboratorio:
Crear un volumen de prueba, generar un backup en tar con Alpine y restaurarlo en un segundo volumen.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Fijar buenas prácticas estrictas y alertar sobre los errores más costosos en la gestión del almacenamiento en producción.
📖 Guion y Explicación Técnica:
- Jamás usar `docker commit` para "guardar datos": destruye la reproducibilidad y crea imágenes infladas imposibles de auditar.
- No usar bind mounts con rutas absolutas de portátiles en entornos de producción.
- Separar discos: montar `/var/lib/docker` en un volumen o partición LVM separada para que un desbordamiento de almacenamiento no colapse el host.
- Programar limpiezas periódicas con `docker volume prune` para no acumular volúmenes huérfanos.
💬 Puntos de Interacción / Preguntas:
¿Por qué la directiva VOLUME en el Dockerfile puede generar decenas de volúmenes huérfanos sin que nos demos cuenta?
🛠️ Instrucciones de Laboratorio:
Inspeccionar volúmenes huérfanos con `docker volume ls -q -f dangling=true`.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Dar 60-75 minutos a los alumnos para experimentar el contraste real entre persistencia en base de datos y desarrollo ágil con Bind Mount.
📖 Guion y Explicación Técnica:
- Parte A: Desplegar PostgreSQL con un Named Volume, crear una tabla e insertar datos, destruir el contenedor y comprobar que los datos sobreviven en un contenedor nuevo.
- Parte B: Configurar un Bind Mount hacia una aplicación web y comprobar que al editar un archivo en el host los cambios se ven en vivo sin hacer rebuild.
- Supervisar posibles problemas de permisos en el host.
💬 Puntos de Interacción / Preguntas:
¿Quién ha podido destruir el contenedor de PostgreSQL y volver a ver sus datos en el contenedor nuevo?
🛠️ Instrucciones de Laboratorio:
- 1. Crear volumen: `docker volume create db_datos`.
- 2. Arrancar PostgreSQL: `docker run -d --name pg-test -v db_datos:/var/lib/postgresql/data -e POSTGRES_PASSWORD=secreto postgres:16-alpine`.
- 3. Crear tabla e insertar registros con psql.
- 4. Destruir contenedor: `docker rm -f pg-test`.
- 5. Recrear contenedor con la misma versión o superior y verificar que los datos persisten.
- 6. Parte B: Arrancar Nginx montando código HTML con `-v $(pwd)/src:/usr/share/nginx/html:ro`.
- 7. Modificar HTML en el editor del host y verificar recarga instantánea con curl.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Cerrar la Jornada 2 resolviendo dudas finales sobre redes y almacenamiento y anticipar el salto al Cloud y Compose del Día 3.
📖 Guion y Explicación Técnica:
- Hacer balance de los conocimientos adquiridos en las primeras 10 horas del curso.
- Los alumnos ya dominan cómo se aíslan los procesos, cómo se compilan imágenes con Dockerfile, cómo se comunican por red y cómo persisten los datos.
- Anticipar que mañana abordaremos la orquestación multicontenedor con Docker Compose y los servicios de contenedores en la nube (Azure, AWS, GCP).
💬 Puntos de Interacción / Preguntas:
¿Tenéis clara la diferencia de uso entre un Named Volume y un Bind Mount en un proyecto real?
🛠️ Instrucciones de Laboratorio:
Limpiar recursos huérfanos con `docker system prune -f` antes de cerrar la sesión formativa.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Introducir el salto desde la máquina local hacia las grandes nubes públicas empresariales y contextualizar el papel de CaaS.
📖 Guion y Explicación Técnica:
- Los contenedores resolvieron la portabilidad en el equipo local; el siguiente paso es cómo ejecutarlos de forma elástica en la nube.
- Las nubes públicas ejecutan hipervisores tipo 1 customizados (AWS Nitro, Azure Hyper-V) y microVMs (Firecracker, gVisor) para aislar contenedores serverless con coste cero en reposo.
- Dominaremos las opciones de despliegue en Microsoft Azure, Amazon Web Services y Google Cloud, así como la gestión de Container Registries.
💬 Puntos de Interacción / Preguntas:
¿Qué proveedores de nube pública utilizáis actualmente en vuestra empresa (AWS, Azure, GCP u on-premise)?
🛠️ Instrucciones de Laboratorio:
Verificar la configuración de registries de Docker con `docker info | grep -i "Registry"`.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Posicionar los contenedores como servicio (CaaS) y serverless frente a las máquinas virtuales tradicionales de IaaS.
📖 Guion y Explicación Técnica:
- IaaS requiere gestionar el sistema operativo, parches de seguridad, firewalls y pagar 24/7 aunque la CPU esté ociosa.
- CaaS permite al usuario entregar la imagen Docker; el proveedor gestiona el runtime y la orquestación.
- Serverless Containers (Cloud Run, ACI, Fargate) elimina por completo la gestión de servidores y escala a cero cuando no hay peticiones (coste 0€).
💬 Puntos de Interacción / Preguntas:
¿Cuánto dinero ahorra una empresa si una API interna que solo se usa en horario laboral escala a cero durante las noches y fines de semana?
🛠️ Instrucciones de Laboratorio:
Reflexionar sobre los tiempos de arranque: minutos en IaaS vs segundos en Serverless Containers.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que el Container Registry es el centro neurálgico que conecta el desarrollo con el despliegue cloud.
📖 Guion y Explicación Técnica:
- El pipeline canónico: 1. Build (compilar la imagen local o en CI/CD); 2. Tag (etiquetar con la URL del registry); 3. Ship (push diferencial de capas); 4. Run (pull y ejecución en CaaS/K8s).
- Al hacer docker push, el cliente negocia con el registry mediante hashes SHA-256 para subir únicamente las capas no existentes.
- Nunca utilizar credenciales personales fijas en pipelines; emplear identidades federadas (OIDC) y tokens efímeros.
💬 Puntos de Interacción / Preguntas:
¿Por qué nunca debemos usar credenciales de usuario y contraseña personales en un pipeline de CI/CD para hacer push?
🛠️ Instrucciones de Laboratorio:
Inspeccionar la ayuda de etiquetado con `docker tag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Profundizar en la seguridad de la cadena de suministro de software (Supply Chain Security) en los registries cloud.
📖 Guion y Explicación Técnica:
- Docker Hub es el gran repositorio público pero tiene límites de descarga anónima (rate-limit).
- Los registries privados cloud (ACR, ECR, Artifact Registry) se integran con IAM sin contraseñas estáticas.
- Escaneo automático de CVEs: detecta paquetes vulnerables del sistema operativo y dependencias.
- Inmutabilidad de tags: impide que un atacante sobrescriba una versión legítima (ej. :v1.0.0) con código malicioso.
💬 Puntos de Interacción / Preguntas:
¿Qué ocurriría en producción si un atacante consigue sobrescribir la imagen "backend:v2.0" en el registry con malware?
🛠️ Instrucciones de Laboratorio:
Buscar imágenes oficiales seguras en Docker Hub con `docker search --filter is-official=true nginx`.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Mapear el catálogo completo de opciones de contenedores en Azure para que el alumno sepa qué herramienta usar según el caso de uso.
📖 Guion y Explicación Técnica:
- Azure Container Registry (ACR): almacenamiento privado OCI con integración en Microsoft Entra ID.
- Azure Container Instances (ACI): la forma más rápida de ejecutar un contenedor aislado sin administrar VMs ni clústeres.
- Azure Container Apps (ACA): plataforma de microservicios serverless sobre Kubernetes gestionado con KEDA y Envoy.
- Azure App Service: ideal para aplicaciones web clásicas con dominios personalizados y certificados SSL automáticos.
- Azure Kubernetes Service (AKS): orquestación completa para despliegues a gran escala.
💬 Puntos de Interacción / Preguntas:
Si solo quieres ejecutar un script de Python que procese un archivo por lotes durante 15 minutos al día, ¿qué servicio elegirías?
🛠️ Instrucciones de Laboratorio:
Revisar la jerarquía de soluciones de cómputo en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Enseñar a desplegar un contenedor público en Azure en menos de 2 minutos mediante Azure CLI.
📖 Guion y Explicación Técnica:
- ACI proporciona arranque inmediato en segundos sin esperar el aprovisionamiento de máquinas virtuales.
- Facturación granular por segundos según vCPUs y memoria RAM reservadas.
- Aislamiento estricto de nivel hipervisor: cada instancia corre en su propio sandbox de virtualización ligera.
- Asignación automática de IP pública y nombre de dominio FQDN (`*.eastus.azurecontainer.io`).
💬 Puntos de Interacción / Preguntas:
¿Por qué ACI no es la mejor opción para un sistema complejo de 40 microservicios interconectados? (Para eso está ACA o AKS).
🛠️ Instrucciones de Laboratorio:
Inspeccionar los parámetros de creación con `az container create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Azure Container Apps como el punto dulce de la industria entre la simpleza de ACI y la complejidad de AKS.
📖 Guion y Explicación Técnica:
- ACA ejecuta sobre clústeres de AKS administrados por Microsoft: disfrutas de Kubernetes sin gestionar manifests ni control planes.
- Escalado por eventos con KEDA: escala por peticiones HTTP concurrentes, mensajes en cola (RabbitMQ, Service Bus) o eventos Kafka.
- Escalado a cero: si no hay tráfico, apaga los contenedores y el coste se reduce a cero.
- Descubrimiento de servicios integrado con Envoy y soporte nativo de Dapr.
💬 Puntos de Interacción / Preguntas:
¿Qué ventaja tiene escalar por el número de mensajes en una cola en lugar de esperar a que la CPU se caliente al 80%?
🛠️ Instrucciones de Laboratorio:
Inspeccionar los comandos de Azure Container Apps con `az containerapp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Estructurar el catálogo de AWS para que el alumno entienda el papel de ECS frente a EKS y el cómputo Fargate.
📖 Guion y Explicación Técnica:
- Amazon ECR: registro privado gestionado cifrado con KMS y escaneo continuo.
- Amazon ECS: el orquestador nativo de AWS, maduro, hiper-optimizado e integrado con IAM y CloudWatch.
- AWS Fargate: motor de cómputo serverless para ECS y EKS; permite correr tareas sin gestionar instancias EC2.
- Amazon EKS: servicio certificado de Kubernetes para arquitecturas estándar multi-cloud.
- AWS App Runner: despliegue serverless directo para aplicaciones web.
💬 Puntos de Interacción / Preguntas:
¿Quién en el aula ha trabajado con ECS o EKS en Amazon Web Services?
🛠️ Instrucciones de Laboratorio:
Mapear la equivalencia entre servicios de Azure y AWS (ACR ↔ ECR, ACI/ACA ↔ ECS/Fargate, AKS ↔ EKS).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Contrastar los dos modelos de ejecución de ECS: pagar por servidores fijos (EC2) frente a pagar por tarea en ejecución (Fargate).
📖 Guion y Explicación Técnica:
- EC2 Launch Type: los contenedores corren en instancias EC2 que tú administras; requiere parchear el SO y monitorizar espacio.
- Permite aprovechar instancias reservadas y Spot (hasta 90% de descuento) o hardware especializado (GPUs).
- Fargate: defines la tarea con vCPU y memoria; AWS aprovisiona el entorno al vuelo en MicroVMs Firecracker aisladas.
- Fargate reduce drásticamente las horas de ingeniería de operaciones dedicadas al mantenimiento del cluster.
💬 Puntos de Interacción / Preguntas:
Si tu clúster tiene picos repentinos e impredecibles de tráfico, ¿cuál de los dos modelos escala más rápido?
🛠️ Instrucciones de Laboratorio:
Inspeccionar la tecnología Firecracker de microVMs en Rust desarrollada por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Instruir en el uso de Amazon ECR, las políticas de inmutabilidad y el escaneo de vulnerabilidades.
📖 Guion y Explicación Técnica:
- La autenticación en ECR utiliza tokens temporales de 12 horas generados por `aws ecr get-login-password`.
- Las políticas de repositorio permiten autorizar qué cuentas de AWS o roles IAM pueden hacer push o pull.
- Escaneo continuo con Amazon Inspector: analiza paquetes del sistema operativo y dependencias de lenguajes de programación.
- Inmutabilidad de tags: asegura que nadie pueda sobrescribir una imagen de producción.
💬 Puntos de Interacción / Preguntas:
¿Por qué la inmutabilidad de tags evita que un error humano en el pipeline de CI/CD rompa un despliegue anterior?
🛠️ Instrucciones de Laboratorio:
Revisar la sintaxis de login en ECR con token efímero.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Resaltar la posición histórica de Google en el desarrollo de cgroups y Kubernetes y presentar Cloud Run y GKE.
📖 Guion y Explicación Técnica:
- Google lleva más de 15 años ejecutando todos sus servicios (Search, Gmail, YouTube) en contenedores mediante su sistema interno Borg.
- Google creó los cgroups en 2006 y los donó al kernel de Linux, y posteriormente creó y donó Kubernetes a la CNCF.
- Google Artifact Registry: almacén universal OCI para imágenes Docker, paquetes npm, PyPI, Maven y Helm.
- Google Cloud Run: plataforma serverless gestionada que ejecuta cualquier contenedor HTTP con escalado ultra rápido.
- Google Kubernetes Engine (GKE): el servicio de K8s administrado de referencia, con soporte de GKE Autopilot.
💬 Puntos de Interacción / Preguntas:
¿Sabías que Google arranca más de 4.000 millones de contenedores por semana en su infraestructura interna?
🛠️ Instrucciones de Laboratorio:
Inspeccionar el catálogo de Artifact Registry y Cloud Run en Google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Demostrar la agilidad extrema de Google Cloud Run para desplegar contenedores sin preocuparse por servidores ni infraestructura.
📖 Guion y Explicación Técnica:
- A diferencia de AWS Lambda (restringido a ciertos runtimes), en Cloud Run puedes ejecutar cualquier código empaquetado en un contenedor Docker que escuche en $PORT.
- Concurrencia por contenedor: una única instancia atiende hasta 1000 peticiones simultáneas, abaratando costes drásticamente.
- Escalado instantáneo de 0 a 1000+ réplicas en milisegundos ante picos de tráfico.
- Asigna automáticamente subdominio `.run.app` con TLS gestionado y balanceo global Anycast de Google.
💬 Puntos de Interacción / Preguntas:
¿Cuál es la diferencia entre AWS Lambda y Google Cloud Run? (Lambda ejecuta funciones; Cloud Run ejecuta cualquier contenedor estándar).
🛠️ Instrucciones de Laboratorio:
Examinar los parámetros de despliegue con `gcloud run deploy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la transición de Container Registry (gcr.io) a Artifact Registry (*-docker.pkg.dev) en Google Cloud.
📖 Guion y Explicación Técnica:
- Soporte multipaquete unificado: imágenes Docker OCI, paquetes npm, PyPI, Maven y charts de Helm en un solo lugar.
- Repositorios regionales: colocar las imágenes en la misma región que Cloud Run o GKE reduce la latencia de pull a milisegundos y elimina costes de transferencia de red.
- Binary Authorization: bloqueo automático del despliegue en GKE si la imagen no supera las políticas corporativas o carece de firma digital.
💬 Puntos de Interacción / Preguntas:
¿Por qué es beneficioso tener el registro de contenedores en la misma región que el clúster de cómputo? (Menor latencia y ahorro en tráfico).
🛠️ Instrucciones de Laboratorio:
Configurar Docker para autenticarse con Artifact Registry mediante `gcloud auth configure-docker`.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Abordar el punto oficial del temario "Docker Cloud" con total rigor histórico y profesionalidad.
📖 Guion y Explicación Técnica:
- Docker Cloud nació de la adquisición de la startup Tutum por parte de Docker Inc en octubre de 2015.
- Ofrecía un panel SaaS para gestionar contenedores conectando credenciales de AWS, Azure y DigitalOcean.
- Fue retirado definitivamente el 21 de mayo de 2018 ante el dominio de Kubernetes y los servicios administrados de los gigantes cloud.
- Docker Inc reorientó su negocio hacia Docker Desktop comercial, Docker Hub y herramientas de análisis como Docker Scout.
💬 Puntos de Interacción / Preguntas:
¿Tiene sentido que una empresa intente competir en hosting contra AWS, Microsoft y Google a la vez?
🛠️ Instrucciones de Laboratorio:
Inspeccionar las herramientas modernas de Docker como Docker Scout con `docker scout --help`.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Ayudar a los alumnos a tomar decisiones técnicas y económicas fundamentadas en sus proyectos corporativos.
📖 Guion y Explicación Técnica:
- Kubernetes añade una sobrecarga operativa y cognitiva notable: manifests YAML complejos, gestión de ingress, RBAC y upgrades.
- Para el 80% de los proyectos (APIs web, microservicios orientados a eventos, workers), un servicio serverless como Cloud Run o ACA cubre todas las necesidades con coste operativo mínimo.
- Kubernetes se justifica para topologías complejas con cientos de microservicios, service mesh (Istio), operadores avanzados y requisitos multi-cloud sin vendor lock-in.
💬 Puntos de Interacción / Preguntas:
Si tu empresa solo tiene 4 desarrolladores y una API web, ¿recomendarías montar un clúster de Kubernetes desde cero?
🛠️ Instrucciones de Laboratorio:
Evaluar el coste operativo y humano del clúster frente a servicios gestionados.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Fijar las pautas de arquitectura cloud-native necesarias para que un contenedor sea estable y seguro en la nube.
📖 Guion y Explicación Técnica:
- Diseño Stateless: no guardar archivos en disco local; delegar en bases de datos gestionadas y almacenamiento de objetos (S3, GCS, Blob Storage).
- Configuración por variables de entorno (The Twelve-Factor App) e inyección de secretos mediante gestores dedicados (Key Vault, Secrets Manager).
- Configurar directiva HEALTHCHECK para que el balanceador cloud desvíe peticiones si el contenedor se cuelga.
- Escribir logs siempre en stdout/stderr para que los recolecte el agente de observabilidad de la nube.
💬 Puntos de Interacción / Preguntas:
¿Qué le ocurriría a tu factura de Cloud Run si no configuras un límite de max-instances y sufres un ataque DoS?
🛠️ Instrucciones de Laboratorio:
Probar la salida estándar limpia con `docker run --rm alpine echo "Logs directos a stdout"`.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Guiar a los alumnos en el proceso completo de subir una imagen a un registro público/privado y desplegarla en un entorno cloud.
📖 Guion y Explicación Técnica:
- Los alumnos etiquetarán su imagen local con la URL del registry (Docker Hub, ACR, ECR o Artifact Registry).
- Autenticarse de forma segura mediante CLI.
- Ejecutar `docker push` y comprobar en el panel web la subida diferencial de capas y los digests SHA-256.
- Desplegar en un servicio serverless (o simulación local con registry v2 si no hay credenciales cloud).
- Actualizar el código a la versión 1.0.1 y desplegar sin caída de servicio.
💬 Puntos de Interacción / Preguntas:
¿Quién ha conseguido hacer push de su imagen y verla listada en el registro remoto?
🛠️ Instrucciones de Laboratorio:
- 1. Autenticar Docker con el registry: `docker login` o CLI cloud.
- 2. Etiquetar imagen con tag semántico: `docker tag mi-api:1.0 &lt;registry&gt;/&lt;user&gt;/mi-api:1.0`.
- 3. Subir imagen: `docker push &lt;registry&gt;/&lt;user&gt;/mi-api:1.0`.
- 4. Verificar en el panel web la carga de capas y el hash SHA256.
- 5. Desplegar en servicio serverless CaaS (ACI, Cloud Run o simulación).
- 6. Probar URL pública con curl.
- 7. Modificar código, compilar versión 1.0.1 y actualizar sin caída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Cerrar la Jornada 3 revisando cómo los contenedores conectan el desarrollo con la nube y preparar el escenario para Kubernetes en el Día 4.
📖 Guion y Explicación Técnica:
- Hacer balance de los avances: los alumnos dominan el ciclo de vida del contenedor en local y su despliegue elástico en las tres grandes nubes públicas.
- Anticipar la última jornada (Día 4): nos adentraremos en el Módulo 5, centrado en la seguridad avanzada en producción (CIS Docker Benchmark, Rootless, Seccomp) y la orquestación a gran escala con Docker Swarm y Kubernetes.
- Resolver dudas de los alumnos sobre las opciones cloud analizadas.
💬 Puntos de Interacción / Preguntas:
Entre ACI, AWS Fargate y Google Cloud Run, ¿cuál os parece la alternativa más atractiva para vuestros proyectos inmediatos?
🛠️ Instrucciones de Laboratorio:
Verificar que todos los contenedores de prueba del laboratorio 4 han sido detenidos y limpiados con `docker rm -f`.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Dar la bienvenida a la última jornada del curso y presentar el salto de gestionar contenedores individuales a coordinar clústeres elásticos.
📖 Guion y Explicación Técnica:
- Docker Engine gestiona contenedores en un único host. La orquestación abstrae una flota de decenas o cientos de servidores para que el operador los gestione como una única gran computadora lógica.
- Analizaremos cómo se resuelven los retos de alta disponibilidad, auto-recuperación (self-healing), balanceo de carga y actualizaciones continuas sin downtime.
- Desgranaremos la arquitectura interna de Kubernetes (K8s) y sus primitivas esenciales: Pods, Deployments y Services.
💬 Puntos de Interacción / Preguntas:
Si tenéis 60 contenedores repartidos en 10 servidores y uno de ellos sufre una avería física a las 3 de la madrugada, ¿quién reinicia los servicios afectados?
🛠️ Instrucciones de Laboratorio:
Verificar el estado del subsistema Swarm con `docker info | grep -i "Swarm"`.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reflexionar a los alumnos sobre el paso crítico de entornos locales de desarrollo a operaciones de producción 24/7.
📖 Guion y Explicación Técnica:
- En un único host hay un Punto Único de Fallo (SPOF): si el servidor cae, todos los contenedores mueren.
- Capacidad limitada: el servidor físico tiene un tope finito de CPU y RAM (límite del escalado vertical).
- La directiva `--restart always` solo reinicia el contenedor si el host sigue vivo; no puede moverlo a otra máquina.
- El orquestador unifica los servidores en un grupo de recursos lógicos y garantiza auto-sanación (self-healing).
💬 Puntos de Interacción / Preguntas:
¿Qué hacéis en vuestra empresa cuando hay que actualizar una versión en producción para que los clientes no sufran cortes?
🛠️ Instrucciones de Laboratorio:
Reflexionar sobre la imposibilidad de hacer alta disponibilidad en un único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Fijar las 5 responsabilidades esenciales que cualquier orquestador (Swarm, K8s, Nomad) debe proporcionar por diseño.
📖 Guion y Explicación Técnica:
- 1. Scheduling inteligente: decide en qué nodo exacto colocar cada contenedor evaluando recursos libres, afinidad y tolerancia.
- 2. Auto-Sanación: vigila las sondas de salud; si un proceso no responde, lo liquida y crea uno nuevo.
- 3. Escalado horizontal automático: añade o retira réplicas según métricas de CPU, memoria o peticiones concurrentes.
- 4. Descubrimiento de servicios y balanceo: asigna IP virtual estable y nombre DNS balanceando el tráfico.
- 5. Rolling updates y rollbacks: actualiza versión a versión con vuelta atrás instantánea si hay errores.
💬 Puntos de Interacción / Preguntas:
¿Qué ventaja tiene que el orquestador haga un rollback automático si una nueva versión falla el health check?
🛠️ Instrucciones de Laboratorio:
Analizar el ciclo de reconciliación continua entre el estado deseado y el estado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la comparativa oficial de orquestadores analizando los 3 principales contendientes del mercado.
📖 Guion y Explicación Técnica:
- Docker Swarm: máxima simplicidad, integrado en el motor Docker con sintaxis casi idéntica a Compose. Ideal para equipos pequeños (1 a 15 nodos).
- Kubernetes (K8s): el estándar indiscutible de la CNCF, con el mayor ecosistema del mundo pero alta curva de aprendizaje. Ideal para arquitecturas a gran escala.
- HashiCorp Nomad: orquestador ligero y flexible en un solo binario Go; puede ejecutar contenedores Docker, binarios Java y máquinas virtuales QEMU.
💬 Puntos de Interacción / Preguntas:
¿Alguien en la sala ha usado Docker Swarm en el pasado? ¿Por qué la industria se volcó mayoritariamente con Kubernetes?
🛠️ Instrucciones de Laboratorio:
Comparar el esfuerzo de configuración de Swarm (`docker swarm init`) frente a un clúster K8s.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Enseñar a inicializar un clúster Swarm y comprobar cómo escala un servicio en segundos sin software adicional.
📖 Guion y Explicación Técnica:
- Swarm viene preinstalado dentro de dockerd; solo requiere activarlo con `docker swarm init`.
- Distingue dos roles: Managers (coordinan con algoritmo de consenso Raft) y Workers (ejecutan tareas).
- Sustituye `docker run` por `docker service create`, permitiendo indicar el número de réplicas deseadas.
- Ingress Routing Mesh: los puertos publicados se abren en todos los nodos del clúster; cualquier nodo redirige al contenedor adecuado mediante IPVS.
💬 Puntos de Interacción / Preguntas:
¿Por qué es recomendable tener un número impar de Managers (3, 5) en un clúster Raft? (Para evitar empates al elegir líder).
🛠️ Instrucciones de Laboratorio:
Inicializar Swarm localmente con `docker swarm init`, crear un servicio Nginx de 3 réplicas y escalarlo 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Poner en contexto el origen, propósito e impacto de Kubernetes en la industria del software.
📖 Guion y Explicación Técnica:
- Etimología: Del griego kubernētēs (timonel / capitán de barco), de ahí el logo del timón con 7 radios.
- Abreviatura K8s: 8 letras entre la K y la s.
- Nacido de Google Borg en 2014 y donado a la Cloud Native Computing Foundation (CNCF).
- Enfoque declarativo: describes el QUÉ quieres en archivos YAML; K8s averigua el CÓMO conseguirlo y mantenerlo 24/7.
💬 Puntos de Interacción / Preguntas:
¿Cuál es la diferencia entre un enfoque imperativo ("haz esto ahora") y uno declarativo ("este es el estado deseado")?
🛠️ Instrucciones de Laboratorio:
Examinar el enfoque declarativo de los manifiestos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la división fundamental entre el cerebro del clúster (Control Plane) y los ejecutores de carga (Worker Nodes).
📖 Guion y Explicación Técnica:
- El Control Plane (Master) toma decisiones globales: scheduling, detección de eventos, control de ciclo de vida.
- Los Worker Nodes ejecutan la carga de trabajo real (los Pods) gestionados por el kubelet y kube-proxy.
- En nubes públicas (EKS, AKS, GKE), el proveedor administra y garantiza la alta disponibilidad del Control Plane; el cliente solo paga por los Worker Nodes.
- Si el Control Plane cae temporalmente, las aplicaciones que ya están corriendo en los Worker Nodes siguen sirviendo tráfico sin interrupción.
💬 Puntos de Interacción / Preguntas:
¿Qué le ocurre a una web en un Worker Node si el Control Plane se detiene durante 5 minutos por mantenimiento?
🛠️ Instrucciones de Laboratorio:
Inspeccionar los componentes del diagrama vectorial de arquitectura K8s.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Detallar los 4 componentes indispensables del Control Plane y su función específica.
📖 Guion y Explicación Técnica:
- kube-apiserver: puerta de entrada REST central; autentica, autoriza y valida esquemas.
- etcd: almacén clave-valor distribuido consistente (Raft); es la ÚNICA fuente de la verdad del clúster.
- kube-scheduler: evalúa recursos libres, afinidades y restricciones para asignar Pods a nodos.
- kube-controller-manager: ejecuta bucles de control que fuerzan al clúster a alcanzar el estado deseado.
💬 Puntos de Interacción / Preguntas:
¿Por qué hacer copias de seguridad de etcd equivale a respaldar el 100% de la configuración del clúster de Kubernetes?
🛠️ Instrucciones de Laboratorio:
Comprobar la versión del cliente de Kubernetes con `kubectl version --client`.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Explicar cómo el kubelet y kube-proxy coordinan el runtime de contenedores en cada servidor físico.
📖 Guion y Explicación Técnica:
- kubelet: el agente principal del nodo; habla con el API server, recibe PodSpecs y asegura que los contenedores estén sanos.
- kube-proxy: gestor de red del nodo; mantiene reglas de iptables o IPVS para que los Services balanceen el tráfico.
- Container Runtime (CRI): el motor de bajo nivel (containerd o CRI-O) que descarga imágenes y arranca los procesos.
- Desde K8s 1.24 se eliminó dockershim: Kubernetes habla con containerd vía gRPC mediante el estándar CRI.
💬 Puntos de Interacción / Preguntas:
¿Qué es el Container Runtime Interface (CRI) y por qué Kubernetes ya no depende exclusivamente de Docker Engine?
🛠️ Instrucciones de Laboratorio:
Inspeccionar el proceso kubelet en un nodo de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comprender el núcleo conceptual de Kubernetes: el bucle infinito de reconciliación declarativa.
📖 Guion y Explicación Técnica:
- Estado deseado (Desired State): declarado en los manifiestos YAML (ej. "quiero 3 réplicas").
- Estado actual (Current State): lo que realmente está corriendo en el clúster en este instante.
- Bucle infinito: Observar -&gt; Comparar -&gt; Actuar.
- Si un contenedor muere por OOM, el estado pasa a 2; el controlador detecta que 2 != 3 y arranca uno nuevo inmediatamente.
💬 Puntos de Interacción / Preguntas:
Si matamos a mano un Pod con "kubectl delete pod", ¿por qué aparece uno nuevo con otro nombre al cabo de 2 segundos?
🛠️ Instrucciones de Laboratorio:
Analizar el pseudocódigo del reconciliador continuo en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el concepto de Pod y aclarar por qué Kubernetes añade esta capa de abstracción sobre los contenedores.
📖 Guion y Explicación Técnica:
- Kubernetes no ejecuta contenedores sueltos: la unidad mínima siempre es el Pod.
- Un Pod agrupa 1 o más contenedores estrechamente acoplados que comparten red y almacenamiento.
- Todos los contenedores de un Pod tienen la misma IP y se comunican entre sí mediante `localhost`.
- Patrón Sidecar: un contenedor principal (la app) acompañado de un contenedor auxiliar (proxy de logs, agente de métricas o proxy mTLS de Istio).
💬 Puntos de Interacción / Preguntas:
¿En qué escenario tendría sentido colocar dos contenedores dentro del mismo Pod? (Patrón Sidecar).
🛠️ Instrucciones de Laboratorio:
Inspeccionar la estructura del manifiesto YAML de un Pod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Enseñar por qué en producción siempre se crean Deployments y cómo gestionan las réplicas y rollouts sin parada.
📖 Guion y Explicación Técnica:
- Nunca desplegar Pods sueltos en producción: si un Pod suelto muere, nadie lo recrea.
- Un Deployment gestiona un ReplicaSet, garantizando que siempre existan N réplicas vivas.
- RollingUpdate: actualiza los Pods de forma gradual (ej. 25% a la vez), asegurando que siempre hay réplicas sirviendo tráfico.
- Rollback instantáneo: si la nueva versión falla, se revierte con `kubectl rollout undo deployment/mi-app`.
💬 Puntos de Interacción / Preguntas:
¿Qué comando usarías para escalar un Deployment de 3 a 10 réplicas en tiempo real? (`kubectl scale deployment api-pedidos --replicas=10`).
🛠️ Instrucciones de Laboratorio:
Comprobar la sintaxis de un Deployment con selector de etiquetas (matchLabels).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entender que los Services resuelven el descubrimiento dinámico de servicios y balanceo interno en Kubernetes.
📖 Guion y Explicación Técnica:
- Los Pods son efímeros y sus IPs cambian constantemente al recrearse o escalar.
- Un Service proporciona una IP virtual fija (ClusterIP) y un nombre DNS interno estable (`servicio-pedidos.default.svc.cluster.local`).
- Los selectores por etiquetas (`spec.selector`) vinculan dinámicamente el Service con los Pods que tengan `app: pedidos`.
- Tipos: ClusterIP (solo interno), NodePort (puerto 30000-32767 en nodos) y LoadBalancer (aprovisiona balanceador cloud).
💬 Puntos de Interacción / Preguntas:
Si tienes 5 réplicas detrás de un Service, ¿cómo sabe el Service a cuáles enviar tráfico si una está iniciando? (Sondas readinessProbe).
🛠️ Instrucciones de Laboratorio:
Inspeccionar cómo un Service expone puertos hacia los Pods de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Presentar cómo se gestiona la configuración externa (ConfigMaps/Secrets) y el almacenamiento persistente (PVC/PV) en Kubernetes.
📖 Guion y Explicación Técnica:
- ConfigMaps: pares clave-valor desacoplados de la imagen para parámetros no sensibles.
- Secrets: credenciales, tokens y certificados codificados en base64 o cifrados con KMS.
- PersistentVolumeClaim (PVC): solicitud formal de almacenamiento que realiza el Pod (ej. 50GB en modo ReadWriteOnce).
- StorageClass: permite el aprovisionamiento dinámico en la nube (crea el disco EBS o Azure Disk al vuelo al pedir el PVC).
💬 Puntos de Interacción / Preguntas:
¿Por qué nunca debemos compilar contraseñas o URLs de bases de datos dentro de la imagen de Docker?
🛠️ Instrucciones de Laboratorio:
Comprender el ciclo de inyección de configuración mediante variables o archivos montados.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Hacer que los alumnos sientan que todo lo aprendido en los 4 días se reutiliza y encaja perfectamente en Kubernetes.
📖 Guion y Explicación Técnica:
- Repasar cómo cada concepto de Docker tiene su homólogo en Kubernetes.
- Las imágenes creadas con Dockerfile son exactamente las mismas que se consumen en los Pods.
- Los puertos (-p) pasan a ser Services; los volúmenes (-v) pasan a ser PVCs; docker-compose pasa a ser manifiestos YAML o Helm Charts.
- Herramientas como Kompose permiten traducir automáticamente archivos docker-compose.yml a manifiestos de K8s.
💬 Puntos de Interacción / Preguntas:
¿Cuál de las equivalencias de la tabla os parece más intuitiva o reveladora?
🛠️ Instrucciones de Laboratorio:
Examinar la correspondencia directa de conceptos entre Docker CLI y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Facilitar a los alumnos herramientas para que puedan continuar practicando Kubernetes en sus propios equipos sin coste cloud.
📖 Guion y Explicación Técnica:
- Docker Desktop Kubernetes: la opción más sencilla si ya usan Docker Desktop (activar casilla en Settings).
- Kind (Kubernetes in Docker): ejecuta nodos de K8s como contenedores Docker en el host; ultrarrápido y estándar en CI/CD.
- Minikube: herramienta histórica oficial con soporte de addons (ingress, metrics-server, dashboard).
- K3s: distribución certificada ultraligera (&lt;100MB) en un solo binario desarrollada por Rancher/SUSE.
💬 Puntos de Interacción / Preguntas:
¿Quién tiene Docker Desktop instalado en su máquina y ha probado a activar la casilla de Kubernetes?
🛠️ Instrucciones de Laboratorio:
Probar la creación de un clúster local con Kind en 30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Taller integrador de 75-90 minutos donde los alumnos consolidan todo el viaje: desde el Dockerfile hasta el despliegue orquestado en K8s.
📖 Guion y Explicación Técnica:
- Verificar el acceso al clúster local con `kubectl get nodes`.
- Redactar y aplicar `deployment.yaml` con 3 réplicas de Nginx con límites de memoria y CPU.
- Aplicar `service.yaml` exponiendo el puerto del servicio.
- Simular la muerte de un Pod eliminándolo a mano con `kubectl delete pod` y observar en tiempo real cómo el bucle de reconciliación crea uno nuevo en menos de 2 segundos.
- Ejecutar un Rolling Update modificando la imagen y comprobar que no hay corte de servicio con `kubectl rollout status`.
💬 Puntos de Interacción / Preguntas:
¿Habéis visto cómo al borrar el Pod, el ReplicaSet creó otro sustituto inmediatamente?
🛠️ Instrucciones de Laboratorio:
- 1. Verificar clúster: `kubectl get nodes` y `kubectl cluster-info`.
- 2. Redactar deployment.yaml con 3 réplicas y límites de recursos.
- 3. Aplicar: `kubectl apply -f deployment.yaml` y observar con `kubectl get pods -w`.
- 4. Redactar service.yaml y aplicar con `kubectl apply -f service.yaml`.
- 5. Probar balanceo de carga interno hacia los Pods.
- 6. Simular caída: `kubectl delete pod &lt;nombre&gt;` y comprobar auto-sanación instantánea.
- 7. Ejecutar Rolling Update a una nueva versión y comprobar `kubectl rollout status`.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🎯 Objetivo Pedagógico:
Agradecer la participación y esfuerzo de los alumnos, felicitarles por completar las 20 horas lectivas y orientar los siguientes pasos de su carrera Cloud Native.
📖 Guion y Explicación Técnica:
- Felicitar al grupo por haber completado las 20 horas intensivas de Docker Fundamentals.
- Hacer balance: han recorrido desde el nivel más bajo del kernel Linux hasta la orquestación distribuida en Kubernetes y las nubes públicas.
- Recomendar certificaciones oficiales de la Linux Foundation y CNCF: CKA (Certified Kubernetes Administrator), CKAD (Certified Kubernetes Application Developer) y CKS (Certified Kubernetes Security Specialist).
- Ronda final de preguntas y cierre oficial del curso.
💬 Puntos de Interacción / Preguntas:
¿Cuáles son las 3 habilidades técnicas que os lleváis de este curso para aplicar inmediatamente a partir de mañana en vuestro trabajo?
🛠️ Instrucciones de Laboratorio:
Verificar la limpieza final de entornos de laboratorio en las máquinas de los alumnos.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822960"/>
            <a:ext cx="4754880" cy="4754880"/>
          </a:xfrm>
          <a:prstGeom prst="ellipse">
            <a:avLst/>
          </a:prstGeom>
          <a:solidFill>
            <a:srgbClr val="134074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09560" y="1417320"/>
            <a:ext cx="3566160" cy="3566160"/>
          </a:xfrm>
          <a:prstGeom prst="ellipse">
            <a:avLst/>
          </a:prstGeom>
          <a:solidFill>
            <a:srgbClr val="134074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41080" y="2148840"/>
            <a:ext cx="2103120" cy="21031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5829" y="2653589"/>
            <a:ext cx="1093622" cy="10936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143000"/>
            <a:ext cx="685800" cy="6858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1307592"/>
            <a:ext cx="356616" cy="3566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0" y="1325880"/>
            <a:ext cx="685800" cy="6858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490472"/>
            <a:ext cx="356616" cy="35661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80960" y="4709160"/>
            <a:ext cx="685800" cy="6858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873752"/>
            <a:ext cx="356616" cy="356616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0881360" y="4617720"/>
            <a:ext cx="685800" cy="68580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952" y="4782312"/>
            <a:ext cx="356616" cy="3566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520" y="1417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TÉCNICO OFICIAL · 20 HORAS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731520" y="196596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</a:t>
            </a:r>
            <a:endParaRPr lang="en-US" sz="4400" dirty="0"/>
          </a:p>
        </p:txBody>
      </p:sp>
      <p:sp>
        <p:nvSpPr>
          <p:cNvPr id="16" name="Text 9"/>
          <p:cNvSpPr/>
          <p:nvPr/>
        </p:nvSpPr>
        <p:spPr>
          <a:xfrm>
            <a:off x="731520" y="4251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Introducción a Contenedores, Arquitectura del Motor, Seguridad e Imágenes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1 de 4 · 5 Horas Lectivas (20h totales)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   | 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19913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HISTORIA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del Despliegue: Del Monolito a la Matriz Matricial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del Infierno (N x M)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 de Runtimes: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Coexistencia forzada de Node.js, Python, Java y Go con versiones en conflicto.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Compartidas: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del sistema (glibc, OpenSSL) que rompen servicios al actualizar 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Heterogéneos: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Discrepancias críticas entre el portátil local, el servidor de QA y producción.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de Configuración: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Modificaciones manuales no documentadas en servidores ("servidores copo de nieve").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 Contenedores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 empaqueta junto a todo su entorno de ejecución exacto y probado.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Absoluta: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OCI: si arranca en local, arrancará de forma idéntica en cualquier nube.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Milisegundos: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arranque de sistema operativo virtual; inicia como un proceso nativo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Densidad: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microservicios en el mismo hardware sin sobrecarga de hipervisores redundantes.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4132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5074920"/>
            <a:ext cx="10134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CLAVE: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contenedor no virtualiza hardware ni emula instrucciones de CPU. Es un proceso aislado ejecutado directamente sobre el kernel de Linux compartiendo sus recursos con coste cero de emulación.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COMPARADA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Virtuales vs Contenedores: Arquitectura Interna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Virtuales (Hardware)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Abstracción: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Emulación de hardware físico mediante hipervisor (KVM, ESXi, Hyper-V).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SO: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requiere su propio kernel, módulos y demonios del sistema completo.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Memoria: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base de gigabytes por instancia antes de arrancar la aplicación.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Arranque: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(proceso completo de POST de BIOS virtual, inicio de kernel y systemd).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aislamiento asistido por hardware (VT-x, AMD-V, SLAT).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(Sistema Operativo)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Abstracción: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a nivel de procesos mediante primitivas nativas del kernel Linux.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Compartido: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contenedores utilizan el kernel del host sin kernels huéspedes.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Memoria: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Megabytes despreciables de sobrecarga; solo consume la memoria de la aplicación.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Arranque: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Milisegundos (equivalente a invocar un fork/clone de un proceso nativo).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lógico vía Namespaces, Control Groups y perfiles Seccomp/AppArmor.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CAPÓ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Contenedor? El Secreto del Kernel de Linux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Técnica sobre Contenedores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entidad contenedor: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código fuente del kernel no existe ninguna estructura llamada "container".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Ordinario: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contenedor es un proceso estándar de Linux (`task_struct`) con visibilidad y recursos limitados.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Pilares: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(lo que ve), Cgroups (lo que consume) y Capabilities/LSM (lo que puede ejecutar).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Nativo: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CPU ejecuta las instrucciones del contenedor en Ring 3 con acceso directo al bus de memoria.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COMPROBACIÓN DE PROCESOS EN HOST Y CONTENEDOR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Arrancar un contenedor web en segundo plano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web-demo nginx:alpine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7f8a9b2c3d4e...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Obtener el PID asignado por el host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inspect -f '{{.State.Pid}}' web-demo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42150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Comprobar que en el host es un proceso normal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-fp 42150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   PID   PPID  CMD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42150 42100  nginx: master process /usr/sbin/nginx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Comprobar que dentro del contenedor se ve como PID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web-demo ps -ef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  PID  PPID  CMD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1     0  nginx: master process /usr/sbin/nginx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INTERNA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Motor Docker: Desacoplamiento OCI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9441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21488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3000" y="2331720"/>
            <a:ext cx="548640" cy="54864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674" y="24633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 (CLI)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7830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· build · push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0" y="2606040"/>
            <a:ext cx="822960" cy="0"/>
          </a:xfrm>
          <a:prstGeom prst="line">
            <a:avLst/>
          </a:prstGeom>
          <a:noFill/>
          <a:ln w="31750">
            <a:solidFill>
              <a:srgbClr val="0DB7ED"/>
            </a:solidFill>
            <a:prstDash val="solid"/>
            <a:headEnd type="triangle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324612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Unix Socket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/var/run/docker.sock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023360" y="19659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EEF2F6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06240" y="210312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(dockerd)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297680" y="2560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Imágenes, Redes y Volúmenes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297680" y="32004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BuildKit (Motor de compilación multi-stage)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943600" y="3703320"/>
            <a:ext cx="0" cy="320040"/>
          </a:xfrm>
          <a:prstGeom prst="line">
            <a:avLst/>
          </a:prstGeom>
          <a:noFill/>
          <a:ln w="25400">
            <a:solidFill>
              <a:srgbClr val="0DB7ED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6035040" y="3776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297680" y="40233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8EEF5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8912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(CRI / OCI Supervisor)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480560" y="445312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0DB7ED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 (OCI Runtime Estándar)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406640" y="4681728"/>
            <a:ext cx="822960" cy="0"/>
          </a:xfrm>
          <a:prstGeom prst="line">
            <a:avLst/>
          </a:prstGeom>
          <a:noFill/>
          <a:ln w="25400">
            <a:solidFill>
              <a:srgbClr val="D95D39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7360920" y="4416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5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/ clone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229600" y="1965960"/>
            <a:ext cx="2956255" cy="3291840"/>
          </a:xfrm>
          <a:prstGeom prst="roundRect">
            <a:avLst>
              <a:gd name="adj" fmla="val 3093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12480" y="21031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ISOLATION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412480" y="2560320"/>
            <a:ext cx="2590495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(PID, NET, MNT, IPC, UTS, USER)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412480" y="3182112"/>
            <a:ext cx="2590495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v2 (Límites CPU, Memoria, IO, PIDs)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8412480" y="3803904"/>
            <a:ext cx="2590495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 y: Seccomp, AppArmor, Capabilities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8412480" y="4425696"/>
            <a:ext cx="2590495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Overlay2 Union Filesystem (chroot / pivot_root)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63347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PAQUETERÍA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Docker-Engine vs Docker.io: Paquetes y Distribuciones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Docker-CE / Docker-Engine (Oficial)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Oficial: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Mantenido directamente por Docker Inc en repositorios dedicados para Debian/Ubuntu/RHEL.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Al Día: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últimos parches de seguridad del kernel, mejoras de OCI y rendimiento.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Modernos: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`docker-buildx-plugin` y `docker-compose-plugin` (v2 integrado en el CLI).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Profesional: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recomendada para entornos de desarrollo corporativo y producción.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Docker.io (Distribuciones Linux)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Distribución: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Mantenido por los empaquetadores de Debian/Ubuntu para compatibilidad estática.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Congeladas: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incluir versiones antiguas con vulnerabilidades corregidas tardíamente.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Plugins Nativos: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Carece habitualmente de Buildx avanzado y requiere el viejo script de Compose v1.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 Compatibilidad: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al interpretar directivas de build modernas y drivers de red recientes.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DEDE8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903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50292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INSTALACIÓN: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`apt-get install docker.io`. En entornos corporativos configurar siempre el repositorio oficial `https://download.docker.com/linux/ubuntu` con clave GPG e instalar el paquete `docker-ce`.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 Seguridad: Defensa en Profundidad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9441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135728" cy="3840480"/>
          </a:xfrm>
          <a:prstGeom prst="roundRect">
            <a:avLst>
              <a:gd name="adj" fmla="val 2381"/>
            </a:avLst>
          </a:prstGeom>
          <a:solidFill>
            <a:srgbClr val="E8EEF5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2695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14884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(Visibilidad / Aislamiento)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2468880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 lo que un proceso puede VER en el sistema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05840" y="28803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20240" y="2880360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el árbol de procesos (el contenedor tiene su propio PID 1).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05840" y="3355848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920240" y="3355848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interfaces de red, tablas de enrutamiento y puertos TCP/UDP.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005840" y="3831336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920240" y="3831336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puntos de montaje de sistemas de archivos (raíz aislada).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05840" y="4306824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920240" y="4306824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colas de mensajes POSIX y segmentos de memoria compartida.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05840" y="4782312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920240" y="4782312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nombre de host (hostname) y dominio NIS independiente.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005840" y="525780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920240" y="5257800"/>
            <a:ext cx="390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UID/GID del contenedor a usuarios sin privilegios del host.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33008" y="1965960"/>
            <a:ext cx="5135728" cy="3840480"/>
          </a:xfrm>
          <a:prstGeom prst="roundRect">
            <a:avLst>
              <a:gd name="adj" fmla="val 2381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415888" y="214884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88" y="2269541"/>
            <a:ext cx="261518" cy="26151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10248" y="214884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GROUPS / CGROUPS (Límites)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010248" y="2468880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 lo que un proceso puede USAR de hardware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15888" y="2880360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Quota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650328" y="2880360"/>
            <a:ext cx="358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cuotas de ciclos CPU por periodo (--cpus="1.5").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415888" y="3410712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Limit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7650328" y="3410712"/>
            <a:ext cx="358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estricto de memoria (--memory="512m"); dispara OOM Killer.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415888" y="3941064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BlkIO / Disk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7650328" y="3941064"/>
            <a:ext cx="358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ancho de banda y operaciones de E/S por segundo en disco.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415888" y="4471416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 Limit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7650328" y="4471416"/>
            <a:ext cx="358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subprocesos (--pids-limit=100) para evitar fork-bombs.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415888" y="5001768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Pri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650328" y="5001768"/>
            <a:ext cx="358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tráfico de red y etiquetado con net_cls / net_prio.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DEL KERNEL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Namespaces: Creando la Ilusión de Máquina Privada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Namespace (Procesos)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el árbol de procesos. El proceso del contenedor se convierte en PID 1 dentro de su espacio, sin ver ni poder enviar señales a los procesos del host.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Namespace (Red)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interfaces de red (lo, eth0), tablas de enrutamiento y puertos TCP/UDP. Dos contenedores pueden escuchar en el puerto 80 sin colisionar.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Namespace (Montajes)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la jerarquía de directorios. Cada contenedor tiene su propia raíz `/` provista por el UnionFS sin acceso al sistema de archivos del anfitrión.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363517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Namespace (Memoria)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77240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colas de mensajes POSIX, semáforos SysV y segmentos de memoria compartida, impidiendo que procesos de diferentes contenedores se comuniquen indebidamente.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332122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60722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23" y="4363517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00802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 Namespace (Host &amp; Dominio)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560722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definir un hostname y nombre de dominio NIS independiente para cada contenedor sin alterar la configuración del servidor host.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8115605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44205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906" y="4363517"/>
            <a:ext cx="261518" cy="26151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84285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Namespace (Usuarios)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344205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el UID 0 (root) del contenedor a un usuario sin privilegios en el host (ej. UID 100000), base fundamental de la arquitectura Rootless.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DE RECURSOS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Groups (Cgroups): Límites y Protección del Host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Frente al "Vecino Ruidoso"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DoS: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un proceso desbocado colapse el hardware compartido del servidor.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RAM (`--memory`):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estricto de memoria física. Si se excede, el OOM Killer actúa localmente.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de CPU (`--cpus`):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periodos de CPU mediante el CFS (Completely Fair Scheduler).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PIDs (`--pids-limit`):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Inmunidad total frente a ataques de bomba de bifurcación (fork-bombs).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LÍMITES EN DOCKER CLI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Arrancar contenedor con límites estrictos de hardware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app-limitada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--memory="512m"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--cpus="1.5"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--pids-limit=100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nginx:alpine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Monitorizar consumo de recursos en tiempo real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stats --no-stream app-limitada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CPU %   MEM USAGE / LIMIT   MEM 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app-limitada   0.02%   4.1MiB / 512MiB     0.80%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Inspeccionar el valor exacto en el kernel (Cgroups v2)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/sys/fs/cgroup/system.slice/docker-.../memory.max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536870912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de Linux y Modo Rootless: Mínimo Privilegio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Mínimo Privilegio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Fraccionar a Root: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Sustituir el poder absoluto de UID 0 por capacidades granulares del kernel.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Riesgos: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capabilities para impedir montaje de discos, acceso a memoria física o manipulación de red.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Antipatrón `--privileged`: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¡Prohibido en producción! Desactiva todos los filtros de seguridad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Rootless: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daemon dockerd íntegramente bajo un usuario sin privilegios en el host.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PROFESIONAL DE CAPABILITIES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270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Buena práctica: Retirar todo y conceder lo mínimo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web-secure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--cap-drop=ALL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--cap-add=NET_BIND_SERVICE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nginx:alpine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Comprobar que no puede alterar interfaces de 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web-secure ip link add dummy0 type dummy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RTNETLINK answers: Operation not permitted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0" y="4937760"/>
            <a:ext cx="5699455" cy="1051560"/>
          </a:xfrm>
          <a:prstGeom prst="roundRect">
            <a:avLst>
              <a:gd name="adj" fmla="val 10435"/>
            </a:avLst>
          </a:prstGeom>
          <a:solidFill>
            <a:srgbClr val="FDEDE8"/>
          </a:solidFill>
          <a:ln/>
        </p:spPr>
      </p:sp>
      <p:sp>
        <p:nvSpPr>
          <p:cNvPr id="16" name="Shape 12"/>
          <p:cNvSpPr/>
          <p:nvPr/>
        </p:nvSpPr>
        <p:spPr>
          <a:xfrm>
            <a:off x="6126480" y="523494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53446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4937760"/>
            <a:ext cx="4739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SEGURIDAD: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`docker run --privileged` otorga todas las capabilities, deshabilita AppArmor y mapea todos los dispositivos de `/dev`. Constituye una brecha de escape del contenedor directa.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OCI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Imagen en Docker? La Plantilla Inmutable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una Imagen OCI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Solo Lectura: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el código, runtime, dependencias del sistema y configuración.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 Estricta: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nunca se modifica; los cambios generan una nueva imagen versionada.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Criptográfico: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e imagen se referencia mediante un hash SHA-256 incorruptible.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Abierto OCI: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entre Docker, Podman, Containerd, CRI-O y plataformas cloud.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Referencia de Imagen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Completo: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`[registry]/[namespace]/[repositorio]:[tag]`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`docker.io/library/nginx:1.25.3-alpine`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por Defecto: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por defecto: Docker Hub. Tag por defecto: `:latest`.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 de `:latest`: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¡Antipatrón en producción! Puede introducir cambios incompatibles sin previo aviso.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DEDE8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903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50292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PRODUCCIÓN: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desplegar imágenes con el tag `:latest`. Utilizar siempre etiquetas inmutables con control de versiones semántico (ej. `node:20.11.1-alpine3.19`) o referenciar directamente por Digest SHA-256.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una Imagen: Capas y Caché Overlay2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9441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DE CAPAS OVERLAY2 (Estructura en Disco)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3317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441448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UPPERDIR (R/W)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697480" y="24048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contenedor: ficheros creados, modificados o borrados (whiteout). Se destruye con el contenedor.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320040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DDE7F3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273552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(R/O)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97480" y="32461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/app &amp; ENTRYPOINT (Ficheros de aplicación y binarios)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2960" y="385876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DDE7F3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931920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(R/O)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697480" y="39044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npm install / pip install (Dependencias y librerías del runtime)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451713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DDE7F3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590288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0B2545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(R/O)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697480" y="45628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node:20-alpine (Base OS minimalista, libmusl, shell /bin/sh)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26480" y="3520440"/>
            <a:ext cx="365760" cy="0"/>
          </a:xfrm>
          <a:prstGeom prst="line">
            <a:avLst/>
          </a:prstGeom>
          <a:noFill/>
          <a:ln w="31750">
            <a:solidFill>
              <a:srgbClr val="0DB7ED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5989320" y="29260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OverlayFS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Mount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0" y="2331720"/>
            <a:ext cx="4785055" cy="1463040"/>
          </a:xfrm>
          <a:prstGeom prst="roundRect">
            <a:avLst>
              <a:gd name="adj" fmla="val 6250"/>
            </a:avLst>
          </a:prstGeom>
          <a:solidFill>
            <a:srgbClr val="E8EEF5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5146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2981" y="2635301"/>
            <a:ext cx="261518" cy="26151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06640" y="246888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VIEW (Vista Unificada)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812280" y="3017520"/>
            <a:ext cx="4327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montaje `/` que ve el proceso dentro del contenedor. Las capas de sólo lectura se superponen; si un fichero existe en el Upperdir, enmascara al del Lowerdir.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583680" y="4023360"/>
            <a:ext cx="4785055" cy="1280160"/>
          </a:xfrm>
          <a:prstGeom prst="roundRect">
            <a:avLst>
              <a:gd name="adj" fmla="val 7143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812280" y="420624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81" y="4326941"/>
            <a:ext cx="261518" cy="26151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06640" y="4160520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COPY-ON-WRITE (CoW)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812280" y="4663440"/>
            <a:ext cx="4327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LECTURA: Acceso directo ultra rápido a la capa inferior.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ESCRITURA: Al modificar un archivo existente, el kernel lo duplica primero a Upperdir y luego aplica el cambio.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BORRADO: Se genera un marcador whiteout en Upperdir.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Contenedor? La Instancia Viva y Copy-on-Write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Clase - Objeto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vs Instancia: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es la definición estática inmutable; el contenedor es la instancia viva.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Superior R/W: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 capa de lectura/escritura asociada exclusivamente al contenedor específico.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(CoW):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originales jamás se tocan; se duplican a la capa superior solo al modificarse.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Efímera: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eliminar el contenedor (`docker rm`), su capa R/W se destruye; la imagen no cambia.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COPY-ON-WRITE CON DOCKER DIFF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Arrancar un contenedor interactivo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-it --name demo-cow ubuntu:22.04 bash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Modificar un archivo del sistema dentro del contenedor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root@a1b2c3d4:/# echo "Host modificado" &gt;&gt; /etc/issue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root@a1b2c3d4:/# exit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Auditar la capa de lectura/escritura desde el host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diff demo-cow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/etc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/etc/issue           # C = Changed (Copiado a R/W)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/root/.bash_history  # A = Added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Comprobar que la imagen base original está intacta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ubuntu:22.04 cat /etc/issue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7792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y Máquina de Estados del Contenedor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554148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313432"/>
            <a:ext cx="2188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2715768"/>
            <a:ext cx="21883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prepara el sistema de archivos Overlay2 y la configuración de red, pero el proceso PID 1 aún no ha arrancado en el kernel.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139364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13" name="Shape 10"/>
          <p:cNvSpPr/>
          <p:nvPr/>
        </p:nvSpPr>
        <p:spPr>
          <a:xfrm>
            <a:off x="3395396" y="1600200"/>
            <a:ext cx="2554148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78276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5" name="Text 12"/>
          <p:cNvSpPr/>
          <p:nvPr/>
        </p:nvSpPr>
        <p:spPr>
          <a:xfrm>
            <a:off x="3578276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78276" y="2313432"/>
            <a:ext cx="2188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78276" y="2715768"/>
            <a:ext cx="21883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principal está activo consumiendo ciclos de CPU y RAM bajo sus respectivos namespaces y cgroups.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86120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19" name="Shape 16"/>
          <p:cNvSpPr/>
          <p:nvPr/>
        </p:nvSpPr>
        <p:spPr>
          <a:xfrm>
            <a:off x="6242152" y="1600200"/>
            <a:ext cx="2554148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25032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1" name="Text 18"/>
          <p:cNvSpPr/>
          <p:nvPr/>
        </p:nvSpPr>
        <p:spPr>
          <a:xfrm>
            <a:off x="642503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25032" y="2313432"/>
            <a:ext cx="2188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25032" y="2715768"/>
            <a:ext cx="21883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kernel congela los procesos mediante el cgroup freezer sin liberar la memoria RAM asignada.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832875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25" name="Shape 22"/>
          <p:cNvSpPr/>
          <p:nvPr/>
        </p:nvSpPr>
        <p:spPr>
          <a:xfrm>
            <a:off x="9088907" y="1600200"/>
            <a:ext cx="2554148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271787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7" name="Text 24"/>
          <p:cNvSpPr/>
          <p:nvPr/>
        </p:nvSpPr>
        <p:spPr>
          <a:xfrm>
            <a:off x="9271787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271787" y="2313432"/>
            <a:ext cx="21883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271787" y="2715768"/>
            <a:ext cx="21883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finaliza tras recibir SIGTERM o SIGKILL. El sistema de archivos R/W persiste en disco hasta hacer `docker rm`.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48640" y="4160520"/>
            <a:ext cx="5419192" cy="1874520"/>
          </a:xfrm>
          <a:prstGeom prst="roundRect">
            <a:avLst>
              <a:gd name="adj" fmla="val 5854"/>
            </a:avLst>
          </a:prstGeom>
          <a:solidFill>
            <a:srgbClr val="E8EEF5"/>
          </a:solidFill>
          <a:ln/>
        </p:spPr>
      </p:sp>
      <p:sp>
        <p:nvSpPr>
          <p:cNvPr id="31" name="Shape 28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4509821"/>
            <a:ext cx="261518" cy="26151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417320" y="438912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Limpia (SIGTERM · Señal 15)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777240" y="5047488"/>
            <a:ext cx="49619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de Cierre: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avisa a la aplicación para que cierre conexiones a base de datos y vacíe buffers.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 Gracia: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segundos por defecto (configurable con `--time` o directiva `STOPSIGNAL`).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6223864" y="4160520"/>
            <a:ext cx="5419192" cy="1874520"/>
          </a:xfrm>
          <a:prstGeom prst="roundRect">
            <a:avLst>
              <a:gd name="adj" fmla="val 5854"/>
            </a:avLst>
          </a:prstGeom>
          <a:solidFill>
            <a:srgbClr val="E8EEF5"/>
          </a:solidFill>
          <a:ln/>
        </p:spPr>
      </p:sp>
      <p:sp>
        <p:nvSpPr>
          <p:cNvPr id="36" name="Shape 32"/>
          <p:cNvSpPr/>
          <p:nvPr/>
        </p:nvSpPr>
        <p:spPr>
          <a:xfrm>
            <a:off x="6452464" y="438912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4509821"/>
            <a:ext cx="261518" cy="26151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092544" y="438912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Forzosa (SIGKILL · Señal 9)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6452464" y="5047488"/>
            <a:ext cx="49619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 Inmediata: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kernel aborta el proceso sin posibilidad de captura ni limpieza de recursos.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con `--init`: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Inyectar un mini-init (`tini`) para propagar señales y cosechar procesos zombies.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7792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 de Operación en el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CONTENEDORES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1947672"/>
            <a:ext cx="5047488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en segundo plano con puerto y nombre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mi-nginx -p 8080:80 nginx:alpine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contenedores activos y todos (incluidos parados)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 -a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logs en tiempo real (seguimiento continuo)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logs -f --tail 50 mi-nginx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una terminal interactiva dentro del contenedor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-it mi-nginx sh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Inspeccionar metadatos y dirección 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inspect -f '{{.NetworkSettings.IPAddress}}' mi-nginx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2513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 Y LIMPIEZA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0" y="1947672"/>
            <a:ext cx="507766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Descargar una imagen desde Docker Hub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pull redis:7-alpine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imágenes locales y su tamaño en disco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images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Detener y eliminar un contenedor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stop mi-nginx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rm mi-nginx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Diagnóstico del espacio en disco ocupado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system df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Limpieza profunda de recursos huérfanos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system prune -af --volumes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Automatizando la Creación: El Dockerfile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(IaC)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 Declarativo: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secuenciales legibles que describen paso a paso cómo construir la imagen.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en Git: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Dockerfile vive junto al código fuente, garantizando auditoría y trazabilidad histórica.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 BuildKit: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moderno que analiza dependencias y ejecuta etapas independientes en paralelo.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Total: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miembro del equipo compilará exactamente el mismo artefacto binario.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PROFESIONAL PARA NODE.JS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Imagen base oficial y minimalista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Establecer directorio de trabajo seguro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/usr/src/app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Copiar dependencias y compilar (Caché optimizada)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--only=production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Copiar código fuente de la aplicación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Ejecutar como usuario sin privilegios y documentar puerto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Comando de arranque en formato Exec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 "server.js"]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37286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DIRECTIVAS DOCKERFILE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Directivas Fundamentales: Entorno, Ejecución y CMD vs ENTRYPOINT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Directivas de Entorno y Sistema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&lt;imagen&gt;:&lt;tag&gt;: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la imagen base obligatoria (primera instrucción).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 /ruta: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directorio de trabajo activo (evita encadenar múltiples `cd`).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&lt;src&gt; &lt;dest&gt;: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ficheros locales del host hacia la imagen de forma transparente.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CLAVE=VALOR: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variables de entorno persistentes durante el build y en runtime.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&lt;puerto&gt;: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 informativo que documenta los puertos que escucha la aplicación.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vs ENTRYPOINT vs CMD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(Momento Build):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paquetes y compila código, creando una nueva capa inmutable en disco.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 ["ejecutable"]: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comando fijo que siempre se ejecutará al iniciar el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["arg1", "arg2"]: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 argumentos por defecto al ENTRYPOINT (anulables desde el CLI).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Exec Obligatoria: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usar formato JSON con corchetes `["prog", "arg"]` para ser PID 1.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37286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CACHÉ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Prácticas: Optimización de Capas y Caché de Build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Optimización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Menos a Más Cambiante: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dependencias del sistema primero y código fuente después.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Invalidación en Cascada: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modificación en una capa invalida la caché de todas las subsiguientes.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`.dockerignore`: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`node_modules`, `.git` y temporales del build context de compilación.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Encadenar Comandos RUN: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paquetes, instalar y limpiar cachés en una única capa atómica.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ANTIPATRÓN VS BUENA PRÁCTICA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ANTIPATRÓN (Rompe caché en cada cambio de código):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install   # ¡Se ejecuta siempre, muy lento!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BUENA PRÁCTICA (Caché inteligente de librerías):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       # Solo se ejecuta si cambia package.json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          # Si solo cambia código, usa caché previa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 de limpieza de paquetes en una sola capa: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apt-get install -y --no-install-recommends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ca-certificates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rm -rf /var/lib/apt/lists/*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Builds: Seguridad y Mínimo Tamaño en Producción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del Patrón Multi-Stage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Compilación/Runtime: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pesados y compiladores se quedan exclusivamente en la fase de build.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Ultraligera: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finales de 5MB a 30MB en lugar de artefactos de más de 1GB.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CVEs: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eliminar gestores de paquetes y shells del entorno final, la superficie se reduce a cero.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Paralelos en BuildKit: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compila etapas independientes de forma simultánea.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MULTI-STAGE PROFESIONAL (GOLANG)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1: Entorno de Compilación (Builder)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golang:1.22-alpine AS builder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go.mod go.sum ./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go mod download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CGO_ENABLED=0 go build -ldflags="-s -w" -o mi-app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2: Runtime de Producción (Final)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alpine:3.19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Copiar ÚNICAMENTE el binario de la etapa anterior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/app/mi-app 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guest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["./mi-app"]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Resultado: De 850MB a solo 12MB de imagen final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y la Arquitectura de Microservicios: Un Proceso por Contenedor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Oro: Un Proceso por Contenedor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Funcional: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empaquetar servidor web, API y base de datos en el mismo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Horizontal Selectivo: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únicamente los servicios con alta demanda sin duplicar el resto.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Aislado: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logs (`docker logs`) reflejan exclusivamente la salida del servicio en cuestión.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Fallos: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colapso en el módulo de pagos no detiene el catálogo de navegación.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que Resolveremos en el Curso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Servicios: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hablan entre sí sin acoplar IPs fijas? (Módulo 2 · Redes Bridge y DNS).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contenedor es efímero, ¿dónde guardamos datos? (Módulo 3 · Volúmenes).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Multicontenedor: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15 servicios con un solo comando (Módulo 4 · Docker Compose).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Alta Disponibilidad: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en clúster y balanceo de carga (Módulo 5 · Kubernetes).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849624" cy="27432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· PRÁCTICA GUIADA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1: Ciclo de Vida y Creación de Imágenes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Pasos del Laboratorio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Verificación: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el entorno con `docker version` y `docker info`.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Exploración: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contenedor interactivo Alpine e inspeccionar procesos del kernel.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Dockerfile: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una receta optimizada para una aplicación web con capas ordenadas.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Build: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la imagen con etiqueta semántica inmutable `lab1-app:1.0`.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Despliegue: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Instanciar el contenedor en segundo plano publicando el puerto hacia 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Auditoría: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conectividad con `curl`, monitorizar `docker stats` y `docker logs`.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· Limpieza: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y eliminar el contenedor verificando la liberación de recursos.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RESOLUCIÓN DEL LABORATORIO 1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espacio de trabajo y Dockerfile de prueba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~/lab1 &amp;&amp; cd ~/lab1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&lt;&lt;EOF &gt; Dockerfile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nginx:alpine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index.html /usr/share/nginx/html/index.html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["nginx", "-g", "daemon off;"]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Crear archivo HTML simple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"&lt;h1&gt;Laboratorio 1 Completado&lt;/h1&gt;" &gt; index.html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Compilar la imagen con etiqueta semántica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lab1-app:1.0 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Arrancar contenedor en segundo plano con puerto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lab1-web -p 8080:80 lab1-app:1.0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Probar conectividad y revisar logs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logs lab1-web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Limpieza final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rm -f lab1-web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CONCLUSIÓN DÍA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JORNADA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consolidados: Arquitectura del Motor, Namespaces, Cgroups, OCI, Dockerfile y Ciclo de Vida.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Jornada: Módulo 2 (Redes a fondo) y Módulo 3 (Almacenamiento y Volúmenes).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4401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5544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401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 Linux: Namespaces (visibilidad) y Cgroups (recursos).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22174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23317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41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74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OCI: Desacoplamiento dockerd, containerd y runc.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9946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31089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218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9946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y Almacenamiento: Capas inmutables y Copy-on-Write en Overlay2.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7719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8862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995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7719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Profesional: BuildKit, optimización de caché y Multi-Stage.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5491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6634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77316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5491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1 completado con éxito por los alumnos.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 |  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2.5 HORAS LECTIVAS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REDES EN DOCKER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Red: veth pairs, Linux Bridge, DNS interno, iptables NAT, Host, None, Overlay y Macvlan.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mitad de la Jornada 2 · 2.5 Horas Lectivas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4401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5544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401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Red: veth pairs, switch virtual docker0 y namespaces.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22174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23317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41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74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por defecto vs Redes personalizadas (User-Defined DNS).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9946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31089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218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9946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puertos, reglas iptables DNAT y docker-proxy.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7719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8862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995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7719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avanzados: Host (rendimiento), None (offline) y Macvlan (LAN física).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5491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6634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77316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5491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2: Interconexión de microservicios y resolución por nombre.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19913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la Red en Docker: veth pairs, Linux Bridge e iptables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9441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E8EEF5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NET NAMESPACE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5603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Física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 (192.168.1.50)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33832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iptables NAT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PREROUTING: DNAT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POSTROUTING: MASQ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51560" y="44805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DB7ED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docker-proxy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(:8080 → :80)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3794760"/>
            <a:ext cx="548640" cy="0"/>
          </a:xfrm>
          <a:prstGeom prst="line">
            <a:avLst/>
          </a:prstGeom>
          <a:noFill/>
          <a:ln w="31750">
            <a:solidFill>
              <a:srgbClr val="D95D39"/>
            </a:solidFill>
            <a:prstDash val="solid"/>
            <a:headEnd type="triangl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749040" y="2423160"/>
            <a:ext cx="2194560" cy="2926080"/>
          </a:xfrm>
          <a:prstGeom prst="roundRect">
            <a:avLst>
              <a:gd name="adj" fmla="val 4167"/>
            </a:avLst>
          </a:prstGeom>
          <a:solidFill>
            <a:srgbClr val="EEF2F6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651760"/>
            <a:ext cx="548640" cy="54864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3674" y="27834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40480" y="3291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172.17.0.1/16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886200" y="4160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L2 virtual que conmuta tramas Ethernet entre los veth conectados.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583680" y="2240280"/>
            <a:ext cx="4693615" cy="1508760"/>
          </a:xfrm>
          <a:prstGeom prst="roundRect">
            <a:avLst>
              <a:gd name="adj" fmla="val 6061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0" y="2971800"/>
            <a:ext cx="640080" cy="0"/>
          </a:xfrm>
          <a:prstGeom prst="line">
            <a:avLst/>
          </a:prstGeom>
          <a:noFill/>
          <a:ln w="25400">
            <a:solidFill>
              <a:srgbClr val="0DB7ED"/>
            </a:solidFill>
            <a:prstDash val="solid"/>
            <a:headEnd type="triangle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598932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veth9a1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766560" y="242316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53288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0" y="2404872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Web (Nginx)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766560" y="2971800"/>
            <a:ext cx="4327855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eth0: 172.17.0.2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 escucha: 80/tcp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583680" y="4023360"/>
            <a:ext cx="4693615" cy="1508760"/>
          </a:xfrm>
          <a:prstGeom prst="roundRect">
            <a:avLst>
              <a:gd name="adj" fmla="val 6061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943600" y="4754880"/>
            <a:ext cx="640080" cy="0"/>
          </a:xfrm>
          <a:prstGeom prst="line">
            <a:avLst/>
          </a:prstGeom>
          <a:noFill/>
          <a:ln w="25400">
            <a:solidFill>
              <a:srgbClr val="0DB7ED"/>
            </a:solidFill>
            <a:prstDash val="solid"/>
            <a:headEnd type="triangle"/>
            <a:tailEnd type="triangle"/>
          </a:ln>
        </p:spPr>
      </p:sp>
      <p:sp>
        <p:nvSpPr>
          <p:cNvPr id="28" name="Text 23"/>
          <p:cNvSpPr/>
          <p:nvPr/>
        </p:nvSpPr>
        <p:spPr>
          <a:xfrm>
            <a:off x="5989320" y="44805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veth3b8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766560" y="420624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4315968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0" y="4187952"/>
            <a:ext cx="3870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API (Node)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766560" y="4754880"/>
            <a:ext cx="4327855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eth0: 172.17.0.3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 escucha: 3000/tcp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BRIDGE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Bridge por Defecto y sus Limitaciones Críticas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la Red Bridge por Defecto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Automática: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asignada si se omite el parámetro `--network` en `docker run`.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Subred: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Típicamente `172.17.0.0/16`, con la IP `172.17.0.1` asignada al host como gateway.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 Internet (NAT):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inyecta reglas `iptables MASQUERADE` para permitir tráfico saliente.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Dinámica: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asignadas de forma secuencial según el orden de arranque de los contenedores.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Crítica: Sin Resolución DNS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¡Sin DNS Integrado!: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contenedores en el bridge por defecto NO pueden comunicarse por su nombre.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Fragilidad por IPs: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servicio se reinicia y cambia de `172.17.0.2` a `172.17.0.3`, la app colapsa.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Deprecación de `--link`: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antiguo mecanismo de inyección en `/etc/hosts` está formalmente en desuso.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Profesional: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siempre redes personalizadas (*User-Defined Bridges*).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DEDE8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903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50292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EN PRODUCCIÓN: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desplegar microservicios en la red bridge predeterminada. La falta de DNS obliga a acoplar direcciones IP volátiles que se rompen con cada reinicio o actualización de contenedor.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BRIDGES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Personalizadas: Resolución DNS Automática y Aislamiento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User-Defined Bridges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Embebido (`127.0.0.11`):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automática y dinámica del nombre del contenedor a su IP activa.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Estricto: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en redes diferentes no tienen visibilidad mutua, reforzando la seguridad.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en Caliente: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desconectar contenedores en tiempo de ejecución sin reinicios (`docker network connect`).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de Red: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nombres secundarios a servicios para balanceo o nombres canónicos (`--network-alias`).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RESOLUCIÓN EN RED PERSONALIZADA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red personalizada para el backend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create red-aplicacion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Levantar base de datos conectada a la 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db-postgres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--network red-aplicacion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POSTGRES_PASSWORD=secreto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postgres:16-alpine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Levantar cliente en la misma red y resolver por nombre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--network red-aplicacion alpine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ping -c 2 db-postgres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db-postgres (172.19.0.2): 56 data bytes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 from 172.19.0.2: seq=0 ttl=64 time=0.075 ms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¡El DNS embebido resuelve por nombre sin tocar /etc/hosts!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Puertos: Abriendo el Contenedor al Mundo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Explícito vs Efímero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Explícito (`-p`):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un puerto fijo del host al contenedor (ej. `-p 8080:80` o `-p 127.0.0.1:8080:80`).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Efímero (`-P`):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puertos aleatorios altos (32768-60999) para todas las directivas `EXPOSE`.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Exposición (`0.0.0.0`):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Omitir la IP local expone el puerto a cualquier red física o Internet.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UDP: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 mapea TCP. Para tráfico UDP se debe indicar `-p 53:53/udp`.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310896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INTERNO: IPTABLES DNAT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270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Inspeccionar las reglas generadas en la tabla NAT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iptables -t nat -L DOCKER -n -v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DOCKER (2 references)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pkts bytes target prot opt source   destination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22  1320 DNAT   tcp  --  0.0.0.0  0.0.0.0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tcp dpt:8080 to:172.19.0.2:80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Proceso docker-proxy (Reenvío TCP en loopback):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-ef | grep docker-proxy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... docker-proxy -proto tcp -host-ip 0.0.0.0 -host-port 8080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0" y="4937760"/>
            <a:ext cx="5699455" cy="1051560"/>
          </a:xfrm>
          <a:prstGeom prst="roundRect">
            <a:avLst>
              <a:gd name="adj" fmla="val 10435"/>
            </a:avLst>
          </a:prstGeom>
          <a:solidFill>
            <a:srgbClr val="FDEDE8"/>
          </a:solidFill>
          <a:ln/>
        </p:spPr>
      </p:sp>
      <p:sp>
        <p:nvSpPr>
          <p:cNvPr id="16" name="Shape 12"/>
          <p:cNvSpPr/>
          <p:nvPr/>
        </p:nvSpPr>
        <p:spPr>
          <a:xfrm>
            <a:off x="6126480" y="523494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53446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4937760"/>
            <a:ext cx="4739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SEGURIDAD: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servidores de desarrollo, usar `-p 127.0.0.1:puerto:puerto`. El uso desatento de `-p puerto:puerto` abre el servicio a toda la red corporativa o pública sin pasar por UFW.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HOST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Red Host: Rendimiento Máximo sin Aislamiento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`--network host`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Namespace de Red: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utiliza directamente la pila TCP/IP, interfaces y rutas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Overhead de NAT: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pares veth, sin conmutador bridge y sin consumo de CPU en iptables.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Innecesario: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flags `-p` y `-P` se ignoran; el servicio abre puertos directamente en 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en Desktop: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Mac/Windows se asocia a la máquina virtual oculta, no a macOS/Windows real.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Casos de Uso Válidos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 de Puertos: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contenedores no pueden escuchar en el mismo puerto (`Address already in use`).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Aislamiento: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tiene acceso a todos los servicios que escuchen en `localhost`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de Red: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agentes de métricas (Prometheus `node-exporter`, capturadores de tráfico).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de Alta Velocidad: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Transmisión multimedia UDP/WebRTC o proxies de extrema concurrencia.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NONE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Red None: Aislamiento Total y Entornos Air-Gapped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Estricto (`--network none`)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Desconexión Absoluta: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Únicamente dispone de la interfaz de bucle invertido local (`lo` / `127.0.0.1`).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Tráfico Externo: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enviar o recibir tramas fuera del contenedor; sin ruta por defecto.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Inmunidad frente a Exfiltración: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potencialmente comprometido no puede conectar con servidores externos C2.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Manual: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orquestadores inyectar interfaces de red personalizadas a posteriori.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en Producción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Confidencial: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de expedientes médicos, nóminas o registros protegidos por GDPR.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Criptográficas: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llaves maestras PGP, firma de artefactos o monederos fríos.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 de Código: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aislada de scripts no confiables subidos por clientes sin riesgo de propagación.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Forense: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de binarios sospechosos en entornos cerrados (air-gapped).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7792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OVERLAY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Overlay: Conectando Contenedores a Través de Múltiples Hosts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Encapsulación VXLAN (L2 sobre L3)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Multi-Host: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contenedores ubicados en diferentes servidores físicos sin ruteo manual.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Túneles VXLAN: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tramas Ethernet L2 en paquetes UDP estándar (puerto 4789) sobre la red física.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IPsec Nativo: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 cifrado en tránsito transparente con la opción `--opt encrypted`.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Distribuido: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control sincroniza las IPs y nombres entre todos los nodos del clúster.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Ámbitos de Aplicación y Orquestación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nativo por defecto para interconectar réplicas de servicios distribuidos.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(CNI):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conceptual de plugins de red como Calico, Flannel o Cilium (con eBPF).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Física: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ven en una subred privada virtual común (ej. `10.0.0.0/24`).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Distribuido: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protocolos gossip y consenso Raft para propagar rutas sin cuello de botella.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7792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MACVLAN &amp; CNI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Macvlan y Complementos de Red: Integración en LAN Física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Macvlan (IP en la LAN Física)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MAC Propia: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contenedor tiene su propia MAC y solicita IP directa al router/DHCP de la LAN.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NAT ni Port Mapping: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la red física como un equipo más conectado directamente al switch.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Legacy: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software antiguo que rechaza NAT o requiere puertos estándar sin mapeo.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Promiscuo: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física del host debe soportar modo promiscuo para cursar tráfico multi-MAC.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de Red y Plugins CNI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Extensible: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controladores de terceros mediante `docker plugin install`.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/ Cilium: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Añaden políticas de seguridad por software (Network Policies) y filtrado eBPF.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WireGuard: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Encriptación punto a punto de todo el tráfico entre contenedores sin configuración manual.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BGP: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directa de rutas de contenedores hacia los routers troncales del datacenter.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849624" cy="27432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· PRÁCTICA GUIADA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2: Redes Personalizadas y DNS Embebido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 |   32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Laboratorio 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93192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Inspección: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red bridge por defecto y constatar la ausencia de DNS interno.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Red Propia: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`mi-red-app` utilizando el driver estándar bridge.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Servicio Cache: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un contenedor Redis asociado directamente a la red creada.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Verificación DNS: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Invocar un contenedor cliente y hacer ping al hostname `cache-redis`.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Aislamiento: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que contenedores en redes distintas no pueden comunicarse.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En Caliente: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un contenedor a dos redes a la vez con `docker network connect`.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· Limpieza: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los contenedores y destruir las redes creadas.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643097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DEL LABORATORIO 2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94960" y="1947672"/>
            <a:ext cx="608350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red de trabajo personalizada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create --driver bridge mi-red-app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Desplegar Redis en segundo plano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cache-redis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--network mi-red-app redis:alpine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Probar resolución DNS embebida por nombre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--network mi-red-app alpine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ping -c 2 cache-redis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Crear red independiente de auditoría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create red-auditoria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app-aislada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--network red-auditoria alpine sleep 3600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Conectar en caliente el contenedor a la primera 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connect mi-red-app app-aislada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app-aislada ping -c 2 cache-redis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Limpieza ordenada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rm -f cache-redis app-aislada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network rm mi-red-app red-auditoria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2.5 HORAS LECTIVAS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VOLÚMENES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Datos: Storage Drivers (Overlay2), Named Volumes, Bind Mounts, Tmpfs, Backups y Migraciones.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mitad de la Jornada 2 · 2.5 Horas Lectivas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4401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5544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401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Efímero vs Persistente: Desacoplar almacenamiento de cómputo.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22174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23317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41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74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Overlay2 a fondo: lowerdir, upperdir, merged y ficheros whiteout.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9946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31089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218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9946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mecanismos: Named Volumes, Bind Mounts y Tmpfs en RAM.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7719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8862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995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7719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Backup, Restauración y Migración de Volúmenes.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5491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6634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77316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5491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3: Persistencia de BD y Hot-Reloading en desarrollo.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los Datos: Naturaleza Efímera vs Persistencia Crítica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Efímera del Contenedor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Desechables: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Deben poder destruirse, actualizarse y recrearse sin temor a perder información.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Copy-on-Write: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R/W añade penalizaciones de rendimiento en escrituras aleatorias masivas.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Irrecuperable: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`docker rm -f` destruye la capa superior y sus datos para siempre.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de Backup: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 copias de seguridad desde capas internas del driver es complejo y propenso a fallos.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Desacoplamiento de Datos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vs Almacenamiento: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residen en estructuras de almacenamiento ajenas al ciclo del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Nativo de E/S: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volúmenes omiten Overlay2 y escriben a la velocidad de disco nativa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Compartición Concurrente: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contenedores pueden montar el mismo volumen simultáneamente.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Garantizada: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contenedor colapsa o se borra, los datos permanecen completamente a salvo.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OVERLAY2 INTERNALS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Overlay2 a Fondo: La Magia del Union File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Directorios de Overlay2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lowerdir: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de capas de solo lectura apiladas provenientes de la imagen OCI.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upperdir: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lectura/escritura exclusivo del contenedor para modificaciones y nuevos ficheros.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interno de trabajo del kernel para preparar copias atómicas antes del commit.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montaje `/` unificado que percibe el proceso del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Whiteout: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caracteres (0,0) creados en el upperdir para ocultar archivos borrados.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DEL GRAPHDRIVER EN DISCO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Inspeccionar los directorios asignados por Overlay2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inspect -f '{{json .GraphDriver.Data}}' mi-app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"LowerDir": "/var/lib/docker/overlay2/abc.../diff:...",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"MergedDir": "/var/lib/docker/overlay2/def.../merged",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"UpperDir": "/var/lib/docker/overlay2/def.../diff",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"WorkDir": "/var/lib/docker/overlay2/def.../work"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¿Qué ocurre al borrar un fichero de la imagen?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Overlay2 genera un whiteout en Upperdir que oculta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inodo de Lowerdir sin liberar el espacio en disco.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 /var/lib/docker/overlay2/def.../diff/fichero_borrado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c--------- 1 root root 0, 0 oct 27 10:00 fichero_borrado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80720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PERSISTENCIA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Mecanismos de Persistencia: Volumes, Binds y Tmpfs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`/var/lib/docker/volumes/`.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 íntegramente por el motor Docker.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Aislado de manipulaciones indebidas en 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Cloud: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plugins de red (NFS, AWS EBS).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Canónico: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y almacenamiento en producción.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directorio o archivo del host (`/ruta`).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Dependiente de la estructura de ficheros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en Vivo: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host y el contenedor comparten acceso simultáneo.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Desalineación de permisos numéricos UID/GID.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Canónico: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local con recarga en caliente (hot-reload).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Tmpfs Mounts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RAM del sistema anfitrión.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escribe jamás bloques en disco físico.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de E/S máximo a velocidad de memoria.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destruye totalmente al parar el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Canónico: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temporales, tokens OAuth y cachés volátiles.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7792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Volúmenes con Nombre (Named Volumes): Estándar de Producción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los Volúmenes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Total: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volúmenes sobreviven al borrado de cualquier contenedor que los monte.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Poblado Automático: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copia los archivos preexistentes de la imagen hacia el volumen nuevo en el primer arranque.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Explícita `--mount`: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legibilidad y diferenciación entre volúmenes, binds y tmpfs.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 del Sistema: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`docker volume prune` para liberar volúmenes que han quedado huérfanos.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 PERSISTENCIA REAL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volumen explícito para PostgreSQL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volume create pgdata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Desplegar BD montando el volumen con sintaxis moderna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db-postgres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--mount source=pgdata,target=/var/lib/postgresql/data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POSTGRES_PASSWORD=secreto postgres:16-alpine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Destruir forzosamente el contenedor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rm -f db-postgres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Recrear el contenedor a partir de una versión superior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db-postgres-nuevo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--mount source=pgdata,target=/var/lib/postgresql/data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postgres:16-alpine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¡Todas las tablas y datos continúan intactos en pgdata!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Mounts: Desarrollo Ágil y Riesgos de Permisos UID/GID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del Desarrollador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93192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en Vivo (Hot-Reload):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código en el IDE del host y comprobar cambios sin reconstruir la imagen.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Absolutas Obligatorias: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indicar rutas completas del host (`$(pwd)/src:/app/src`).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Ocultación: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un directorio vacío oculta los archivos preexistentes en esa ruta del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Solo Lectura (`:ro`):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 para proteger configuraciones críticas y evitar escrituras no deseadas.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643097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SEGURO Y RESOLUCIÓN DE PERMISOS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94960" y="1947672"/>
            <a:ext cx="608350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Montaje para desarrollo web con recarga en caliente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web-dev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-p 3000:3000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"$(pwd)/src:/app/src:ro"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node:20-alpine npm run dev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Solución al problema de permisos UID/GID: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el contenedor corre como UID 0, los archivos creados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pertenecerán a root en el host. Pasar el UID propio: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--user "$(id -u):$(id -g)"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"$(pwd):/workspace" mi-compilador make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Sintaxis explícita con --mount en solo lectura: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--mount type=bind,source=/etc/ssl,target=/certs,readonly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TMPFS MOUNTS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Tmpfs Mounts: Almacenamiento en Memoria RAM para Secretos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39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Volátil de Alta Seguridad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a Memoria RAM: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se escriben en memoria sin tocar jamás los discos SSD/NVMe del servidor.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Huella Forense: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parar el contenedor los datos desaparecen sin dejar fragmentos en disco.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de Secretos: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 para certificados efímeros, llaves privadas y tokens de autenticación.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Estrictos: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`tmpfs-size` para evitar que un contenedor desbocado agote la memoria del host.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TMPFS EN TERMINAL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Montar directorio seguro en RAM con límite de 64MB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app-segura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--tmpfs /app/secrets:rw,noexec,nosuid,size=64m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nginx:alpine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Comprobar que está respaldado por memoria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app-segura df -h /app/secrets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 Size  Used  Avail  Use%  Mounted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tmpfs       64M      0    64M    0%  /app/secrets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Sintaxis formal mediante --mount: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--mount type=tmpfs,destination=/app/cache,\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tmpfs-size=128m,tmpfs-mode=1777 mi-app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37286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HISTÓRICA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de Volúmenes de Datos: Perspectiva y Desuso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40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`--volumes-from` (2014)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en 2014: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versiones tempranas de Docker no existían comandos de gestión para volúmenes.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Centinela: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creaba un contenedor tonto que definía volúmenes y permanecía detenido (`Exited`).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`--volumes-from`: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contenedores montaban sus datos haciendo referencia al contenedor detenido.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ejecutaba `docker rm -v` sobre el centinela, los datos se eliminaban sin aviso.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Hoy Está en Desuso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Llegada de Docker 1.9: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introdujo el subsistema nativo completo `docker volume`.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de Primera Clase: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volúmenes tienen nombre, ciclo de vida e inventario propio e independiente.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y Plugins Modernos: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conectarse a almacenamiento en red (NFS, AWS EBS), imposible con el patrón viejo.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Comprenderlo para código legacy, pero utilizar exclusivamente Named Volumes en proyectos nuevos.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37286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REMOTO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de Almacenamiento Remoto: NFS, SAN y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41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Distribuido y de Red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Disco Local: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los datos sigan al contenedor si se desplaza entre diferentes nodos.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Local con Opciones: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driver `local` puede invocar llamadas `mount` para NFS, CIFS o SSHFS.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Cloud: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especializados para montar discos elásticos en AWS, Azure y Google Cloud.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desacoplar el ciclo de vida del servidor físico del almacenamiento de datos.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VOLUMEN NFS EN DOCKER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volumen Docker respaldado por un servidor 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volume create --driver local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--opt type=nfs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--opt o=addr=192.168.1.100,rw,noatime,rsize=8192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--opt device=:/srv/nfs/datos_compartidos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volumen-nfs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Montar el volumen en cualquier contenedor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app-nfs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volumen-nfs:/app/storage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mi-aplicacion:1.0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el contenedor se traslada a otro servidor físico,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montará exactamente el mismo volumen NFS con los mismos datos.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19913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Y MIGRACIÓN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Backup, Restauración y Migración de Volúmenes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42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Contenedor de Backup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Parar el Motor: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acceso root directo a `/var/lib/docker` ni reiniciar servicios.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Efímero (`--rm`):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contenedor Alpine monta el volumen en solo lectura y la carpeta de backups.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Automatizable en Cron: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una sola línea de terminal ideal para tareas programadas de madrugada.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entre Servidores: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`.tar.gz` resultante puede enviarse por scp o rsync a otro host y restaurarse.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BACKUP Y RESTAURACIÓN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BACKUP: Empaquetar el volumen "pgdata" en un tar comprimido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pgdata:/volumen_origen:ro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$(pwd)/backups:/backup_destino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alpine tar czf /backup_destino/pgdata_$(date +%F).tar.gz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-C /volumen_origen 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RESTAURACIÓN: Descomprimir en un volumen nuevo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volume create pgdata_recuperado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--rm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pgdata_recuperado:/volumen_destino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$(pwd)/backups:/backup_destino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alpine tar xzf /backup_destino/pgdata_2026-10-27.tar.gz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-C /volumen_destino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93852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en Gestión de Persistencia y Antipatrones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43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en Producción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Fuera del Contenedor: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información persistente debe residir en Named Volumes o Bind Mounts.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Descriptivos: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siempre los volúmenes explícitamente para evitar volúmenes anónimos.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Separada en Host: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`/var/lib/docker` en un disco o LVM dedicado para no saturar `/` del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con Labels: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volúmenes (`--label env=prod`) para facilitar políticas de retención.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Antipatrones a Erradicar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Antipatrón `docker commit`: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commits manuales para guardar estado destruye la reproducibilidad del Dockerfile.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Absolutas de Portátil: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rutas de tipo `/Users/juan/...` a producción rompe el despliegue.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Descuido de Permisos: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comprobar si el usuario no root del contenedor tiene permisos de escritura en el volumen.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Volúmenes Huérfanos Acumulados: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realizar mantenimiento de `docker volume prune`, saturando el almacenamiento.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849624" cy="27432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· PRÁCTICA GUIADA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3: Persistencia de BD y Hot-Reloading en Desarrollo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44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Laboratorio 3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93192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Persistencia BD: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Named Volume `db_datos` y arrancar PostgreSQL.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Inserción: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tabla de usuarios e insertar registros de prueba con psql.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Desastre Simulado: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el contenedor forzosamente con `docker rm -f`.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Comprobación: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un nuevo contenedor y verificar que las tablas siguen íntegras.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Hot-Reloading: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código del host en Nginx con Bind Mount en solo lectura.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Edición en Vivo: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el código en el host y comprobar la actualización instantánea sin rebuild.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643097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DEL LABORATORIO 3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94960" y="1947672"/>
            <a:ext cx="608350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PARTE A: Persistencia con Named Volume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volume create db_datos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db-test -v db_datos:/var/lib/postgresql/data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POSTGRES_PASSWORD=secreto postgres:16-alpine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-i db-test psql -U postgres -c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"CREATE TABLE alumnos (id int, nombre text);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INSERT INTO alumnos VALUES (1, 'Ana');"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rm -f db-test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db-recuperada -v db_datos:/var/lib/postgresql/data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-e POSTGRES_PASSWORD=secreto postgres:16-alpine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-i db-recuperada psql -U postgres -c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alumnos;"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PARTE B: Desarrollo Ágil con Bind 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~/web-dev &amp;&amp; echo "&lt;h1&gt;V 1.0&lt;/h1&gt;" &gt; ~/web-dev/index.html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--name dev-nginx -p 8080:80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-v ~/web-dev:/usr/share/nginx/html:ro nginx:alpine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"&lt;h1&gt;V 2.0 (En Vivo)&lt;/h1&gt;" &gt; ~/web-dev/index.html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¡Cambio instantáneo en el navegador!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http://localhost:8080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CONCLUSIÓN DÍA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JORNADA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consolidados: Redes (Bridge, Host, None, Overlay, DNS interno, iptables) y Persistencia (Overlay2, Volumes, Binds, Tmpfs).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Jornada: Módulo 4 (Contenedores en Cloud y Orquestación con Docker Compose).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4401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5544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401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Redes: El DNS embebido 127.0.0.11 hace obligatorias las redes personalizadas.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22174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23317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41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74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Puertos: iptables DNAT y docker-proxy para acceso exterior.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9946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31089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218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9946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Desacoplar almacenamiento de cómputo para datos de producción.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7719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8862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995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7719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Volumes vs Bind Mounts vs Tmpfs: Casos de uso y directrices claras.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5491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6634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77316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5491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Laboratorios 2 y 3 completados con éxito por los alumnos.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 |   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5 HORAS LECTIVAS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LA NUBE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Containers en Azure, AWS, Google Cloud y Evolución de Docker Cloud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3 de 4 · 5 Horas Lectivas (20h totales)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0515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1658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2755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0515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Cloud: De IaaS a CaaS y Serverless Containers.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18288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19431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0528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8288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despliegue: Build, Ship (Registries OCI) y Run.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6060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27203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28300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6060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ACR, Container Instances (ACI) y Apps (ACA).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3832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4975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6073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3832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Services: ECR, ECS y cómputo Serverless con Fargate.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1605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2748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38454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1605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Cloud: Artifact Registry, Cloud Run y sandbox gVisor.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675120" y="49377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6812280" y="50520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516178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52360" y="49377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4: Publicación en Registry y despliegue CaaS.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02539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Cloud: De IaaS a CaaS y Serverless Containers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47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(VMs Tradicionales)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Parchear el SO, gestionar kernels, configurar firewalls y agentes de seguridad.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Lento: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levantando nuevas máquinas virtuales tarda varios minutos.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Capacidad: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continua 24/7 aunque la CPU esté al 1% de uso.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Predilecto: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Monolitos heredados o aplicaciones con control estricto de drivers hardware.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(Containers as a Service)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Contenedor: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entrega la imagen Docker; el cloud gestiona el runtime.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Gestionada: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maneja ciclo de vida, balanceo de carga y reinicios automáticos.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Elástico: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Adición de réplicas en segundos respondiendo a la demanda de tráfico.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Clave: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ECS, Azure Container Apps, Google Cloud Run.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Containers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Servidores: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nodos que administrar, sin actualizaciones de clúster ni capacidad ociosa.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 Cero: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tráfico activo, las réplicas bajan a 0 y el coste económico es exactamente 0€.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Consumo Exacto: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al milisegundo por vCPU y memoria RAM consumidas.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Predilecto: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REST, microservicios orientados a eventos y tareas batch puntuales.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Cloud: Build, Ship &amp;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48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Canónico del Contenedor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(Compilación):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o el servidor de CI/CD (GitHub Actions, GitLab) genera la imagen.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TAG (Versionado):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etiqueta con la URL del registry privado y el tag semántico (`acr.io/app:1.2.0`).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SHIP (Publicación):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sube al Container Registry mediante protocolos HTTPS autenticados con tokens.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(Despliegue):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cloud descarga la imagen desde el registry privado y levanta el servicio.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DEL FLUJO CLOUD EN TERMINAL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Autenticación segura en el registro cloud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az acr login --name miregistry          # Azure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ecr get-login-password | docker... # AWS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gcloud auth configure-docker            # GCP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Etiquetar la imagen local con la ruta completa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mi-app:latest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miregistry.azurecr.io/servicios/mi-app:1.2.0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Enviar las capas diferenciales al registro remoto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miregistry.azurecr.io/servicios/mi-app:1.2.0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Desplegar en servicio serverless gestionado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az container create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--resource-group rg-prod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mi-api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--image miregistry.azurecr.io/servicios/mi-app:1.2.0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OCI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Registries: Seguridad, Escaneo de Vulnerabilidades y Gobernanza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49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vs Registries Cloud Gestionados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Público: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imágenes oficiales de la comunidad, con limitaciones de rate-limit anónimo.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Privados Cloud: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ACR, ECR y Artifact Registry dentro de la red privada del proveedor de nube.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IAM Nativa: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roles y Service Accounts (elimina contraseñas en texto plano).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Geo-Replicación Global: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sincronizadas entre datacenters para descargas en milisegundos.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Escaneo de Vulnerabilidades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CVEs en Push: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de paquetes del SO (apt, apk) alertando sobre fallos conocidos.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 (Cosign/Notary):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criptográfica de que la imagen fue generada por el pipeline oficial.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 de Tags: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la sobrescritura accidental o fraudulenta de versiones publicadas.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Ciclo de Vida: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programada de imágenes huérfanas tras 30 días para reducir costes.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FDEDE8"/>
          </a:solidFill>
          <a:ln/>
        </p:spPr>
      </p:sp>
      <p:sp>
        <p:nvSpPr>
          <p:cNvPr id="18" name="Shape 1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9038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3312" y="5029200"/>
            <a:ext cx="10134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CORPORATIVA: </a:t>
            </a: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siempre la directiva "Immutable Tags" en el Container Registry empresarial. Evita que un build fallido o un atacante modifique una imagen ya validada en producción.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5166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Microsoft Azure: Panorámica de Servicios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 (ACR)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privado OCI con soporte de geo-replicación, cifrado en reposo, escaneo con Microsoft Defender for Cloud y control RBAC mediante Entra ID.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Instances (ACI)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más directa para arrancar contenedores en segundos sin gestionar clústeres. Facturación por segundos y aislamiento por hipervisor.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(ACA)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serverless construida sobre Kubernetes y KEDA. Escalado automático por peticiones HTTP o colas, soporte de microservicios y escalado a cero.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363517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Containers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77240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enfocado a aplicaciones web HTTP/HTTPS con dominios personalizados, certificados SSL gestionados, slots de staging y autenticación social integrada.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332122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60722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23" y="4363517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00802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 (AKS)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560722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Kubernetes administrada de nivel empresarial con integración en Azure CNI, nodos virtuales y gobierno corporativo avanzado.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8115605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44205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906" y="4363517"/>
            <a:ext cx="261518" cy="26151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84285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Elección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344205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Tareas batch / Jobs: ACI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Microservicios / APIs: ACA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Webapps tradicionales: App Service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Clústeres complejos: AKS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Instances (ACI): Contenedores sin Servidores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Principales de ACI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Inmediato: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en segundos sin aprovisionamiento de VMs.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por Segundos: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exacto por el tiempo de ejecución y recursos (vCPU/RAM).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Hipervisor: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multinquilino estricta; no comparte kernel con otros clientes.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Pública y FQDN: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automática de nombre DNS público accesible desde Internet.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de Volúmenes: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nativo para carpetas compartidas de Azure Files mediante CIFS.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ACI MEDIANTE AZURE CLI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Desplegar contenedor web con FQDN público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az container create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--resource-group rg-formacion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mi-web-aci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--image mcr.microsoft.com/azuredocs/aci-helloworld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--dns-name-label curso-docker-demo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--ports 80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--cpu 1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--memory 1.5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Consultar el FQDN asignado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az container show --resource-group rg-formacion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mi-web-aci --query "ipAddress.fqdn"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"curso-docker-demo.eastus.azurecontainer.io"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Eliminar la instancia al terminar la tarea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az container delete --resource-group rg-formacion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mi-web-aci -y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(ACA): Microservicios y KEDA sin Complejidad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Moderna de Microservicios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Invisible: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sobre AKS; disfrutas de K8s sin lidiar con manifests complejos.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KEDA: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Autoescalado por eventos: mensajes en cola (Service Bus, Kafka) o peticiones HTTP.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 Cero: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total de réplicas en periodos de inactividad para reducir costes.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DNS: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nombres interna entre microservicios del mismo entorno.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Ideales en Producción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Públicas y Privadas: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Envoy integrado, certificados HTTPS y división de tráfico.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de Mensajería: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Procesadores en segundo plano que se activan al llegar mensajes a la cola.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Blue/Green: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porcentual de tráfico entre versiones de forma transparente.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Práctica a K8s: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equipos que necesitan elasticidad sin gestionar nodos de clúster.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Amazon Web Services (AWS): Catálogo Central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 (Registry)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contenedores totalmente gestionado con cifrado KMS, replicación entre regiones de AWS y escaneo con Amazon Inspector.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 (Orquestador)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propietario nativo de AWS, maduro e integrado profundamente con IAM, VPC, Application Load Balancers y CloudWatch.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Fargate (Cómputo Serverless)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ejecución serverless para ECS y EKS. Ejecuta tareas aisladas sin necesidad de aprovisionar ni mantener instancias EC2.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363517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 (Kubernetes)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77240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gestionado de Kubernetes estándar de la CNCF, predilecto para organizaciones con estrategias multi-cloud o híbridas.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332122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60722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23" y="4363517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00802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App Runner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560722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serverless totalmente automatizado para desplegar APIs y aplicaciones web desde repositorio de código o imagen de ECR.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8115605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44205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906" y="4363517"/>
            <a:ext cx="261518" cy="26151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84285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Decisión en AWS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344205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ECS + Fargate: La combinación recomendada para el 90% de las empresas.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EKS: Cuando se requiere compatibilidad CNCF y tooling K8s.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ECS: EC2 Launch Type vs AWS Fargate Serverless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EC2 Launch Type (Servidores)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Instancias: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contenedores corren sobre máquinas EC2 que tú aprovisionas y gestionas.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Operativa: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de parchear el SO anfitrión, actualizar el agente ECS y vigilar discos.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con Spot: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usar instancias Spot (hasta 90% de descuento para cargas tolerantes a fallos).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Dedicado: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si se requieren GPUs para inferencia de IA o tipos de CPU muy concretos.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AWS Fargate (Serverless)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Instancias EC2: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la tarea con vCPU y RAM; AWS aprovisiona el entorno al vuelo.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MicroVMs Firecracker: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corre en su propio sandbox ligero de virtualización en Rust (&lt;5ms de inicio).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Cero: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gestiona los parches de seguridad del host, kernel y runtime OCI.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Predilecto: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recomendada por AWS para reducir drásticamente el coste de mantenimiento.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ECR: Autenticación IAM y Seguridad en Repositorios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y Seguridad en ECR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Efímera IAM: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contraseñas generadas caducan a las 12 horas (sin secretos estáticos).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Policies: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granular de acceso entre diferentes cuentas de AWS o roles de servicio.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Inspector: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en tiempo real de vulnerabilidades conocidas (CVEs) en capas y librerías.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Inmutables: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declarativo para impedir la sobrescritura accidental de versiones publicadas.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OPERACIÓN EN AMAZON ECR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Obtener token de login de ECR y pasarlo al CLI de Docker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ecr get-login-password --region eu-west-1 | \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docker login --username AWS --password-stdin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123456789012.dkr.ecr.eu-west-1.amazonaws.com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Crear repositorio privado con inmutabilidad y escaneo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aws ecr create-repository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--repository-name app-backend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--image-tag-mutability IMMUTABLE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--image-scanning-configuration scanOnPush=true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Etiquetar y subir la imagen al repositorio privado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mi-api:1.0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123456789012.dkr.ecr.eu-west-1.amazonaws.com/app-backend:1.0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123456789012.dkr.ecr.eu-west-1.amazonaws.com/app-backend:1.0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en Google Cloud Platform (GCP): Cuna de Kubernetes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Pioneros Históricos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inventó los cgroups (process containers) en 2006 y desarrolló Borg, el precursor arquitectónico directo de Kubernetes.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universal OCI que unifica imágenes de Docker con paquetes de software (npm, pip, maven) y escaneo de vulnerabilidades.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serverless totalmente gestionada para ejecutar contenedores que escalan de 0 a miles de instancias en milisegundos.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363517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Kubernetes Engine (GKE)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77240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de oro en Kubernetes administrado. Modalidad GKE Autopilot para plano de control y plano de datos serverless.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332122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60722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423" y="4363517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00802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gVisor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4560722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emulación en Ring 3 desarrollado por Google que intercepta las llamadas al sistema para máxima seguridad multinquilino.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8115605" y="4014216"/>
            <a:ext cx="3527450" cy="2157984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44205" y="4242816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906" y="4363517"/>
            <a:ext cx="261518" cy="26151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84285" y="4242816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Cloud-Native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8344205" y="4901184"/>
            <a:ext cx="307025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destaca por su integración nativa con estándares abiertos de la CNCF, evitando el vendor lock-in propietario.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93852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Run: La Excelencia en Serverless Containers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Cloud Run Cambió las Reglas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Lenguaje o Binario: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cualquier imagen Docker que escuche peticiones en el puerto `$PORT`.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Concurrencia: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instancia puede atender hasta 1000 peticiones simultáneas en memoria.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Instantáneo: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en milisegundos ante avalanchas repentinas de tráfico web.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HTTPS y CDN: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Subdominio automático `.run.app` con certificados TLS y red Anycast global.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Petición Exacta: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al milisegundo; sin tráfico activo el coste es exactamente 0€.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CLOUD RUN CON GCLOUD CLI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Desplegar un contenedor en Cloud Run con un único comando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gcloud run deploy mi-api-rest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--image gcr.io/cloudrun/hello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--platform managed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--region europe-west1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--allow-unauthenticated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--port 8080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--memory 512Mi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--min-instances 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--max-instances 10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 lista para producción generada en segundos: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URL: https://mi-api-rest-xyz-ew.a.run.app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Probar el servicio desplegado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https://mi-api-rest-xyz-ew.a.run.app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02539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Artifact Registry: Almacén Universal OCI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GCR a Artifact Registry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93192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Multipaquete: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OCI, paquetes npm, Python (PyPI), Java Maven y charts Helm unificados.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Regionales: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la latencia de pull ubicando imágenes junto a los clústeres de cómputo.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IAM: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granular con Cuentas de Servicio (Service Accounts) de Google Cloud.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Authorization: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el despliegue en producción si la imagen no cuenta con firma auditada.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643097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 GOOGLE ARTIFACT REGISTRY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94960" y="1947672"/>
            <a:ext cx="608350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Configurar credenciales de Docker para el 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gcloud auth configure-docker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europe-west1-docker.pkg.dev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Etiquetar la imagen local con el formato regional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mi-app:1.0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europe-west1-docker.pkg.dev/mi-proyecto/repo-apps/mi-app:1.0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Subir la imagen al repositorio privado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europe-west1-docker.pkg.dev/mi-proyecto/repo-apps/mi-app:1.0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Desplegar directamente en Cloud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gcloud run deploy mi-app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--image europe-west1-docker.pkg.dev/mi-proyecto/repo-apps/mi-app:1.0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Cloud: Análisis Histórico y Evolución hacia el Ecosistema Actual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59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fue "Docker Cloud" (2015-2018)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la startup Tutum por parte de Docker Inc. en octubre de 2015.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Original: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SaaS para desplegar y monitorizar contenedores sobre AWS, Azure y DigitalOcean.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Oficial: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Retirado definitivamente en mayo de 2018 tras el auge arrollador de Kubernetes y CaaS cloud.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en el Temario?: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Vestigio histórico de temarios clásicos que debe ser aclarado con rigor por el docente.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Evolucionó Docker Inc.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Moderno: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público de referencia global con builds automatizados y organizaciones.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productividad para desarrolladores (Mac, Windows, Linux) con extensiones.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Scout: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análisis de la cadena de suministro, SBOM y remediación de CVEs.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Estratégico: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Liderar la "experiencia de desarrollo" (DevX) y delegar la infraestructura a la nube.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72034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CaaS Serverless vs Kubernetes Gestionado?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60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CaaS Serverless (Cloud Run, ACI, ACA, Fargate)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Reducidos: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personas dedicadas a administrar infraestructura, redes o parches de clúster.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Web y APIs HTTP: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que se benefician directamente del escalado automático a cero.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por Lotes: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arrancan, procesan datos durante unos minutos y se apagan.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Time-to-Market: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en producción una imagen en 5 minutos con un único comando de CLI.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Optimizado: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pagas por planos de control fijos ni por máquinas virtuales ociosas.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Kubernetes Gestionado (AKS, EKS, GKE)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Topologías Complejas: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microservicios interconectados, mallas de servicios (Istio/Linkerd).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Fino de Red: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red L3/L4 personalizadas, volúmenes de bloque y topologías multi-nodo.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CNCF Extenso: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bases de datos, herramientas GitOps (ArgoCD, Flux) y observabilidad.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Multi-Cloud: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vendor lock-in ejecutando los mismos manifests en cualquier nube y on-premise.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DevOps Dedicado: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humana para asumir la gestión del clúster y sus ciclos de actualización.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para Contenedores en Producción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61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Operación Resiliente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Stateless: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guardar estado local; delegar en bases de datos gestionadas y buckets de objetos.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(12-Factor):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Inyectar configuración y secretos mediante gestores dedicados de la nube.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Sondas de Salud (`HEALTHCHECK`):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verificaciones de salud para que el orquestador reinicie instancias caídas.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stdout / stderr: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directa a consola para su recolección automática en CloudWatch o Cloud Logging.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Control de Costes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 Secretos en Build: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Jamás escribir credenciales o llaves API en el Dockerfile ni durante el build.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No-Root: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`USER appuser` en la imagen para mitigar riesgos de escape del contenedor.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CPU y Memoria: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topes en cada servicio para evitar colapsos por consumo descontrolado.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Autoescalado: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`max-instances` para prevenir sorpresas en la factura mensual ante ataques DoS.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849624" cy="27432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· PRÁCTICA GUIADA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4: Registries Cloud y Despliegue CaaS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62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Laboratorio 4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Autenticación: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cliente local de Docker al registry mediante credenciales seguras.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Etiquetado Canónico: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la referencia completa `&lt;registry&gt;/&lt;namespace&gt;/&lt;app&gt;:&lt;version&gt;`.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Publicación (Push):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las capas de la imagen y verificar la deduplicación en el servidor.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Auditoría Remota: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en el panel web el digest SHA256 y el escaneo de vulnerabilidades.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Despliegue Cloud: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Instanciar el contenedor en un entorno CaaS (ACI / Cloud Run / Registry local).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Verificación Pública: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endpoint público asignado mediante navegador o `curl`.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· Despliegue Continuo: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la versión 1.0.1 y actualizar el servicio sin pérdida de tráfico.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DEL LABORATORIO 4 (REGISTRY &amp; PUSH)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Simulación de Registry local v2 (o usar Docker Hub / Cloud)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5000:5000 --name registry-local registry:2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Compilar imagen de prueba con tag semántico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mi-api:1.0.0 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Etiquetar para el registro destino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tag mi-api:1.0.0 localhost:5000/servicios/mi-api:1.0.0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Enviar capas al registro remoto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push localhost:5000/servicios/mi-api:1.0.0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Auditar el catálogo del registro vía API REST OCI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http://localhost:5000/v2/_catalog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{"repositories":["servicios/mi-api"]}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Desplegar contenedor descargando desde el registry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-d -p 8080:80 localhost:5000/servicios/mi-api:1.0.0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CONCLUSIÓN DÍA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JORNADA 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consolidados: CaaS, Serverless Containers, Azure (ACR, ACI, ACA), AWS (ECR, ECS, Fargate), Google Cloud (Cloud Run, Artifact Registry) y Registries OCI.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Jornada: Módulo 5 (Orquestación a escala, Kubernetes y Taller Final Integrador).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4401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5544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4401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y Serverless: Ejecución elástica de contenedores con escalado a cero.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22174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23317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4414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174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OCI: Inmutabilidad de tags, escaneo de CVEs y autenticación IAM.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9946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31089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32186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9946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Nubes Públicas: Azure Container Apps, AWS Fargate y Google Cloud Run.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7719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8862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995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7719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Arquitectura: Cuándo utilizar CaaS Serverless vs clúster K8s.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5491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6634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77316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5491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4 completado con éxito por los alumnos.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 |   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133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0DB7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5 HORAS LECTIVAS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Y KUBERNETES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¿Por qué Orquestar?, Swarm vs K8s vs Nomad, Arquitectura K8s, Primitivas y Taller Integrador.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4 de 4 · 5 Horas Lectivas (20h totales)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0515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1658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2755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0515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Docker Standalone y la necesidad de orquestación.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182880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194310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0528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82880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Orquestadores: Docker Swarm vs K8s vs Nomad.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675120" y="260604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12280" y="272034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28300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260604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Kubernetes: Control Plane y Worker Nodes.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675120" y="338328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812280" y="349758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60730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38328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Declarativo y los Bucles de Reconciliación continua.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5120" y="416052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6812280" y="427482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438454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52360" y="416052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Primitivas básicas de K8s: Pods, Deployments y Services.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675120" y="4937760"/>
            <a:ext cx="4937760" cy="667512"/>
          </a:xfrm>
          <a:prstGeom prst="roundRect">
            <a:avLst>
              <a:gd name="adj" fmla="val 1369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6812280" y="5052060"/>
            <a:ext cx="457200" cy="45720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516178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52360" y="4937760"/>
            <a:ext cx="4023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5: Despliegue, auto-recuperación y Rolling Update.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Orquestar? Los Límites Críticos de Docker Standalone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65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 de un Solo Host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Fallo (SPOF):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servidor cae por hardware o red, todos los servicios colapsan.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Escalado Vertical: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servidor tiene un tope físico de CPU y memoria RAM finita.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Auto-Recuperación Multi-Host: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`--restart always` no puede mover el contenedor a otro servidor sano.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Manual Inviable: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y actualizar 100 contenedores manualmente en múltiples IPs es imposible.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Promesa del Orquestador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 Clúster: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decenas de servidores en un único grupo lógico de cómputo y red.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Auto-Sanación (Self-Healing):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la muerte de un nodo y reprograma los contenedores en nodos sanos.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 de Carga L4/L7: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inteligente del tráfico entrante entre todas las réplicas activas.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sin Downtime: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continuas contenedor a contenedor sin caída de servicio.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54660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DE ORQUESTACIÓN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Capacidades Clave de un Orquestador Moderno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66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984797" cy="45720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313432"/>
            <a:ext cx="1619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Scheduling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2715768"/>
            <a:ext cx="1619037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requisitos de CPU, memoria, afinidad y restricciones para elegir el nodo óptimo donde arrancar cada contenedor.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70013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13" name="Shape 10"/>
          <p:cNvSpPr/>
          <p:nvPr/>
        </p:nvSpPr>
        <p:spPr>
          <a:xfrm>
            <a:off x="2826045" y="1600200"/>
            <a:ext cx="1984797" cy="45720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08925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5" name="Text 12"/>
          <p:cNvSpPr/>
          <p:nvPr/>
        </p:nvSpPr>
        <p:spPr>
          <a:xfrm>
            <a:off x="3008925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008925" y="2313432"/>
            <a:ext cx="1619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Auto-Sanación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008925" y="2715768"/>
            <a:ext cx="1619037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 continuamente sondas de liveness; destruye y recrea automáticamente contenedores bloqueados o caídos.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7417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19" name="Shape 16"/>
          <p:cNvSpPr/>
          <p:nvPr/>
        </p:nvSpPr>
        <p:spPr>
          <a:xfrm>
            <a:off x="5103449" y="1600200"/>
            <a:ext cx="1984797" cy="45720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286329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1" name="Text 18"/>
          <p:cNvSpPr/>
          <p:nvPr/>
        </p:nvSpPr>
        <p:spPr>
          <a:xfrm>
            <a:off x="5286329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86329" y="2313432"/>
            <a:ext cx="1619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Auto-Escalado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286329" y="2715768"/>
            <a:ext cx="1619037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o reduce el número de réplicas en caliente basándose en métricas de consumo de CPU, RAM o tráfico.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24822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25" name="Shape 22"/>
          <p:cNvSpPr/>
          <p:nvPr/>
        </p:nvSpPr>
        <p:spPr>
          <a:xfrm>
            <a:off x="7380854" y="1600200"/>
            <a:ext cx="1984797" cy="45720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563734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7" name="Text 24"/>
          <p:cNvSpPr/>
          <p:nvPr/>
        </p:nvSpPr>
        <p:spPr>
          <a:xfrm>
            <a:off x="7563734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63734" y="2313432"/>
            <a:ext cx="1619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Service Discovery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63734" y="2715768"/>
            <a:ext cx="1619037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 una IP virtual fija y DNS interno estable, balanceando el tráfico de red entre las réplicas disponibles.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402227" y="1920240"/>
            <a:ext cx="219456" cy="237744"/>
          </a:xfrm>
          <a:prstGeom prst="rightArrow">
            <a:avLst/>
          </a:prstGeom>
          <a:solidFill>
            <a:srgbClr val="0DB7ED"/>
          </a:solidFill>
          <a:ln/>
        </p:spPr>
      </p:sp>
      <p:sp>
        <p:nvSpPr>
          <p:cNvPr id="31" name="Shape 28"/>
          <p:cNvSpPr/>
          <p:nvPr/>
        </p:nvSpPr>
        <p:spPr>
          <a:xfrm>
            <a:off x="9658259" y="1600200"/>
            <a:ext cx="1984797" cy="4572000"/>
          </a:xfrm>
          <a:prstGeom prst="roundRect">
            <a:avLst>
              <a:gd name="adj" fmla="val 5528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841139" y="1783080"/>
            <a:ext cx="438912" cy="438912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3" name="Text 30"/>
          <p:cNvSpPr/>
          <p:nvPr/>
        </p:nvSpPr>
        <p:spPr>
          <a:xfrm>
            <a:off x="9841139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841139" y="2313432"/>
            <a:ext cx="16190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Rolling Updates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841139" y="2715768"/>
            <a:ext cx="1619037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progresivos sin parada de servicio con capacidad de rollback inmediato si se detectan anomalías.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MERCADO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Orquestadores: Docker Swarm vs K8s vs HashiCorp Nomad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67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radical e integración nativa en el motor Docker.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baja (reutiliza la sintaxis conocida de Docker Compose).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inicializa en 10 segundos con `docker swarm init`.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Modesto, desarrollo mantenido principalmente por Mirantis.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Ideal: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pequeños y clústeres medianos (1 a 15 servidores).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2122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60722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23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0802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60722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industrial absoluto de la CNCF respaldado por la industria.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/ Compleja (gran variedad de APIs y objetos declarativos).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 on-premise; simple en Cloud gestionado (AKS, EKS, GKE).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del software mundial (Helm, ArgoCD, Istio, Prometheus).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Ideal: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empresariales y arquitecturas a gran escala.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15605" y="1600200"/>
            <a:ext cx="3527450" cy="45720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44205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906" y="194950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4285" y="1828800"/>
            <a:ext cx="24301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Nomad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44205" y="2487168"/>
            <a:ext cx="307025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flexible, ligero y declarativo en un solo binario Go.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de Cargas: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contenedores Docker, binarios compilados y VMs QEMU.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Operativa: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externas; integra con Consul y Vault.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la suite de HashiCorp (Terraform).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Ideal: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híbridos que combinan contenedores con software legacy.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a Fondo: El Orquestador Integrado en el Motor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68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Routing Mesh de Swarm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en Docker Engine: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agentes externos; se activa con un único comando en el host.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Manager y Worker: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mantienen quórum Raft; Workers ejecutan contenedores.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Replicados: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`docker service` declara réplicas deseadas en lugar de contenedores sueltos.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Routing Mesh: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puertos se publican en TODOS los nodos; el tráfico se rutea internamente vía IPVS.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Automático: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Comunicaciones entre nodos cifradas con certificados TLS mutuos autogestionados.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 DE DOCKER SWARM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Inicializar el nodo actual como Manager del clúster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swarm init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 initialized: current node is now a manager.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Desplegar servicio web replicado con 3 réplicas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service create --name web-cluster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--replicas 3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-p 80:80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nginx:alpine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Escalar el número de réplicas en caliente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service scale web-cluster=6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Actualización progresiva (Rolling Update)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service update --image nginx:1.25-alpine web-cluster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Salir del modo Swarm y restaurar modo standalone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swarm leave --force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Kubernetes: El Timonel del Ecosistema Cloud Native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69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Misión de Kubernetes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de Google Borg: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por ingenieros de Google basándose en 10 años de experiencia interna.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Donación a la CNCF: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comunitaria y abierta bajo el paraguas de la Linux Foundation.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Sustrato Universal: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 distribuido de la nube soportado por todos los grandes clouds.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OCI: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exactamente las mismas imágenes compiladas con Dockerfile sin modificaciones.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 de K8s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Declarativo: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 el estado final deseado en ficheros YAML (no comandos imperativos).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Pods no se parchean en caliente; se reemplazan por instancias nuevas.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API-Driven Architecture: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componentes interactúan exclusivamente mediante llamadas REST al API Server.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 con CRDs: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ampliar la plataforma con controladores y operadores a medida.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93852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K8S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Kubernetes: Control Plane y Worker Nodes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1094415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E8EEF5"/>
          </a:solidFill>
          <a:ln w="9525">
            <a:solidFill>
              <a:srgbClr val="1340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1488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(MASTER)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5840" y="26060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3000" y="2679192"/>
            <a:ext cx="411480" cy="41148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755" y="2777947"/>
            <a:ext cx="213970" cy="2139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6517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kube-apiserver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645920" y="2880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central de control y puerta de entrada REST API.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005840" y="326440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43000" y="3337560"/>
            <a:ext cx="411480" cy="41148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55" y="3436315"/>
            <a:ext cx="213970" cy="21397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3101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datastore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645920" y="3538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clave-valor distribuida con el estado del clúster.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05840" y="392277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43000" y="3995928"/>
            <a:ext cx="411480" cy="41148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4094683"/>
            <a:ext cx="213970" cy="21397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3968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kube-scheduler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645920" y="41970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Pods pendientes a nodos según recursos y afinidad.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1005840" y="458114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143000" y="4654296"/>
            <a:ext cx="411480" cy="41148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755" y="4753051"/>
            <a:ext cx="213970" cy="21397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46268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kube-controller-mgr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645920" y="4855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bucles de control: Node, ReplicaSet, Endpoints.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029200" y="3703320"/>
            <a:ext cx="548640" cy="0"/>
          </a:xfrm>
          <a:prstGeom prst="line">
            <a:avLst/>
          </a:prstGeom>
          <a:noFill/>
          <a:ln w="31750">
            <a:solidFill>
              <a:srgbClr val="0DB7ED"/>
            </a:solidFill>
            <a:prstDash val="solid"/>
            <a:headEnd type="triangle"/>
            <a:tailEnd type="triangle"/>
          </a:ln>
        </p:spPr>
      </p:sp>
      <p:sp>
        <p:nvSpPr>
          <p:cNvPr id="31" name="Text 24"/>
          <p:cNvSpPr/>
          <p:nvPr/>
        </p:nvSpPr>
        <p:spPr>
          <a:xfrm>
            <a:off x="5029200" y="3291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Mutual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577840" y="1965960"/>
            <a:ext cx="5790895" cy="3840480"/>
          </a:xfrm>
          <a:prstGeom prst="roundRect">
            <a:avLst>
              <a:gd name="adj" fmla="val 2381"/>
            </a:avLst>
          </a:prstGeom>
          <a:solidFill>
            <a:srgbClr val="EEF2F6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760720" y="214884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(DATA PLANE)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60720" y="2606040"/>
            <a:ext cx="542513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897880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01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897880" y="29900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360920" y="29900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DB7ED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869680" y="2788920"/>
            <a:ext cx="975208" cy="1051560"/>
          </a:xfrm>
          <a:prstGeom prst="roundRect">
            <a:avLst>
              <a:gd name="adj" fmla="val 5626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915400" y="2834640"/>
            <a:ext cx="883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8942832" y="3063240"/>
            <a:ext cx="828904" cy="365760"/>
          </a:xfrm>
          <a:prstGeom prst="roundRect">
            <a:avLst>
              <a:gd name="adj" fmla="val 20000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9982048" y="2788920"/>
            <a:ext cx="975208" cy="1051560"/>
          </a:xfrm>
          <a:prstGeom prst="roundRect">
            <a:avLst>
              <a:gd name="adj" fmla="val 5626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0027768" y="2834640"/>
            <a:ext cx="883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10055200" y="3063240"/>
            <a:ext cx="828904" cy="365760"/>
          </a:xfrm>
          <a:prstGeom prst="roundRect">
            <a:avLst>
              <a:gd name="adj" fmla="val 20000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760720" y="4206240"/>
            <a:ext cx="5425135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897880" y="4297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02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5897880" y="45902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34074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7360920" y="45902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DB7ED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8869680" y="4389120"/>
            <a:ext cx="975208" cy="1051560"/>
          </a:xfrm>
          <a:prstGeom prst="roundRect">
            <a:avLst>
              <a:gd name="adj" fmla="val 5626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8915400" y="4434840"/>
            <a:ext cx="883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8942832" y="4663440"/>
            <a:ext cx="828904" cy="365760"/>
          </a:xfrm>
          <a:prstGeom prst="roundRect">
            <a:avLst>
              <a:gd name="adj" fmla="val 20000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9982048" y="4389120"/>
            <a:ext cx="975208" cy="1051560"/>
          </a:xfrm>
          <a:prstGeom prst="roundRect">
            <a:avLst>
              <a:gd name="adj" fmla="val 5626"/>
            </a:avLst>
          </a:prstGeom>
          <a:solidFill>
            <a:srgbClr val="FDEDE8"/>
          </a:solidFill>
          <a:ln w="9525">
            <a:solidFill>
              <a:srgbClr val="D95D39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10027768" y="4434840"/>
            <a:ext cx="883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10055200" y="4663440"/>
            <a:ext cx="828904" cy="365760"/>
          </a:xfrm>
          <a:prstGeom prst="roundRect">
            <a:avLst>
              <a:gd name="adj" fmla="val 20000"/>
            </a:avLst>
          </a:prstGeom>
          <a:solidFill>
            <a:srgbClr val="D95D39"/>
          </a:solidFill>
          <a:ln/>
        </p:spPr>
        <p:txBody>
          <a:bodyPr wrap="square" lIns="508" tIns="1016" rIns="1016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77924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 Control (Control Plane) al Detalle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Master Node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`kube-apiserver`: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entrada única al clúster. Expone la API REST, autentica usuarios y valida YAMLs.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`etcd datastore`: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clave-valor distribuida (Raft). La única fuente de la verdad del estado del clúster.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`kube-scheduler`: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Pods recién creados sin nodo asignado y elige el servidor óptimo según recursos.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`kube-controller-manager`: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bucles de control (Node, Deployment, Endpoints) que fuerzan el estado deseado.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CON EL API SERVER VÍA KUBECTL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Toda interacción con K8s se realiza vía el CLI kubectl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 emite llamadas REST seguras hacia kube-apiserver (:6443)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Listar nodos del clúster y sus roles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STATUS   ROLES           AGE   VERSION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k8s-control-01   Ready    control-plane   30d   v1.29.2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k8s-worker-01    Ready    &lt;none&gt;          30d   v1.29.2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k8s-worker-02    Ready    &lt;none&gt;          30d   v1.29.2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Obtener información del plano de control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cluster-info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 control plane is running at https://127.0.0.1:6443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CoreDNS is running at https://127.0.0.1:6443/api/v1/namespaces/...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Nodos de Trabajo (Worker Nodes) al Detalle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en cada Servidor Worker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`kubelet`: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supervisor del nodo. Recibe PodSpecs del API server y vigila que los contenedores corran.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`kube-proxy`: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red local. Programa reglas iptables / IPVS para balancear peticiones hacia los Pods.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(CRI):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OCI de bajo nivel (`containerd` o `CRI-O`) que descarga imágenes y ejecuta procesos.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de Aplicación: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carga de trabajo real (contenedores de Node, Python, bases de datos) corriendo en el host.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INTERNO EN EL WORKER NODE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kube-scheduler asigna un Pod a "k8s-worker-01"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kubelet en worker-01 detecta la nueva asignación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kubelet invoca a containerd vía gRPC (CRI):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 PullImage(mi-api:1.0)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 CreateContainer()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 StartContainer()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kube-proxy actualiza reglas iptables en el nodo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kubelet ejecuta periódicamente las sondas de salud: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 livenessProbe (¿Sigue vivo el proceso?)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 readinessProbe (¿Puede recibir tráfico web?)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938528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de Reconciliación: La Magia Declarativa de Kubernetes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 del Bucle de Control Infinito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93192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Deseado (Desired):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explícita en archivos YAML almacenada en etcd (ej. 3 réplicas).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(Current):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de los procesos en ejecución en los Worker Nodes del clúster.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Reconciliación: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controladores ejecutan continuamente el ciclo: `OBSERVAR -&gt; COMPARAR -&gt; ACTUAR`.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Auto-Recuperación Automática: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Pod muere o un nodo falla, K8s crea nuevas instancias hasta igualar el estado.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643097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RECONCILIADOR EN KUBERNETES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94960" y="1947672"/>
            <a:ext cx="608350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Pseudocódigo conceptual del Controller Manager: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Leer estado deseado vs estado actual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desired = read_from_etcd()       # spec.replicas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inspect_active_pods()  # actual_pods =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Reconciliar si existe discrepancia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current != desired: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diff = calculate_diff(desired, current)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execute_reconcile(diff)      # Crea 1 Pod nuevo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wait_for_watch_event()           # Arquitectura reactiva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¡Bucle activo 24/7 sin intervención humana!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PRIMITIVAS K8S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 Fundamental 1: El Pod (Unidad Atómica de Cómputo)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Mínima de Cómputo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Contenedores Sueltos: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gestiona, programa y escala Pods, nunca contenedores individuales.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Contenedores: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 un contenedor principal y opcionalmente contenedores auxiliares (Sidecars).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Compartida: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dirección IP para todos los contenedores del Pod; comunicación por `localhost`.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Compartido: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volúmenes definidos en el Pod son accesibles por todos sus contenedores.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YAML DE UN POD (POD.YAML)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Pod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mi-pod-web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frontend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nginx-server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containerPort: 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limits: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memory: "128Mi"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cpu: "500m"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PRIMITIVAS K8S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 Fundamental 2: Deployments, ReplicaSets y Rollouts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Ciclo de Vida y Réplicas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Prohibido Pods Sueltos: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los Pods siempre se encapsulan dentro de un **Deployment**.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ReplicaSet: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siempre exista el número exacto de réplicas sanas (`spec.replicas`).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RollingUpdate: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progresiva pod a pod sin un solo segundo de corte de servicio.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Inmediato: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Vuelta atrás instantánea con `kubectl rollout undo deployment/nombre`.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YAML DE UN DEPLOYMENT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api-pedidos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pedidos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pedidos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mi-repo/pedidos:2.0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containerPort: 3000</a:t>
            </a:r>
            <a:endParaRPr lang="en-US" sz="10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PRIMITIVAS K8S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Primitiva Fundamental 3: Services y Balanceo de Carga L4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de Red Estable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393192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las IPs Efímeras: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Pods nacen y mueren continuamente con IPs cambiantes.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Fija y DNS: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Service ofrece una IP virtual permanente y resolución por nombre interno.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por Etiquetas: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dinámica mediante labels (`app: pedidos`).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Principales: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`ClusterIP` (interno), `NodePort` (puerto en nodos), `LoadBalancer` (Cloud).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212080" y="1600200"/>
            <a:ext cx="643097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MANIFIESTO YAML DE UN SERVICE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394960" y="1947672"/>
            <a:ext cx="608350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servicio-pedidos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ClusterIP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Conecta con los Pods que tengan este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app: pedidos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port: 80         # Puerto de escucha del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3000 # Puerto real del contenedor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Consumible desde cualquier Pod mediante DNS interno: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http://servicio-pedidos:80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15468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ALMACENAMIENTO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Persistencia: ConfigMaps, Secrets y PVCs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 y Secrets (Configuración Externa)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y ficheros de configuración desacoplados de la imagen.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credenciales y certificados con cifrado en reposo KMS.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Flexible: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Inyectables como variables de entorno (`env`) o montados como carpetas.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imagen corre en Dev, Staging y Prod cambiando solo el ConfigMap.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3864" y="1600200"/>
            <a:ext cx="54191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52464" y="1828800"/>
            <a:ext cx="502920" cy="50292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64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2544" y="1828800"/>
            <a:ext cx="432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 PVCs, PVs y StorageClasses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452464" y="2487168"/>
            <a:ext cx="4961992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 (PVC):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formal de almacenamiento declarada por el Pod (ej. 50GB).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(PV):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volumen físico aprovisionado en disco de nube (EBS, Azure Disk).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StorageClass Dinámica: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disco cloud al vuelo al detectar la creación de un nuevo PVC.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especializado para bases de datos que requieren identidad fija.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459736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TECNOLÓGICA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Docker a Kubernetes: Diccionario y Tabla de Equivalencias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78</a:t>
            </a:r>
            <a:endParaRPr lang="en-US" sz="10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484197"/>
                <a:gridCol w="3484197"/>
                <a:gridCol w="4126022"/>
              </a:tblGrid>
              <a:tr h="560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en Docker Standalone / Compose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Homólogo en Kubernetes (K8s)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y Propósito Técnico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-d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/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Instancia de proceso en ejecución (Pod) y controlador de réplicas.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build -t mi-app 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 OCI (Idéntica)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proceso de build es 100% el mismo; K8s descarga la misma imagen.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8080:80 (Mapeo de puertos)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(ClusterIP / LoadBalancer)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Descubrimiento DNS y balanceo de tráfico hacia los Pods.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network create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CNI Plugin + NetworkPolicy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plana de clúster donde todos los Pods tienen IP única.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-v mi_vol:/var/lib/data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PersistentVolumeClaim (PVC)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 permanente gestionado por StorageClasses.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kubectl apply -f / Helm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 declarativo de la topología completa de servicios.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PRÁCTICA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Locales para Practicar y Dominar Kubernetes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79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para Practicar en tu Portátil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K8s: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en Settings &gt; Kubernetes &gt; Enable. Un clúster de 1 nodo listo en 1 minuto.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(K8s in Docker):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nodos de K8s dentro de contenedores Docker en tu host. Excelente para CI/CD.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histórica oficial de la comunidad K8s con addons preconfigurados.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(Rancher/SUSE):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ultraligera (&lt;100MB) en un solo binario Go para Edge y desarrollo.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CON KIND (KUBERNETES IN DOCKER)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Crear un clúster local de prueba en 30 segundos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kind create cluster --name curso-docker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Creating cluster "curso-docker"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Ensuring node image (kindest/node:v1.29.2)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Preparing nodes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Starting control-plane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kubectl context to "kind-curso-docker"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Verificar que el clúster responde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nodes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    STATUS   ROLES           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curso-docker-control-plane   Ready    control-plane   45s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Destruir el clúster al finalizar la práctica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kind delete cluster --name curso-docker</a:t>
            </a:r>
            <a:endParaRPr lang="en-US" sz="10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44568" cy="27432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· TALLER INTEGRADOR FINAL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5: Despliegue, Auto-Recuperación y Rolling Update en K8s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80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5D3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495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Taller Integrador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2487168"/>
            <a:ext cx="46634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Verificación: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acceso y salud de nodos con `kubectl get nodes`.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Manifiesto Deployment: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3 réplicas con límites de memoria (`128Mi`) y CPU (`500m`).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Despliegue Declarativo: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 `kubectl apply` y observar la creación simultánea de Pods.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Exposición con Service: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servicio mediante un Service con balanceo de carga.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Prueba de Auto-Sanación: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 Pod a mano y constatar que el reconciliador crea otro al instante.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Rolling Update: </a:t>
            </a: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 versión de la imagen sin un solo segundo de corte de tráfico.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1600200"/>
            <a:ext cx="5699455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126480" y="1691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DEL LABORATORIO 5 EN KUBERNETES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126480" y="1947672"/>
            <a:ext cx="5351983" cy="4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Aplicar Deployment y Service declarativamente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apply -f deployment.yaml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apply -f service.yaml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Inspeccionar los Pods creados por el ReplicaSet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pods -l app=pedidos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             READY   STATUS    RESTARTS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api-pedidos-7c489f6d7b-4k2x8   1/1     Running  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api-pedidos-7c489f6d7b-9m5z1   1/1     Running  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api-pedidos-7c489f6d7b-r2w9p   1/1     Running  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Demostración de Auto-Sanación (Self-Healing)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delete pod api-pedidos-7c489f6d7b-4k2x8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¡El ReplicaSet crea un sustituto inmediatamente!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Actualización progresiva en caliente (Rolling Update)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set image deployment/api-pedidos api=nginx:1.25-alpine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rollout status deployment/api-pedidos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"api-pedidos" successfully rolled out</a:t>
            </a:r>
            <a:endParaRPr lang="en-US" sz="10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8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¡ENHORABUENA! CURSO DOCKER FUNDAMENTALS COMPLETADO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2482596" cy="4343400"/>
          </a:xfrm>
          <a:prstGeom prst="roundRect">
            <a:avLst>
              <a:gd name="adj" fmla="val 442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0628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651760"/>
            <a:ext cx="2080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 · Motor y OCI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32688" y="3337560"/>
            <a:ext cx="20802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kernel mediante Namespaces y Cgroups, arquitectura desacoplada containerd/runc, creación de imágenes OCI optimizadas y Multi-Stage builds.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70148" y="1691640"/>
            <a:ext cx="2482596" cy="4343400"/>
          </a:xfrm>
          <a:prstGeom prst="roundRect">
            <a:avLst>
              <a:gd name="adj" fmla="val 442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698748" y="1920240"/>
            <a:ext cx="594360" cy="59436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394" y="20628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71316" y="2651760"/>
            <a:ext cx="2080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 · Redes y Almacenamiento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71316" y="3337560"/>
            <a:ext cx="20802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virtual docker0, pares veth, resolución DNS embebida 127.0.0.11, reglas iptables NAT, Overlay2 con Copy-on-Write y persistencia con Named Volumes.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08776" y="1691640"/>
            <a:ext cx="2482596" cy="4343400"/>
          </a:xfrm>
          <a:prstGeom prst="roundRect">
            <a:avLst>
              <a:gd name="adj" fmla="val 442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6437376" y="1920240"/>
            <a:ext cx="594360" cy="59436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2" y="206288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9944" y="2651760"/>
            <a:ext cx="2080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 · Despliegue en la Nube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09944" y="3337560"/>
            <a:ext cx="20802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a CaaS y Serverless Containers (Azure ACI/ACA, AWS Fargate, Google Cloud Run) y gobernanza de Container Registries privados con firmas e inmutabilidad.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947404" y="1691640"/>
            <a:ext cx="2482596" cy="4343400"/>
          </a:xfrm>
          <a:prstGeom prst="roundRect">
            <a:avLst>
              <a:gd name="adj" fmla="val 442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9176004" y="1920240"/>
            <a:ext cx="594360" cy="594360"/>
          </a:xfrm>
          <a:prstGeom prst="ellipse">
            <a:avLst/>
          </a:prstGeom>
          <a:solidFill>
            <a:srgbClr val="0DB7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650" y="206288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8572" y="2651760"/>
            <a:ext cx="2080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 · Orquestación y K8s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148572" y="3337560"/>
            <a:ext cx="20802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distribuida, Swarm vs Nomad vs K8s, arquitectura Control Plane / Workers, bucles de reconciliación continua, Pods, Deployments y Services.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Docker Fundamentals · 20 Horas (4 Días x 5h)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  |   81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Docker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Docker Fundamentals (20 Horas)</dc:title>
  <dc:subject>Docker Fundamentals y Cloud Native</dc:subject>
  <dc:creator>Formación Técnica Oficial Docker</dc:creator>
  <cp:lastModifiedBy>Formación Técnica Oficial Docker</cp:lastModifiedBy>
  <cp:revision>1</cp:revision>
  <dcterms:created xsi:type="dcterms:W3CDTF">2026-10-28T08:43:07Z</dcterms:created>
  <dcterms:modified xsi:type="dcterms:W3CDTF">2026-10-28T08:43:07Z</dcterms:modified>
</cp:coreProperties>
</file>